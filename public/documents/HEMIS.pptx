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309" r:id="rId3"/>
    <p:sldId id="310" r:id="rId4"/>
    <p:sldId id="259" r:id="rId5"/>
    <p:sldId id="260" r:id="rId6"/>
    <p:sldId id="261" r:id="rId7"/>
    <p:sldId id="262" r:id="rId8"/>
    <p:sldId id="263" r:id="rId9"/>
    <p:sldId id="264" r:id="rId10"/>
    <p:sldId id="265" r:id="rId11"/>
    <p:sldId id="311" r:id="rId12"/>
    <p:sldId id="257" r:id="rId13"/>
    <p:sldId id="258"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Lst>
  <p:sldSz cx="14630400" cy="8229600"/>
  <p:notesSz cx="8229600" cy="14630400"/>
  <p:embeddedFontLst>
    <p:embeddedFont>
      <p:font typeface="DM Sans" pitchFamily="2" charset="0"/>
      <p:regular r:id="rId31"/>
      <p:bold r:id="rId32"/>
      <p:italic r:id="rId33"/>
      <p:boldItalic r:id="rId34"/>
    </p:embeddedFont>
    <p:embeddedFont>
      <p:font typeface="Libre Baskerville" panose="02000000000000000000" pitchFamily="2" charset="0"/>
      <p:regular r:id="rId35"/>
      <p:bold r:id="rId36"/>
      <p: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8E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196" autoAdjust="0"/>
  </p:normalViewPr>
  <p:slideViewPr>
    <p:cSldViewPr snapToGrid="0" snapToObjects="1">
      <p:cViewPr varScale="1">
        <p:scale>
          <a:sx n="68" d="100"/>
          <a:sy n="68" d="100"/>
        </p:scale>
        <p:origin x="71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811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B88E23"/>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B88E23"/>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0" y="1988463"/>
            <a:ext cx="14906215" cy="2126337"/>
          </a:xfrm>
          <a:prstGeom prst="rect">
            <a:avLst/>
          </a:prstGeom>
          <a:noFill/>
          <a:ln/>
        </p:spPr>
        <p:txBody>
          <a:bodyPr wrap="square" lIns="0" tIns="0" rIns="0" bIns="0" rtlCol="0" anchor="t"/>
          <a:lstStyle/>
          <a:p>
            <a:pPr marL="0" indent="0" algn="ctr">
              <a:lnSpc>
                <a:spcPts val="5550"/>
              </a:lnSpc>
              <a:buNone/>
            </a:pPr>
            <a:r>
              <a:rPr lang="en-US" sz="4400" dirty="0">
                <a:solidFill>
                  <a:srgbClr val="B88E23"/>
                </a:solidFill>
                <a:latin typeface="Libre Baskerville" pitchFamily="34" charset="0"/>
              </a:rPr>
              <a:t>Higher Education </a:t>
            </a:r>
          </a:p>
          <a:p>
            <a:pPr marL="0" indent="0" algn="ctr">
              <a:lnSpc>
                <a:spcPts val="5550"/>
              </a:lnSpc>
              <a:buNone/>
            </a:pPr>
            <a:r>
              <a:rPr lang="en-US" sz="4400" dirty="0">
                <a:solidFill>
                  <a:srgbClr val="B88E23"/>
                </a:solidFill>
                <a:latin typeface="Libre Baskerville" pitchFamily="34" charset="0"/>
              </a:rPr>
              <a:t>Management Information System</a:t>
            </a:r>
          </a:p>
        </p:txBody>
      </p:sp>
      <p:sp>
        <p:nvSpPr>
          <p:cNvPr id="5" name="Text 2"/>
          <p:cNvSpPr/>
          <p:nvPr/>
        </p:nvSpPr>
        <p:spPr>
          <a:xfrm>
            <a:off x="2495773" y="4995226"/>
            <a:ext cx="9638853" cy="1275874"/>
          </a:xfrm>
          <a:prstGeom prst="rect">
            <a:avLst/>
          </a:prstGeom>
          <a:noFill/>
          <a:ln/>
        </p:spPr>
        <p:txBody>
          <a:bodyPr wrap="square" lIns="0" tIns="0" rIns="0" bIns="0" rtlCol="0" anchor="t"/>
          <a:lstStyle/>
          <a:p>
            <a:pPr marL="0" indent="0" algn="ctr">
              <a:lnSpc>
                <a:spcPct val="150000"/>
              </a:lnSpc>
              <a:buNone/>
            </a:pPr>
            <a:r>
              <a:rPr lang="en-US" sz="3200" dirty="0">
                <a:solidFill>
                  <a:srgbClr val="454240"/>
                </a:solidFill>
                <a:latin typeface="DM Sans" pitchFamily="34" charset="0"/>
              </a:rPr>
              <a:t>The National Platform for Higher Education Data Management and Ministry Oversight</a:t>
            </a:r>
          </a:p>
        </p:txBody>
      </p:sp>
      <p:pic>
        <p:nvPicPr>
          <p:cNvPr id="6" name="Picture 5" descr="A white circle with blue text and colorful squares&#10;&#10;AI-generated content may be incorrect.">
            <a:extLst>
              <a:ext uri="{FF2B5EF4-FFF2-40B4-BE49-F238E27FC236}">
                <a16:creationId xmlns:a16="http://schemas.microsoft.com/office/drawing/2014/main" id="{8C0BD139-A7A0-9AB9-D3DE-FB7B64299B88}"/>
              </a:ext>
            </a:extLst>
          </p:cNvPr>
          <p:cNvPicPr>
            <a:picLocks noChangeAspect="1"/>
          </p:cNvPicPr>
          <p:nvPr/>
        </p:nvPicPr>
        <p:blipFill>
          <a:blip r:embed="rId3"/>
          <a:stretch>
            <a:fillRect/>
          </a:stretch>
        </p:blipFill>
        <p:spPr>
          <a:xfrm>
            <a:off x="0" y="0"/>
            <a:ext cx="3236255" cy="3236255"/>
          </a:xfrm>
          <a:prstGeom prst="rect">
            <a:avLst/>
          </a:prstGeom>
        </p:spPr>
      </p:pic>
      <p:pic>
        <p:nvPicPr>
          <p:cNvPr id="7" name="Picture 6">
            <a:extLst>
              <a:ext uri="{FF2B5EF4-FFF2-40B4-BE49-F238E27FC236}">
                <a16:creationId xmlns:a16="http://schemas.microsoft.com/office/drawing/2014/main" id="{7062A7D5-DA00-AA08-0174-B9704E28E733}"/>
              </a:ext>
            </a:extLst>
          </p:cNvPr>
          <p:cNvPicPr>
            <a:picLocks noChangeAspect="1"/>
          </p:cNvPicPr>
          <p:nvPr/>
        </p:nvPicPr>
        <p:blipFill>
          <a:blip r:embed="rId4"/>
          <a:srcRect l="28406" r="26944"/>
          <a:stretch>
            <a:fillRect/>
          </a:stretch>
        </p:blipFill>
        <p:spPr>
          <a:xfrm>
            <a:off x="12213913" y="208430"/>
            <a:ext cx="1937024" cy="2440284"/>
          </a:xfrm>
          <a:prstGeom prst="rect">
            <a:avLst/>
          </a:prstGeom>
        </p:spPr>
      </p:pic>
      <p:sp>
        <p:nvSpPr>
          <p:cNvPr id="9" name="Text 1">
            <a:extLst>
              <a:ext uri="{FF2B5EF4-FFF2-40B4-BE49-F238E27FC236}">
                <a16:creationId xmlns:a16="http://schemas.microsoft.com/office/drawing/2014/main" id="{06DDE331-1ABD-30BF-01FF-DC2BF5DF924F}"/>
              </a:ext>
            </a:extLst>
          </p:cNvPr>
          <p:cNvSpPr/>
          <p:nvPr/>
        </p:nvSpPr>
        <p:spPr>
          <a:xfrm>
            <a:off x="-1" y="3676727"/>
            <a:ext cx="14630400" cy="1287437"/>
          </a:xfrm>
          <a:prstGeom prst="rect">
            <a:avLst/>
          </a:prstGeom>
          <a:noFill/>
          <a:ln/>
        </p:spPr>
        <p:txBody>
          <a:bodyPr wrap="none" lIns="0" tIns="0" rIns="0" bIns="0" rtlCol="0" anchor="t"/>
          <a:lstStyle/>
          <a:p>
            <a:pPr marL="0" indent="0" algn="ctr">
              <a:lnSpc>
                <a:spcPts val="2850"/>
              </a:lnSpc>
              <a:buNone/>
            </a:pPr>
            <a:r>
              <a:rPr lang="en-US" sz="2400" dirty="0">
                <a:solidFill>
                  <a:srgbClr val="454240"/>
                </a:solidFill>
                <a:latin typeface="DM Sans" pitchFamily="34" charset="0"/>
                <a:ea typeface="DM Sans" pitchFamily="34" charset="-122"/>
                <a:cs typeface="DM Sans" pitchFamily="34" charset="-120"/>
              </a:rPr>
              <a:t>A project for the </a:t>
            </a:r>
            <a:r>
              <a:rPr lang="en-US" sz="2400" b="1" dirty="0">
                <a:solidFill>
                  <a:srgbClr val="454240"/>
                </a:solidFill>
                <a:latin typeface="DM Sans" pitchFamily="34" charset="0"/>
                <a:ea typeface="DM Sans" pitchFamily="34" charset="-122"/>
                <a:cs typeface="DM Sans" pitchFamily="34" charset="-120"/>
              </a:rPr>
              <a:t>Ministry of Education, Youth and Sport</a:t>
            </a:r>
            <a:r>
              <a:rPr lang="en-US" sz="2400" dirty="0">
                <a:solidFill>
                  <a:srgbClr val="454240"/>
                </a:solidFill>
                <a:latin typeface="DM Sans" pitchFamily="34" charset="0"/>
                <a:ea typeface="DM Sans" pitchFamily="34" charset="-122"/>
                <a:cs typeface="DM Sans" pitchFamily="34" charset="-120"/>
              </a:rPr>
              <a:t>, implemented by </a:t>
            </a:r>
            <a:r>
              <a:rPr lang="en-US" sz="2400" b="1" dirty="0">
                <a:solidFill>
                  <a:srgbClr val="454240"/>
                </a:solidFill>
                <a:latin typeface="DM Sans" pitchFamily="34" charset="0"/>
                <a:ea typeface="DM Sans" pitchFamily="34" charset="-122"/>
                <a:cs typeface="DM Sans" pitchFamily="34" charset="-120"/>
              </a:rPr>
              <a:t>IT Solution Digital</a:t>
            </a:r>
          </a:p>
        </p:txBody>
      </p:sp>
      <p:sp>
        <p:nvSpPr>
          <p:cNvPr id="10" name="Text 1">
            <a:extLst>
              <a:ext uri="{FF2B5EF4-FFF2-40B4-BE49-F238E27FC236}">
                <a16:creationId xmlns:a16="http://schemas.microsoft.com/office/drawing/2014/main" id="{96075186-6EAF-53B6-E713-786EC74E8231}"/>
              </a:ext>
            </a:extLst>
          </p:cNvPr>
          <p:cNvSpPr/>
          <p:nvPr/>
        </p:nvSpPr>
        <p:spPr>
          <a:xfrm>
            <a:off x="0" y="7151526"/>
            <a:ext cx="14630400" cy="433910"/>
          </a:xfrm>
          <a:prstGeom prst="rect">
            <a:avLst/>
          </a:prstGeom>
          <a:noFill/>
          <a:ln/>
        </p:spPr>
        <p:txBody>
          <a:bodyPr wrap="none" lIns="0" tIns="0" rIns="0" bIns="0" rtlCol="0" anchor="t"/>
          <a:lstStyle/>
          <a:p>
            <a:pPr algn="ctr">
              <a:lnSpc>
                <a:spcPts val="2850"/>
              </a:lnSpc>
            </a:pPr>
            <a:r>
              <a:rPr lang="en-US" i="1" dirty="0">
                <a:solidFill>
                  <a:srgbClr val="454240"/>
                </a:solidFill>
                <a:latin typeface="DM Sans" pitchFamily="34" charset="0"/>
                <a:ea typeface="DM Sans" pitchFamily="34" charset="-122"/>
                <a:cs typeface="DM Sans" pitchFamily="34" charset="-120"/>
              </a:rPr>
              <a:t>A project funded by the </a:t>
            </a:r>
            <a:r>
              <a:rPr lang="en-US" b="1" i="1" dirty="0">
                <a:solidFill>
                  <a:srgbClr val="454240"/>
                </a:solidFill>
                <a:latin typeface="DM Sans" pitchFamily="34" charset="0"/>
                <a:ea typeface="DM Sans" pitchFamily="34" charset="-122"/>
                <a:cs typeface="DM Sans" pitchFamily="34" charset="-120"/>
              </a:rPr>
              <a:t>Royal Government of Cambodia</a:t>
            </a:r>
          </a:p>
        </p:txBody>
      </p:sp>
      <p:sp>
        <p:nvSpPr>
          <p:cNvPr id="11" name="Text 1">
            <a:extLst>
              <a:ext uri="{FF2B5EF4-FFF2-40B4-BE49-F238E27FC236}">
                <a16:creationId xmlns:a16="http://schemas.microsoft.com/office/drawing/2014/main" id="{27956185-6598-E2ED-2552-90A4501DB926}"/>
              </a:ext>
            </a:extLst>
          </p:cNvPr>
          <p:cNvSpPr/>
          <p:nvPr/>
        </p:nvSpPr>
        <p:spPr>
          <a:xfrm>
            <a:off x="0" y="4320446"/>
            <a:ext cx="14630400" cy="433910"/>
          </a:xfrm>
          <a:prstGeom prst="rect">
            <a:avLst/>
          </a:prstGeom>
          <a:noFill/>
          <a:ln/>
        </p:spPr>
        <p:txBody>
          <a:bodyPr wrap="none" lIns="0" tIns="0" rIns="0" bIns="0" rtlCol="0" anchor="t"/>
          <a:lstStyle/>
          <a:p>
            <a:pPr algn="ctr">
              <a:lnSpc>
                <a:spcPts val="2850"/>
              </a:lnSpc>
            </a:pPr>
            <a:r>
              <a:rPr lang="en-US" i="1" dirty="0">
                <a:solidFill>
                  <a:srgbClr val="454240"/>
                </a:solidFill>
                <a:latin typeface="DM Sans" pitchFamily="34" charset="0"/>
                <a:ea typeface="DM Sans" pitchFamily="34" charset="-122"/>
                <a:cs typeface="DM Sans" pitchFamily="34" charset="-120"/>
              </a:rPr>
              <a:t>Purpose: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55571"/>
            <a:ext cx="4820007" cy="602456"/>
          </a:xfrm>
          <a:prstGeom prst="rect">
            <a:avLst/>
          </a:prstGeom>
          <a:noFill/>
          <a:ln/>
        </p:spPr>
        <p:txBody>
          <a:bodyPr wrap="none" lIns="0" tIns="0" rIns="0" bIns="0" rtlCol="0" anchor="t"/>
          <a:lstStyle/>
          <a:p>
            <a:pPr marL="0" indent="0" algn="l">
              <a:lnSpc>
                <a:spcPts val="4700"/>
              </a:lnSpc>
              <a:buNone/>
            </a:pPr>
            <a:r>
              <a:rPr lang="en-US" sz="3750" dirty="0">
                <a:solidFill>
                  <a:srgbClr val="5C4E3D"/>
                </a:solidFill>
                <a:latin typeface="Libre Baskerville" pitchFamily="34" charset="0"/>
                <a:ea typeface="Libre Baskerville" pitchFamily="34" charset="-122"/>
                <a:cs typeface="Libre Baskerville" pitchFamily="34" charset="-120"/>
              </a:rPr>
              <a:t>Table of Contents</a:t>
            </a:r>
            <a:endParaRPr lang="en-US" sz="3750" dirty="0"/>
          </a:p>
        </p:txBody>
      </p:sp>
      <p:sp>
        <p:nvSpPr>
          <p:cNvPr id="3" name="Shape 1"/>
          <p:cNvSpPr/>
          <p:nvPr/>
        </p:nvSpPr>
        <p:spPr>
          <a:xfrm>
            <a:off x="793790" y="2032754"/>
            <a:ext cx="6424970" cy="998815"/>
          </a:xfrm>
          <a:prstGeom prst="roundRect">
            <a:avLst>
              <a:gd name="adj" fmla="val 10986"/>
            </a:avLst>
          </a:prstGeom>
          <a:solidFill>
            <a:srgbClr val="FFFDFA"/>
          </a:solidFill>
          <a:ln>
            <a:solidFill>
              <a:srgbClr val="B88E23"/>
            </a:solidFill>
          </a:ln>
        </p:spPr>
      </p:sp>
      <p:sp>
        <p:nvSpPr>
          <p:cNvPr id="4" name="Shape 2"/>
          <p:cNvSpPr/>
          <p:nvPr/>
        </p:nvSpPr>
        <p:spPr>
          <a:xfrm>
            <a:off x="793790" y="2009894"/>
            <a:ext cx="6424970" cy="91440"/>
          </a:xfrm>
          <a:prstGeom prst="roundRect">
            <a:avLst>
              <a:gd name="adj" fmla="val 88558"/>
            </a:avLst>
          </a:prstGeom>
          <a:solidFill>
            <a:srgbClr val="B88E23"/>
          </a:solidFill>
          <a:ln/>
        </p:spPr>
      </p:sp>
      <p:sp>
        <p:nvSpPr>
          <p:cNvPr id="5" name="Shape 3"/>
          <p:cNvSpPr/>
          <p:nvPr/>
        </p:nvSpPr>
        <p:spPr>
          <a:xfrm>
            <a:off x="3717012" y="1743551"/>
            <a:ext cx="578406" cy="578406"/>
          </a:xfrm>
          <a:prstGeom prst="roundRect">
            <a:avLst>
              <a:gd name="adj" fmla="val 158090"/>
            </a:avLst>
          </a:prstGeom>
          <a:solidFill>
            <a:srgbClr val="B88E23"/>
          </a:solidFill>
          <a:ln/>
        </p:spPr>
        <p:txBody>
          <a:bodyPr/>
          <a:lstStyle/>
          <a:p>
            <a:endParaRPr lang="en-US" dirty="0">
              <a:solidFill>
                <a:srgbClr val="B88E23"/>
              </a:solidFill>
            </a:endParaRPr>
          </a:p>
        </p:txBody>
      </p:sp>
      <p:sp>
        <p:nvSpPr>
          <p:cNvPr id="6" name="Text 4"/>
          <p:cNvSpPr/>
          <p:nvPr/>
        </p:nvSpPr>
        <p:spPr>
          <a:xfrm>
            <a:off x="3961328" y="184600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1</a:t>
            </a:r>
            <a:endParaRPr lang="en-US" sz="1800" dirty="0"/>
          </a:p>
        </p:txBody>
      </p:sp>
      <p:sp>
        <p:nvSpPr>
          <p:cNvPr id="7" name="Text 5"/>
          <p:cNvSpPr/>
          <p:nvPr/>
        </p:nvSpPr>
        <p:spPr>
          <a:xfrm>
            <a:off x="1009412" y="2514719"/>
            <a:ext cx="250138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Executive Summary</a:t>
            </a:r>
            <a:endParaRPr lang="en-US" sz="1850" dirty="0"/>
          </a:p>
        </p:txBody>
      </p:sp>
      <p:sp>
        <p:nvSpPr>
          <p:cNvPr id="8" name="Shape 6"/>
          <p:cNvSpPr/>
          <p:nvPr/>
        </p:nvSpPr>
        <p:spPr>
          <a:xfrm>
            <a:off x="7411522" y="2032754"/>
            <a:ext cx="6425089" cy="998815"/>
          </a:xfrm>
          <a:prstGeom prst="roundRect">
            <a:avLst>
              <a:gd name="adj" fmla="val 10986"/>
            </a:avLst>
          </a:prstGeom>
          <a:solidFill>
            <a:srgbClr val="FFFDFA"/>
          </a:solidFill>
          <a:ln>
            <a:solidFill>
              <a:srgbClr val="B88E23"/>
            </a:solidFill>
          </a:ln>
        </p:spPr>
      </p:sp>
      <p:sp>
        <p:nvSpPr>
          <p:cNvPr id="9" name="Shape 7"/>
          <p:cNvSpPr/>
          <p:nvPr/>
        </p:nvSpPr>
        <p:spPr>
          <a:xfrm>
            <a:off x="7411522" y="2009894"/>
            <a:ext cx="6425089" cy="91440"/>
          </a:xfrm>
          <a:prstGeom prst="roundRect">
            <a:avLst>
              <a:gd name="adj" fmla="val 88558"/>
            </a:avLst>
          </a:prstGeom>
          <a:solidFill>
            <a:srgbClr val="B88E23"/>
          </a:solidFill>
          <a:ln/>
        </p:spPr>
      </p:sp>
      <p:sp>
        <p:nvSpPr>
          <p:cNvPr id="10" name="Shape 8"/>
          <p:cNvSpPr/>
          <p:nvPr/>
        </p:nvSpPr>
        <p:spPr>
          <a:xfrm>
            <a:off x="10334863" y="1743551"/>
            <a:ext cx="578406" cy="578406"/>
          </a:xfrm>
          <a:prstGeom prst="roundRect">
            <a:avLst>
              <a:gd name="adj" fmla="val 158090"/>
            </a:avLst>
          </a:prstGeom>
          <a:solidFill>
            <a:srgbClr val="B88E23"/>
          </a:solidFill>
          <a:ln/>
        </p:spPr>
      </p:sp>
      <p:sp>
        <p:nvSpPr>
          <p:cNvPr id="11" name="Text 9"/>
          <p:cNvSpPr/>
          <p:nvPr/>
        </p:nvSpPr>
        <p:spPr>
          <a:xfrm>
            <a:off x="10561677" y="184600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2</a:t>
            </a:r>
            <a:endParaRPr lang="en-US" sz="1800" dirty="0"/>
          </a:p>
        </p:txBody>
      </p:sp>
      <p:sp>
        <p:nvSpPr>
          <p:cNvPr id="12" name="Text 10"/>
          <p:cNvSpPr/>
          <p:nvPr/>
        </p:nvSpPr>
        <p:spPr>
          <a:xfrm>
            <a:off x="7627144" y="2514719"/>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The Challenge</a:t>
            </a:r>
            <a:endParaRPr lang="en-US" sz="1850" dirty="0"/>
          </a:p>
        </p:txBody>
      </p:sp>
      <p:sp>
        <p:nvSpPr>
          <p:cNvPr id="13" name="Shape 11"/>
          <p:cNvSpPr/>
          <p:nvPr/>
        </p:nvSpPr>
        <p:spPr>
          <a:xfrm>
            <a:off x="793790" y="3513534"/>
            <a:ext cx="6424970" cy="998815"/>
          </a:xfrm>
          <a:prstGeom prst="roundRect">
            <a:avLst>
              <a:gd name="adj" fmla="val 10986"/>
            </a:avLst>
          </a:prstGeom>
          <a:solidFill>
            <a:srgbClr val="FFFDFA"/>
          </a:solidFill>
          <a:ln>
            <a:solidFill>
              <a:srgbClr val="B88E23"/>
            </a:solidFill>
          </a:ln>
        </p:spPr>
      </p:sp>
      <p:sp>
        <p:nvSpPr>
          <p:cNvPr id="14" name="Shape 12"/>
          <p:cNvSpPr/>
          <p:nvPr/>
        </p:nvSpPr>
        <p:spPr>
          <a:xfrm>
            <a:off x="793790" y="3490674"/>
            <a:ext cx="6424970" cy="91440"/>
          </a:xfrm>
          <a:prstGeom prst="roundRect">
            <a:avLst>
              <a:gd name="adj" fmla="val 88558"/>
            </a:avLst>
          </a:prstGeom>
          <a:solidFill>
            <a:srgbClr val="B88E23"/>
          </a:solidFill>
          <a:ln/>
        </p:spPr>
      </p:sp>
      <p:sp>
        <p:nvSpPr>
          <p:cNvPr id="15" name="Shape 13"/>
          <p:cNvSpPr/>
          <p:nvPr/>
        </p:nvSpPr>
        <p:spPr>
          <a:xfrm>
            <a:off x="3717012" y="3224332"/>
            <a:ext cx="578406" cy="578406"/>
          </a:xfrm>
          <a:prstGeom prst="roundRect">
            <a:avLst>
              <a:gd name="adj" fmla="val 158090"/>
            </a:avLst>
          </a:prstGeom>
          <a:solidFill>
            <a:srgbClr val="B88E23"/>
          </a:solidFill>
          <a:ln/>
        </p:spPr>
      </p:sp>
      <p:sp>
        <p:nvSpPr>
          <p:cNvPr id="16" name="Text 14"/>
          <p:cNvSpPr/>
          <p:nvPr/>
        </p:nvSpPr>
        <p:spPr>
          <a:xfrm>
            <a:off x="3943826" y="3320771"/>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3</a:t>
            </a:r>
            <a:endParaRPr lang="en-US" sz="1800" dirty="0"/>
          </a:p>
        </p:txBody>
      </p:sp>
      <p:sp>
        <p:nvSpPr>
          <p:cNvPr id="17" name="Text 15"/>
          <p:cNvSpPr/>
          <p:nvPr/>
        </p:nvSpPr>
        <p:spPr>
          <a:xfrm>
            <a:off x="1009412" y="3995499"/>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The Solution</a:t>
            </a:r>
            <a:endParaRPr lang="en-US" sz="1850" dirty="0"/>
          </a:p>
        </p:txBody>
      </p:sp>
      <p:sp>
        <p:nvSpPr>
          <p:cNvPr id="18" name="Shape 16"/>
          <p:cNvSpPr/>
          <p:nvPr/>
        </p:nvSpPr>
        <p:spPr>
          <a:xfrm>
            <a:off x="7411522" y="3513534"/>
            <a:ext cx="6425089" cy="998815"/>
          </a:xfrm>
          <a:prstGeom prst="roundRect">
            <a:avLst>
              <a:gd name="adj" fmla="val 10986"/>
            </a:avLst>
          </a:prstGeom>
          <a:solidFill>
            <a:srgbClr val="FFFDFA"/>
          </a:solidFill>
          <a:ln>
            <a:solidFill>
              <a:srgbClr val="B88E23"/>
            </a:solidFill>
          </a:ln>
        </p:spPr>
      </p:sp>
      <p:sp>
        <p:nvSpPr>
          <p:cNvPr id="19" name="Shape 17"/>
          <p:cNvSpPr/>
          <p:nvPr/>
        </p:nvSpPr>
        <p:spPr>
          <a:xfrm>
            <a:off x="7411522" y="3490674"/>
            <a:ext cx="6425089" cy="91440"/>
          </a:xfrm>
          <a:prstGeom prst="roundRect">
            <a:avLst>
              <a:gd name="adj" fmla="val 88558"/>
            </a:avLst>
          </a:prstGeom>
          <a:solidFill>
            <a:srgbClr val="B88E23"/>
          </a:solidFill>
          <a:ln/>
        </p:spPr>
      </p:sp>
      <p:sp>
        <p:nvSpPr>
          <p:cNvPr id="20" name="Shape 18"/>
          <p:cNvSpPr/>
          <p:nvPr/>
        </p:nvSpPr>
        <p:spPr>
          <a:xfrm>
            <a:off x="10334863" y="3224332"/>
            <a:ext cx="578406" cy="578406"/>
          </a:xfrm>
          <a:prstGeom prst="roundRect">
            <a:avLst>
              <a:gd name="adj" fmla="val 158090"/>
            </a:avLst>
          </a:prstGeom>
          <a:solidFill>
            <a:srgbClr val="B88E23"/>
          </a:solidFill>
          <a:ln/>
        </p:spPr>
      </p:sp>
      <p:sp>
        <p:nvSpPr>
          <p:cNvPr id="21" name="Text 19"/>
          <p:cNvSpPr/>
          <p:nvPr/>
        </p:nvSpPr>
        <p:spPr>
          <a:xfrm>
            <a:off x="10561677" y="3320771"/>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4</a:t>
            </a:r>
            <a:endParaRPr lang="en-US" sz="1800" dirty="0"/>
          </a:p>
        </p:txBody>
      </p:sp>
      <p:sp>
        <p:nvSpPr>
          <p:cNvPr id="22" name="Text 20"/>
          <p:cNvSpPr/>
          <p:nvPr/>
        </p:nvSpPr>
        <p:spPr>
          <a:xfrm>
            <a:off x="7627144" y="3995499"/>
            <a:ext cx="2874288"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Key features &amp; Benefits</a:t>
            </a:r>
            <a:endParaRPr lang="en-US" sz="1850" dirty="0"/>
          </a:p>
        </p:txBody>
      </p:sp>
      <p:sp>
        <p:nvSpPr>
          <p:cNvPr id="23" name="Shape 21"/>
          <p:cNvSpPr/>
          <p:nvPr/>
        </p:nvSpPr>
        <p:spPr>
          <a:xfrm>
            <a:off x="793790" y="4994315"/>
            <a:ext cx="6424970" cy="998815"/>
          </a:xfrm>
          <a:prstGeom prst="roundRect">
            <a:avLst>
              <a:gd name="adj" fmla="val 10986"/>
            </a:avLst>
          </a:prstGeom>
          <a:solidFill>
            <a:srgbClr val="FFFDFA"/>
          </a:solidFill>
          <a:ln>
            <a:solidFill>
              <a:srgbClr val="B88E23"/>
            </a:solidFill>
          </a:ln>
        </p:spPr>
      </p:sp>
      <p:sp>
        <p:nvSpPr>
          <p:cNvPr id="24" name="Shape 22"/>
          <p:cNvSpPr/>
          <p:nvPr/>
        </p:nvSpPr>
        <p:spPr>
          <a:xfrm>
            <a:off x="793790" y="4971455"/>
            <a:ext cx="6424970" cy="91440"/>
          </a:xfrm>
          <a:prstGeom prst="roundRect">
            <a:avLst>
              <a:gd name="adj" fmla="val 88558"/>
            </a:avLst>
          </a:prstGeom>
          <a:solidFill>
            <a:srgbClr val="B88E23"/>
          </a:solidFill>
          <a:ln/>
        </p:spPr>
      </p:sp>
      <p:sp>
        <p:nvSpPr>
          <p:cNvPr id="25" name="Shape 23"/>
          <p:cNvSpPr/>
          <p:nvPr/>
        </p:nvSpPr>
        <p:spPr>
          <a:xfrm>
            <a:off x="3717012" y="4705112"/>
            <a:ext cx="578406" cy="578406"/>
          </a:xfrm>
          <a:prstGeom prst="roundRect">
            <a:avLst>
              <a:gd name="adj" fmla="val 158090"/>
            </a:avLst>
          </a:prstGeom>
          <a:solidFill>
            <a:srgbClr val="B88E23"/>
          </a:solidFill>
          <a:ln/>
        </p:spPr>
      </p:sp>
      <p:sp>
        <p:nvSpPr>
          <p:cNvPr id="26" name="Text 24"/>
          <p:cNvSpPr/>
          <p:nvPr/>
        </p:nvSpPr>
        <p:spPr>
          <a:xfrm>
            <a:off x="3943826" y="481292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5</a:t>
            </a:r>
            <a:endParaRPr lang="en-US" sz="1800" dirty="0"/>
          </a:p>
        </p:txBody>
      </p:sp>
      <p:sp>
        <p:nvSpPr>
          <p:cNvPr id="27" name="Text 25"/>
          <p:cNvSpPr/>
          <p:nvPr/>
        </p:nvSpPr>
        <p:spPr>
          <a:xfrm>
            <a:off x="1009412" y="5476280"/>
            <a:ext cx="4194453"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User Types &amp; Access Management</a:t>
            </a:r>
            <a:endParaRPr lang="en-US" sz="1850" dirty="0"/>
          </a:p>
        </p:txBody>
      </p:sp>
      <p:sp>
        <p:nvSpPr>
          <p:cNvPr id="28" name="Shape 26"/>
          <p:cNvSpPr/>
          <p:nvPr/>
        </p:nvSpPr>
        <p:spPr>
          <a:xfrm>
            <a:off x="7411522" y="4994315"/>
            <a:ext cx="6425089" cy="998815"/>
          </a:xfrm>
          <a:prstGeom prst="roundRect">
            <a:avLst>
              <a:gd name="adj" fmla="val 10986"/>
            </a:avLst>
          </a:prstGeom>
          <a:solidFill>
            <a:srgbClr val="FFFDFA"/>
          </a:solidFill>
          <a:ln>
            <a:solidFill>
              <a:srgbClr val="B88E23"/>
            </a:solidFill>
          </a:ln>
        </p:spPr>
      </p:sp>
      <p:sp>
        <p:nvSpPr>
          <p:cNvPr id="29" name="Shape 27"/>
          <p:cNvSpPr/>
          <p:nvPr/>
        </p:nvSpPr>
        <p:spPr>
          <a:xfrm>
            <a:off x="7411522" y="4971455"/>
            <a:ext cx="6425089" cy="91440"/>
          </a:xfrm>
          <a:prstGeom prst="roundRect">
            <a:avLst>
              <a:gd name="adj" fmla="val 88558"/>
            </a:avLst>
          </a:prstGeom>
          <a:solidFill>
            <a:srgbClr val="B88E23"/>
          </a:solidFill>
          <a:ln/>
        </p:spPr>
      </p:sp>
      <p:sp>
        <p:nvSpPr>
          <p:cNvPr id="30" name="Shape 28"/>
          <p:cNvSpPr/>
          <p:nvPr/>
        </p:nvSpPr>
        <p:spPr>
          <a:xfrm>
            <a:off x="10334863" y="4705112"/>
            <a:ext cx="578406" cy="578406"/>
          </a:xfrm>
          <a:prstGeom prst="roundRect">
            <a:avLst>
              <a:gd name="adj" fmla="val 158090"/>
            </a:avLst>
          </a:prstGeom>
          <a:solidFill>
            <a:srgbClr val="B88E23"/>
          </a:solidFill>
          <a:ln/>
        </p:spPr>
      </p:sp>
      <p:sp>
        <p:nvSpPr>
          <p:cNvPr id="31" name="Text 29"/>
          <p:cNvSpPr/>
          <p:nvPr/>
        </p:nvSpPr>
        <p:spPr>
          <a:xfrm>
            <a:off x="10548342" y="481423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6</a:t>
            </a:r>
            <a:endParaRPr lang="en-US" sz="1800" dirty="0"/>
          </a:p>
        </p:txBody>
      </p:sp>
      <p:sp>
        <p:nvSpPr>
          <p:cNvPr id="32" name="Text 30"/>
          <p:cNvSpPr/>
          <p:nvPr/>
        </p:nvSpPr>
        <p:spPr>
          <a:xfrm>
            <a:off x="7627144" y="5476280"/>
            <a:ext cx="3920847"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Government &amp; National Impact</a:t>
            </a:r>
            <a:endParaRPr lang="en-US" sz="1850" dirty="0"/>
          </a:p>
        </p:txBody>
      </p:sp>
      <p:sp>
        <p:nvSpPr>
          <p:cNvPr id="33" name="Shape 31"/>
          <p:cNvSpPr/>
          <p:nvPr/>
        </p:nvSpPr>
        <p:spPr>
          <a:xfrm>
            <a:off x="793790" y="6475095"/>
            <a:ext cx="6424970" cy="998815"/>
          </a:xfrm>
          <a:prstGeom prst="roundRect">
            <a:avLst>
              <a:gd name="adj" fmla="val 10986"/>
            </a:avLst>
          </a:prstGeom>
          <a:solidFill>
            <a:srgbClr val="FFFDFA"/>
          </a:solidFill>
          <a:ln>
            <a:solidFill>
              <a:srgbClr val="B88E23"/>
            </a:solidFill>
          </a:ln>
        </p:spPr>
      </p:sp>
      <p:sp>
        <p:nvSpPr>
          <p:cNvPr id="34" name="Shape 32"/>
          <p:cNvSpPr/>
          <p:nvPr/>
        </p:nvSpPr>
        <p:spPr>
          <a:xfrm>
            <a:off x="793790" y="6452235"/>
            <a:ext cx="6424970" cy="91440"/>
          </a:xfrm>
          <a:prstGeom prst="roundRect">
            <a:avLst>
              <a:gd name="adj" fmla="val 88558"/>
            </a:avLst>
          </a:prstGeom>
          <a:solidFill>
            <a:srgbClr val="B88E23"/>
          </a:solidFill>
          <a:ln/>
        </p:spPr>
      </p:sp>
      <p:sp>
        <p:nvSpPr>
          <p:cNvPr id="35" name="Shape 33"/>
          <p:cNvSpPr/>
          <p:nvPr/>
        </p:nvSpPr>
        <p:spPr>
          <a:xfrm>
            <a:off x="3717012" y="6185892"/>
            <a:ext cx="578406" cy="578406"/>
          </a:xfrm>
          <a:prstGeom prst="roundRect">
            <a:avLst>
              <a:gd name="adj" fmla="val 158090"/>
            </a:avLst>
          </a:prstGeom>
          <a:solidFill>
            <a:srgbClr val="B88E23"/>
          </a:solidFill>
          <a:ln/>
        </p:spPr>
      </p:sp>
      <p:sp>
        <p:nvSpPr>
          <p:cNvPr id="36" name="Text 34"/>
          <p:cNvSpPr/>
          <p:nvPr/>
        </p:nvSpPr>
        <p:spPr>
          <a:xfrm>
            <a:off x="3951922" y="630763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7</a:t>
            </a:r>
            <a:endParaRPr lang="en-US" sz="1800" dirty="0"/>
          </a:p>
        </p:txBody>
      </p:sp>
      <p:sp>
        <p:nvSpPr>
          <p:cNvPr id="37" name="Text 35"/>
          <p:cNvSpPr/>
          <p:nvPr/>
        </p:nvSpPr>
        <p:spPr>
          <a:xfrm>
            <a:off x="1009412" y="6957060"/>
            <a:ext cx="2887742"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Competitive Advantage</a:t>
            </a:r>
            <a:endParaRPr lang="en-US" sz="1850" dirty="0"/>
          </a:p>
        </p:txBody>
      </p:sp>
      <p:sp>
        <p:nvSpPr>
          <p:cNvPr id="38" name="Shape 36"/>
          <p:cNvSpPr/>
          <p:nvPr/>
        </p:nvSpPr>
        <p:spPr>
          <a:xfrm>
            <a:off x="7411522" y="6475095"/>
            <a:ext cx="6425089" cy="998815"/>
          </a:xfrm>
          <a:prstGeom prst="roundRect">
            <a:avLst>
              <a:gd name="adj" fmla="val 10986"/>
            </a:avLst>
          </a:prstGeom>
          <a:solidFill>
            <a:srgbClr val="FFFDFA"/>
          </a:solidFill>
          <a:ln>
            <a:solidFill>
              <a:srgbClr val="B88E23"/>
            </a:solidFill>
          </a:ln>
        </p:spPr>
      </p:sp>
      <p:sp>
        <p:nvSpPr>
          <p:cNvPr id="39" name="Shape 37"/>
          <p:cNvSpPr/>
          <p:nvPr/>
        </p:nvSpPr>
        <p:spPr>
          <a:xfrm>
            <a:off x="7411522" y="6452235"/>
            <a:ext cx="6425089" cy="91440"/>
          </a:xfrm>
          <a:prstGeom prst="roundRect">
            <a:avLst>
              <a:gd name="adj" fmla="val 88558"/>
            </a:avLst>
          </a:prstGeom>
          <a:solidFill>
            <a:srgbClr val="B88E23"/>
          </a:solidFill>
          <a:ln/>
        </p:spPr>
      </p:sp>
      <p:sp>
        <p:nvSpPr>
          <p:cNvPr id="40" name="Shape 38"/>
          <p:cNvSpPr/>
          <p:nvPr/>
        </p:nvSpPr>
        <p:spPr>
          <a:xfrm>
            <a:off x="10334863" y="6185892"/>
            <a:ext cx="578406" cy="578406"/>
          </a:xfrm>
          <a:prstGeom prst="roundRect">
            <a:avLst>
              <a:gd name="adj" fmla="val 158090"/>
            </a:avLst>
          </a:prstGeom>
          <a:solidFill>
            <a:srgbClr val="B88E23"/>
          </a:solidFill>
          <a:ln/>
        </p:spPr>
      </p:sp>
      <p:sp>
        <p:nvSpPr>
          <p:cNvPr id="41" name="Text 39"/>
          <p:cNvSpPr/>
          <p:nvPr/>
        </p:nvSpPr>
        <p:spPr>
          <a:xfrm>
            <a:off x="10563939" y="6294239"/>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8</a:t>
            </a:r>
            <a:endParaRPr lang="en-US" sz="1800" dirty="0"/>
          </a:p>
        </p:txBody>
      </p:sp>
      <p:sp>
        <p:nvSpPr>
          <p:cNvPr id="42" name="Text 40"/>
          <p:cNvSpPr/>
          <p:nvPr/>
        </p:nvSpPr>
        <p:spPr>
          <a:xfrm>
            <a:off x="7627144" y="6957060"/>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Success &amp; Results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93790" y="77009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1. Executive Summary: What is HEMIS?</a:t>
            </a:r>
            <a:endParaRPr lang="en-US" sz="4450" dirty="0"/>
          </a:p>
        </p:txBody>
      </p:sp>
      <p:sp>
        <p:nvSpPr>
          <p:cNvPr id="4" name="Text 1"/>
          <p:cNvSpPr/>
          <p:nvPr/>
        </p:nvSpPr>
        <p:spPr>
          <a:xfrm>
            <a:off x="793791" y="2527816"/>
            <a:ext cx="4918388" cy="1700927"/>
          </a:xfrm>
          <a:prstGeom prst="rect">
            <a:avLst/>
          </a:prstGeom>
          <a:noFill/>
          <a:ln/>
        </p:spPr>
        <p:txBody>
          <a:bodyPr wrap="square" lIns="0" tIns="0" rIns="0" bIns="0" rtlCol="0" anchor="t"/>
          <a:lstStyle/>
          <a:p>
            <a:pPr marL="0" indent="0" algn="l">
              <a:lnSpc>
                <a:spcPts val="4450"/>
              </a:lnSpc>
              <a:buNone/>
            </a:pPr>
            <a:r>
              <a:rPr lang="en-US" sz="2400" dirty="0">
                <a:solidFill>
                  <a:srgbClr val="5C4E3D"/>
                </a:solidFill>
                <a:latin typeface="Libre Baskerville" pitchFamily="34" charset="0"/>
                <a:ea typeface="Libre Baskerville" pitchFamily="34" charset="-122"/>
                <a:cs typeface="Libre Baskerville" pitchFamily="34" charset="-120"/>
              </a:rPr>
              <a:t>HEMIS: National Higher </a:t>
            </a:r>
          </a:p>
          <a:p>
            <a:pPr marL="0" indent="0" algn="l">
              <a:lnSpc>
                <a:spcPts val="4450"/>
              </a:lnSpc>
              <a:buNone/>
            </a:pPr>
            <a:r>
              <a:rPr lang="en-US" sz="2400" dirty="0">
                <a:solidFill>
                  <a:srgbClr val="5C4E3D"/>
                </a:solidFill>
                <a:latin typeface="Libre Baskerville" pitchFamily="34" charset="0"/>
                <a:ea typeface="Libre Baskerville" pitchFamily="34" charset="-122"/>
                <a:cs typeface="Libre Baskerville" pitchFamily="34" charset="-120"/>
              </a:rPr>
              <a:t>Education Data Management </a:t>
            </a:r>
          </a:p>
          <a:p>
            <a:pPr marL="0" indent="0" algn="l">
              <a:lnSpc>
                <a:spcPts val="4450"/>
              </a:lnSpc>
              <a:buNone/>
            </a:pPr>
            <a:r>
              <a:rPr lang="en-US" sz="2400" dirty="0">
                <a:solidFill>
                  <a:srgbClr val="5C4E3D"/>
                </a:solidFill>
                <a:latin typeface="Libre Baskerville" pitchFamily="34" charset="0"/>
                <a:ea typeface="Libre Baskerville" pitchFamily="34" charset="-122"/>
                <a:cs typeface="Libre Baskerville" pitchFamily="34" charset="-120"/>
              </a:rPr>
              <a:t>Platform</a:t>
            </a:r>
            <a:endParaRPr lang="en-US" sz="2400" dirty="0"/>
          </a:p>
        </p:txBody>
      </p:sp>
      <p:sp>
        <p:nvSpPr>
          <p:cNvPr id="5" name="Shape 2"/>
          <p:cNvSpPr/>
          <p:nvPr/>
        </p:nvSpPr>
        <p:spPr>
          <a:xfrm>
            <a:off x="793790" y="4984901"/>
            <a:ext cx="7556421" cy="2890480"/>
          </a:xfrm>
          <a:prstGeom prst="roundRect">
            <a:avLst>
              <a:gd name="adj" fmla="val 3296"/>
            </a:avLst>
          </a:prstGeom>
          <a:solidFill>
            <a:srgbClr val="FFFDFA"/>
          </a:solidFill>
          <a:ln w="30480">
            <a:solidFill>
              <a:srgbClr val="B88E23"/>
            </a:solidFill>
            <a:prstDash val="solid"/>
          </a:ln>
        </p:spPr>
      </p:sp>
      <p:sp>
        <p:nvSpPr>
          <p:cNvPr id="6" name="Shape 3"/>
          <p:cNvSpPr/>
          <p:nvPr/>
        </p:nvSpPr>
        <p:spPr>
          <a:xfrm>
            <a:off x="793790" y="4984901"/>
            <a:ext cx="121920" cy="2890480"/>
          </a:xfrm>
          <a:prstGeom prst="roundRect">
            <a:avLst>
              <a:gd name="adj" fmla="val 78139"/>
            </a:avLst>
          </a:prstGeom>
          <a:solidFill>
            <a:srgbClr val="B88E23"/>
          </a:solidFill>
          <a:ln/>
        </p:spPr>
      </p:sp>
      <p:sp>
        <p:nvSpPr>
          <p:cNvPr id="7" name="Text 4"/>
          <p:cNvSpPr/>
          <p:nvPr/>
        </p:nvSpPr>
        <p:spPr>
          <a:xfrm>
            <a:off x="1173004" y="5242195"/>
            <a:ext cx="4763333" cy="425291"/>
          </a:xfrm>
          <a:prstGeom prst="rect">
            <a:avLst/>
          </a:prstGeom>
          <a:noFill/>
          <a:ln/>
        </p:spPr>
        <p:txBody>
          <a:bodyPr wrap="none" lIns="0" tIns="0" rIns="0" bIns="0" rtlCol="0" anchor="t"/>
          <a:lstStyle/>
          <a:p>
            <a:pPr marL="0" indent="0" algn="l">
              <a:lnSpc>
                <a:spcPts val="3300"/>
              </a:lnSpc>
              <a:buNone/>
            </a:pPr>
            <a:r>
              <a:rPr lang="en-US" sz="2650" dirty="0">
                <a:solidFill>
                  <a:srgbClr val="454240"/>
                </a:solidFill>
                <a:latin typeface="Libre Baskerville" pitchFamily="34" charset="0"/>
                <a:ea typeface="Libre Baskerville" pitchFamily="34" charset="-122"/>
                <a:cs typeface="Libre Baskerville" pitchFamily="34" charset="-120"/>
              </a:rPr>
              <a:t>Strategic National Initiative</a:t>
            </a:r>
            <a:endParaRPr lang="en-US" sz="2650" dirty="0"/>
          </a:p>
        </p:txBody>
      </p:sp>
      <p:sp>
        <p:nvSpPr>
          <p:cNvPr id="8" name="Text 5"/>
          <p:cNvSpPr/>
          <p:nvPr/>
        </p:nvSpPr>
        <p:spPr>
          <a:xfrm>
            <a:off x="1173004" y="5803575"/>
            <a:ext cx="6919913" cy="1814513"/>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HEMIS the official flagship platform of Cambodia's Ministry of Education, Youth and Sports. This strategic initiative was developed to significantly advance the nation's higher education sector. The platform's goal is to set a new standard for excellence in educational governance.</a:t>
            </a:r>
            <a:endParaRPr lang="en-US" sz="1750" dirty="0"/>
          </a:p>
        </p:txBody>
      </p:sp>
      <p:pic>
        <p:nvPicPr>
          <p:cNvPr id="12" name="Picture 11">
            <a:extLst>
              <a:ext uri="{FF2B5EF4-FFF2-40B4-BE49-F238E27FC236}">
                <a16:creationId xmlns:a16="http://schemas.microsoft.com/office/drawing/2014/main" id="{BAA05A24-1F6C-A8E5-5F6A-F7AF16E36353}"/>
              </a:ext>
            </a:extLst>
          </p:cNvPr>
          <p:cNvPicPr>
            <a:picLocks noChangeAspect="1"/>
          </p:cNvPicPr>
          <p:nvPr/>
        </p:nvPicPr>
        <p:blipFill>
          <a:blip r:embed="rId3"/>
          <a:stretch>
            <a:fillRect/>
          </a:stretch>
        </p:blipFill>
        <p:spPr>
          <a:xfrm>
            <a:off x="6204897" y="1663745"/>
            <a:ext cx="7841342" cy="30638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93790" y="1132999"/>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1. Executive Summary: What is HEMIS?</a:t>
            </a:r>
            <a:endParaRPr lang="en-US" sz="4450" dirty="0"/>
          </a:p>
        </p:txBody>
      </p:sp>
      <p:sp>
        <p:nvSpPr>
          <p:cNvPr id="5" name="Shape 2"/>
          <p:cNvSpPr/>
          <p:nvPr/>
        </p:nvSpPr>
        <p:spPr>
          <a:xfrm>
            <a:off x="793790" y="5473673"/>
            <a:ext cx="7556421" cy="2164675"/>
          </a:xfrm>
          <a:prstGeom prst="roundRect">
            <a:avLst>
              <a:gd name="adj" fmla="val 4401"/>
            </a:avLst>
          </a:prstGeom>
          <a:solidFill>
            <a:srgbClr val="FFFDFA"/>
          </a:solidFill>
          <a:ln w="30480">
            <a:solidFill>
              <a:srgbClr val="B88E23"/>
            </a:solidFill>
            <a:prstDash val="solid"/>
          </a:ln>
        </p:spPr>
      </p:sp>
      <p:sp>
        <p:nvSpPr>
          <p:cNvPr id="6" name="Shape 3"/>
          <p:cNvSpPr/>
          <p:nvPr/>
        </p:nvSpPr>
        <p:spPr>
          <a:xfrm>
            <a:off x="793790" y="5473673"/>
            <a:ext cx="121920" cy="2164675"/>
          </a:xfrm>
          <a:prstGeom prst="roundRect">
            <a:avLst>
              <a:gd name="adj" fmla="val 78139"/>
            </a:avLst>
          </a:prstGeom>
          <a:solidFill>
            <a:srgbClr val="B88E23"/>
          </a:solidFill>
          <a:ln/>
        </p:spPr>
      </p:sp>
      <p:sp>
        <p:nvSpPr>
          <p:cNvPr id="7" name="Text 4"/>
          <p:cNvSpPr/>
          <p:nvPr/>
        </p:nvSpPr>
        <p:spPr>
          <a:xfrm>
            <a:off x="1173004" y="5730967"/>
            <a:ext cx="3580567" cy="425291"/>
          </a:xfrm>
          <a:prstGeom prst="rect">
            <a:avLst/>
          </a:prstGeom>
          <a:noFill/>
          <a:ln/>
        </p:spPr>
        <p:txBody>
          <a:bodyPr wrap="none" lIns="0" tIns="0" rIns="0" bIns="0" rtlCol="0" anchor="t"/>
          <a:lstStyle/>
          <a:p>
            <a:pPr marL="0" indent="0" algn="l">
              <a:lnSpc>
                <a:spcPts val="3300"/>
              </a:lnSpc>
              <a:buNone/>
            </a:pPr>
            <a:r>
              <a:rPr lang="en-US" sz="2650" dirty="0">
                <a:solidFill>
                  <a:srgbClr val="454240"/>
                </a:solidFill>
                <a:latin typeface="Libre Baskerville" pitchFamily="34" charset="0"/>
                <a:ea typeface="Libre Baskerville" pitchFamily="34" charset="-122"/>
                <a:cs typeface="Libre Baskerville" pitchFamily="34" charset="-120"/>
              </a:rPr>
              <a:t>Unified Data System</a:t>
            </a:r>
            <a:endParaRPr lang="en-US" sz="2650" dirty="0"/>
          </a:p>
        </p:txBody>
      </p:sp>
      <p:sp>
        <p:nvSpPr>
          <p:cNvPr id="8" name="Text 5"/>
          <p:cNvSpPr/>
          <p:nvPr/>
        </p:nvSpPr>
        <p:spPr>
          <a:xfrm>
            <a:off x="1173004" y="6292347"/>
            <a:ext cx="6919913" cy="1088708"/>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It functions as a comprehensive digital platform that addresses data fragmentation by centralizing and standardizing all higher education information into a single, unified national database.</a:t>
            </a:r>
            <a:endParaRPr lang="en-US" sz="1750" dirty="0"/>
          </a:p>
        </p:txBody>
      </p:sp>
      <p:pic>
        <p:nvPicPr>
          <p:cNvPr id="10" name="Picture 9">
            <a:extLst>
              <a:ext uri="{FF2B5EF4-FFF2-40B4-BE49-F238E27FC236}">
                <a16:creationId xmlns:a16="http://schemas.microsoft.com/office/drawing/2014/main" id="{7F1EDF24-0958-F4BF-1A11-0BA56824FE35}"/>
              </a:ext>
            </a:extLst>
          </p:cNvPr>
          <p:cNvPicPr>
            <a:picLocks noChangeAspect="1"/>
          </p:cNvPicPr>
          <p:nvPr/>
        </p:nvPicPr>
        <p:blipFill>
          <a:blip r:embed="rId3"/>
          <a:stretch>
            <a:fillRect/>
          </a:stretch>
        </p:blipFill>
        <p:spPr>
          <a:xfrm>
            <a:off x="8350211" y="2160371"/>
            <a:ext cx="5734755" cy="2944583"/>
          </a:xfrm>
          <a:prstGeom prst="rect">
            <a:avLst/>
          </a:prstGeom>
        </p:spPr>
      </p:pic>
      <p:sp>
        <p:nvSpPr>
          <p:cNvPr id="2" name="Text 1">
            <a:extLst>
              <a:ext uri="{FF2B5EF4-FFF2-40B4-BE49-F238E27FC236}">
                <a16:creationId xmlns:a16="http://schemas.microsoft.com/office/drawing/2014/main" id="{7CC24ED3-9ED6-C37B-09B4-5AC7506149DD}"/>
              </a:ext>
            </a:extLst>
          </p:cNvPr>
          <p:cNvSpPr/>
          <p:nvPr/>
        </p:nvSpPr>
        <p:spPr>
          <a:xfrm>
            <a:off x="793791" y="2914686"/>
            <a:ext cx="4918388" cy="1700927"/>
          </a:xfrm>
          <a:prstGeom prst="rect">
            <a:avLst/>
          </a:prstGeom>
          <a:noFill/>
          <a:ln/>
        </p:spPr>
        <p:txBody>
          <a:bodyPr wrap="square" lIns="0" tIns="0" rIns="0" bIns="0" rtlCol="0" anchor="t"/>
          <a:lstStyle/>
          <a:p>
            <a:pPr marL="0" indent="0" algn="l">
              <a:lnSpc>
                <a:spcPts val="4450"/>
              </a:lnSpc>
              <a:buNone/>
            </a:pPr>
            <a:r>
              <a:rPr lang="en-US" sz="2400" dirty="0">
                <a:solidFill>
                  <a:srgbClr val="5C4E3D"/>
                </a:solidFill>
                <a:latin typeface="Libre Baskerville" pitchFamily="34" charset="0"/>
                <a:ea typeface="Libre Baskerville" pitchFamily="34" charset="-122"/>
                <a:cs typeface="Libre Baskerville" pitchFamily="34" charset="-120"/>
              </a:rPr>
              <a:t>HEMIS: National Higher </a:t>
            </a:r>
          </a:p>
          <a:p>
            <a:pPr marL="0" indent="0" algn="l">
              <a:lnSpc>
                <a:spcPts val="4450"/>
              </a:lnSpc>
              <a:buNone/>
            </a:pPr>
            <a:r>
              <a:rPr lang="en-US" sz="2400" dirty="0">
                <a:solidFill>
                  <a:srgbClr val="5C4E3D"/>
                </a:solidFill>
                <a:latin typeface="Libre Baskerville" pitchFamily="34" charset="0"/>
                <a:ea typeface="Libre Baskerville" pitchFamily="34" charset="-122"/>
                <a:cs typeface="Libre Baskerville" pitchFamily="34" charset="-120"/>
              </a:rPr>
              <a:t>Education Data Management </a:t>
            </a:r>
          </a:p>
          <a:p>
            <a:pPr marL="0" indent="0" algn="l">
              <a:lnSpc>
                <a:spcPts val="4450"/>
              </a:lnSpc>
              <a:buNone/>
            </a:pPr>
            <a:r>
              <a:rPr lang="en-US" sz="2400" dirty="0">
                <a:solidFill>
                  <a:srgbClr val="5C4E3D"/>
                </a:solidFill>
                <a:latin typeface="Libre Baskerville" pitchFamily="34" charset="0"/>
                <a:ea typeface="Libre Baskerville" pitchFamily="34" charset="-122"/>
                <a:cs typeface="Libre Baskerville" pitchFamily="34" charset="-120"/>
              </a:rPr>
              <a:t>Platform</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76180"/>
          </a:xfrm>
          <a:prstGeom prst="rect">
            <a:avLst/>
          </a:prstGeom>
        </p:spPr>
      </p:pic>
      <p:sp>
        <p:nvSpPr>
          <p:cNvPr id="3" name="Text 0"/>
          <p:cNvSpPr/>
          <p:nvPr/>
        </p:nvSpPr>
        <p:spPr>
          <a:xfrm>
            <a:off x="777240" y="3386852"/>
            <a:ext cx="11261527" cy="693896"/>
          </a:xfrm>
          <a:prstGeom prst="rect">
            <a:avLst/>
          </a:prstGeom>
          <a:noFill/>
          <a:ln/>
        </p:spPr>
        <p:txBody>
          <a:bodyPr wrap="none" lIns="0" tIns="0" rIns="0" bIns="0" rtlCol="0" anchor="t"/>
          <a:lstStyle/>
          <a:p>
            <a:pPr marL="0" indent="0" algn="l">
              <a:lnSpc>
                <a:spcPts val="5450"/>
              </a:lnSpc>
              <a:buNone/>
            </a:pPr>
            <a:r>
              <a:rPr lang="en-US" sz="4350" dirty="0">
                <a:solidFill>
                  <a:srgbClr val="5C4E3D"/>
                </a:solidFill>
                <a:latin typeface="Libre Baskerville" pitchFamily="34" charset="0"/>
                <a:ea typeface="Libre Baskerville" pitchFamily="34" charset="-122"/>
                <a:cs typeface="Libre Baskerville" pitchFamily="34" charset="-120"/>
              </a:rPr>
              <a:t>1. Executive Summary: What is HEMIS?</a:t>
            </a:r>
            <a:endParaRPr lang="en-US" sz="4350" dirty="0"/>
          </a:p>
        </p:txBody>
      </p:sp>
      <p:sp>
        <p:nvSpPr>
          <p:cNvPr id="4" name="Text 1"/>
          <p:cNvSpPr/>
          <p:nvPr/>
        </p:nvSpPr>
        <p:spPr>
          <a:xfrm>
            <a:off x="777240" y="4413885"/>
            <a:ext cx="13075920" cy="1110377"/>
          </a:xfrm>
          <a:prstGeom prst="rect">
            <a:avLst/>
          </a:prstGeom>
          <a:noFill/>
          <a:ln/>
        </p:spPr>
        <p:txBody>
          <a:bodyPr wrap="square" lIns="0" tIns="0" rIns="0" bIns="0" rtlCol="0" anchor="t"/>
          <a:lstStyle/>
          <a:p>
            <a:pPr marL="0" indent="0" algn="l">
              <a:lnSpc>
                <a:spcPts val="4350"/>
              </a:lnSpc>
              <a:buNone/>
            </a:pPr>
            <a:r>
              <a:rPr lang="en-US" sz="3450" dirty="0">
                <a:solidFill>
                  <a:srgbClr val="5C4E3D"/>
                </a:solidFill>
                <a:latin typeface="Libre Baskerville" pitchFamily="34" charset="0"/>
                <a:ea typeface="Libre Baskerville" pitchFamily="34" charset="-122"/>
                <a:cs typeface="Libre Baskerville" pitchFamily="34" charset="-120"/>
              </a:rPr>
              <a:t>HEMIS: National Higher Education Data Management Platform</a:t>
            </a:r>
            <a:endParaRPr lang="en-US" sz="3450" dirty="0"/>
          </a:p>
        </p:txBody>
      </p:sp>
      <p:sp>
        <p:nvSpPr>
          <p:cNvPr id="5" name="Shape 2"/>
          <p:cNvSpPr/>
          <p:nvPr/>
        </p:nvSpPr>
        <p:spPr>
          <a:xfrm>
            <a:off x="777240" y="5857399"/>
            <a:ext cx="13075920" cy="1765221"/>
          </a:xfrm>
          <a:prstGeom prst="roundRect">
            <a:avLst>
              <a:gd name="adj" fmla="val 5284"/>
            </a:avLst>
          </a:prstGeom>
          <a:solidFill>
            <a:srgbClr val="FFFDFA"/>
          </a:solidFill>
          <a:ln w="30480">
            <a:solidFill>
              <a:srgbClr val="B88E23"/>
            </a:solidFill>
            <a:prstDash val="solid"/>
          </a:ln>
        </p:spPr>
      </p:sp>
      <p:sp>
        <p:nvSpPr>
          <p:cNvPr id="6" name="Shape 3"/>
          <p:cNvSpPr/>
          <p:nvPr/>
        </p:nvSpPr>
        <p:spPr>
          <a:xfrm>
            <a:off x="777240" y="5857399"/>
            <a:ext cx="121920" cy="1765221"/>
          </a:xfrm>
          <a:prstGeom prst="roundRect">
            <a:avLst>
              <a:gd name="adj" fmla="val 76511"/>
            </a:avLst>
          </a:prstGeom>
          <a:solidFill>
            <a:srgbClr val="B88E23"/>
          </a:solidFill>
          <a:ln/>
        </p:spPr>
      </p:sp>
      <p:sp>
        <p:nvSpPr>
          <p:cNvPr id="7" name="Text 4"/>
          <p:cNvSpPr/>
          <p:nvPr/>
        </p:nvSpPr>
        <p:spPr>
          <a:xfrm>
            <a:off x="1151692" y="6109930"/>
            <a:ext cx="7998381" cy="416362"/>
          </a:xfrm>
          <a:prstGeom prst="rect">
            <a:avLst/>
          </a:prstGeom>
          <a:noFill/>
          <a:ln/>
        </p:spPr>
        <p:txBody>
          <a:bodyPr wrap="none" lIns="0" tIns="0" rIns="0" bIns="0" rtlCol="0" anchor="t"/>
          <a:lstStyle/>
          <a:p>
            <a:pPr marL="0" indent="0" algn="l">
              <a:lnSpc>
                <a:spcPts val="3250"/>
              </a:lnSpc>
              <a:buNone/>
            </a:pPr>
            <a:r>
              <a:rPr lang="en-US" sz="2600" dirty="0">
                <a:solidFill>
                  <a:srgbClr val="454240"/>
                </a:solidFill>
                <a:latin typeface="Libre Baskerville" pitchFamily="34" charset="0"/>
                <a:ea typeface="Libre Baskerville" pitchFamily="34" charset="-122"/>
                <a:cs typeface="Libre Baskerville" pitchFamily="34" charset="-120"/>
              </a:rPr>
              <a:t>Empowered Governance and Decision-Making</a:t>
            </a:r>
            <a:endParaRPr lang="en-US" sz="2600" dirty="0"/>
          </a:p>
        </p:txBody>
      </p:sp>
      <p:sp>
        <p:nvSpPr>
          <p:cNvPr id="8" name="Text 5"/>
          <p:cNvSpPr/>
          <p:nvPr/>
        </p:nvSpPr>
        <p:spPr>
          <a:xfrm>
            <a:off x="1151692" y="6659523"/>
            <a:ext cx="12448937" cy="710565"/>
          </a:xfrm>
          <a:prstGeom prst="rect">
            <a:avLst/>
          </a:prstGeom>
          <a:noFill/>
          <a:ln/>
        </p:spPr>
        <p:txBody>
          <a:bodyPr wrap="square" lIns="0" tIns="0" rIns="0" bIns="0" rtlCol="0" anchor="t"/>
          <a:lstStyle/>
          <a:p>
            <a:pPr marL="0" indent="0" algn="l">
              <a:lnSpc>
                <a:spcPts val="2750"/>
              </a:lnSpc>
              <a:buNone/>
            </a:pPr>
            <a:r>
              <a:rPr lang="en-US" sz="1700" dirty="0">
                <a:solidFill>
                  <a:srgbClr val="454240"/>
                </a:solidFill>
                <a:latin typeface="DM Sans" pitchFamily="34" charset="0"/>
                <a:ea typeface="DM Sans" pitchFamily="34" charset="-122"/>
                <a:cs typeface="DM Sans" pitchFamily="34" charset="-120"/>
              </a:rPr>
              <a:t>The system revolutionizes oversight by modernizing institutional management and enabling evidence-based strategic planning for more effective decision-making.</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5569" y="586026"/>
            <a:ext cx="10800278" cy="665678"/>
          </a:xfrm>
          <a:prstGeom prst="rect">
            <a:avLst/>
          </a:prstGeom>
          <a:noFill/>
          <a:ln/>
        </p:spPr>
        <p:txBody>
          <a:bodyPr wrap="none" lIns="0" tIns="0" rIns="0" bIns="0" rtlCol="0" anchor="t"/>
          <a:lstStyle/>
          <a:p>
            <a:pPr marL="0" indent="0" algn="l">
              <a:lnSpc>
                <a:spcPts val="5200"/>
              </a:lnSpc>
              <a:buNone/>
            </a:pPr>
            <a:r>
              <a:rPr lang="en-US" sz="4150" dirty="0">
                <a:solidFill>
                  <a:srgbClr val="5C4E3D"/>
                </a:solidFill>
                <a:latin typeface="Libre Baskerville" pitchFamily="34" charset="0"/>
                <a:ea typeface="Libre Baskerville" pitchFamily="34" charset="-122"/>
                <a:cs typeface="Libre Baskerville" pitchFamily="34" charset="-120"/>
              </a:rPr>
              <a:t>1. Executive Summary: What is HEMIS?</a:t>
            </a:r>
            <a:endParaRPr lang="en-US" sz="4150" dirty="0"/>
          </a:p>
        </p:txBody>
      </p:sp>
      <p:sp>
        <p:nvSpPr>
          <p:cNvPr id="3" name="Text 1"/>
          <p:cNvSpPr/>
          <p:nvPr/>
        </p:nvSpPr>
        <p:spPr>
          <a:xfrm>
            <a:off x="4112895" y="1571149"/>
            <a:ext cx="6404610" cy="532448"/>
          </a:xfrm>
          <a:prstGeom prst="rect">
            <a:avLst/>
          </a:prstGeom>
          <a:noFill/>
          <a:ln/>
        </p:spPr>
        <p:txBody>
          <a:bodyPr wrap="none" lIns="0" tIns="0" rIns="0" bIns="0" rtlCol="0" anchor="t"/>
          <a:lstStyle/>
          <a:p>
            <a:pPr marL="0" indent="0" algn="ctr">
              <a:lnSpc>
                <a:spcPts val="4150"/>
              </a:lnSpc>
              <a:buNone/>
            </a:pPr>
            <a:r>
              <a:rPr lang="en-US" sz="3350" dirty="0">
                <a:solidFill>
                  <a:srgbClr val="5C4E3D"/>
                </a:solidFill>
                <a:latin typeface="Libre Baskerville" pitchFamily="34" charset="0"/>
                <a:ea typeface="Libre Baskerville" pitchFamily="34" charset="-122"/>
                <a:cs typeface="Libre Baskerville" pitchFamily="34" charset="-120"/>
              </a:rPr>
              <a:t>Strategic Priorities Addressed</a:t>
            </a:r>
            <a:endParaRPr lang="en-US" sz="3350" dirty="0"/>
          </a:p>
        </p:txBody>
      </p:sp>
      <p:sp>
        <p:nvSpPr>
          <p:cNvPr id="4" name="Text 2"/>
          <p:cNvSpPr/>
          <p:nvPr/>
        </p:nvSpPr>
        <p:spPr>
          <a:xfrm>
            <a:off x="745569" y="2423041"/>
            <a:ext cx="13139261" cy="340757"/>
          </a:xfrm>
          <a:prstGeom prst="rect">
            <a:avLst/>
          </a:prstGeom>
          <a:noFill/>
          <a:ln/>
        </p:spPr>
        <p:txBody>
          <a:bodyPr wrap="non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HEMIS directly supports key national goals for a stronger, more competitive nation.</a:t>
            </a:r>
            <a:endParaRPr lang="en-US" sz="1650" dirty="0"/>
          </a:p>
        </p:txBody>
      </p:sp>
      <p:pic>
        <p:nvPicPr>
          <p:cNvPr id="5" name="Image 0" descr="preencoded.png"/>
          <p:cNvPicPr>
            <a:picLocks noChangeAspect="1"/>
          </p:cNvPicPr>
          <p:nvPr/>
        </p:nvPicPr>
        <p:blipFill>
          <a:blip r:embed="rId3"/>
          <a:stretch>
            <a:fillRect/>
          </a:stretch>
        </p:blipFill>
        <p:spPr>
          <a:xfrm>
            <a:off x="745569" y="3003352"/>
            <a:ext cx="532448" cy="532448"/>
          </a:xfrm>
          <a:prstGeom prst="rect">
            <a:avLst/>
          </a:prstGeom>
        </p:spPr>
      </p:pic>
      <p:sp>
        <p:nvSpPr>
          <p:cNvPr id="6" name="Text 3"/>
          <p:cNvSpPr/>
          <p:nvPr/>
        </p:nvSpPr>
        <p:spPr>
          <a:xfrm>
            <a:off x="745569" y="3802023"/>
            <a:ext cx="2662714" cy="332780"/>
          </a:xfrm>
          <a:prstGeom prst="rect">
            <a:avLst/>
          </a:prstGeom>
          <a:noFill/>
          <a:ln/>
        </p:spPr>
        <p:txBody>
          <a:bodyPr wrap="non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National Oversight</a:t>
            </a:r>
            <a:endParaRPr lang="en-US" sz="2050" dirty="0"/>
          </a:p>
        </p:txBody>
      </p:sp>
      <p:sp>
        <p:nvSpPr>
          <p:cNvPr id="7" name="Text 4"/>
          <p:cNvSpPr/>
          <p:nvPr/>
        </p:nvSpPr>
        <p:spPr>
          <a:xfrm>
            <a:off x="745569" y="4262557"/>
            <a:ext cx="4202192" cy="681514"/>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Complete visibility of all higher education institutions.</a:t>
            </a:r>
            <a:endParaRPr lang="en-US" sz="1650" dirty="0"/>
          </a:p>
        </p:txBody>
      </p:sp>
      <p:pic>
        <p:nvPicPr>
          <p:cNvPr id="8" name="Image 1" descr="preencoded.png"/>
          <p:cNvPicPr>
            <a:picLocks noChangeAspect="1"/>
          </p:cNvPicPr>
          <p:nvPr/>
        </p:nvPicPr>
        <p:blipFill>
          <a:blip r:embed="rId4"/>
          <a:stretch>
            <a:fillRect/>
          </a:stretch>
        </p:blipFill>
        <p:spPr>
          <a:xfrm>
            <a:off x="5213985" y="3003352"/>
            <a:ext cx="532448" cy="532448"/>
          </a:xfrm>
          <a:prstGeom prst="rect">
            <a:avLst/>
          </a:prstGeom>
        </p:spPr>
      </p:pic>
      <p:sp>
        <p:nvSpPr>
          <p:cNvPr id="9" name="Text 5"/>
          <p:cNvSpPr/>
          <p:nvPr/>
        </p:nvSpPr>
        <p:spPr>
          <a:xfrm>
            <a:off x="5213985" y="3802023"/>
            <a:ext cx="2662714" cy="332780"/>
          </a:xfrm>
          <a:prstGeom prst="rect">
            <a:avLst/>
          </a:prstGeom>
          <a:noFill/>
          <a:ln/>
        </p:spPr>
        <p:txBody>
          <a:bodyPr wrap="non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Quality Leadership</a:t>
            </a:r>
            <a:endParaRPr lang="en-US" sz="2050" dirty="0"/>
          </a:p>
        </p:txBody>
      </p:sp>
      <p:sp>
        <p:nvSpPr>
          <p:cNvPr id="10" name="Text 6"/>
          <p:cNvSpPr/>
          <p:nvPr/>
        </p:nvSpPr>
        <p:spPr>
          <a:xfrm>
            <a:off x="5213985" y="4262557"/>
            <a:ext cx="4202311" cy="681514"/>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Systematic monitoring to improve educational standards.</a:t>
            </a:r>
            <a:endParaRPr lang="en-US" sz="1650" dirty="0"/>
          </a:p>
        </p:txBody>
      </p:sp>
      <p:pic>
        <p:nvPicPr>
          <p:cNvPr id="11" name="Image 2" descr="preencoded.png"/>
          <p:cNvPicPr>
            <a:picLocks noChangeAspect="1"/>
          </p:cNvPicPr>
          <p:nvPr/>
        </p:nvPicPr>
        <p:blipFill>
          <a:blip r:embed="rId5"/>
          <a:stretch>
            <a:fillRect/>
          </a:stretch>
        </p:blipFill>
        <p:spPr>
          <a:xfrm>
            <a:off x="9682520" y="3003352"/>
            <a:ext cx="532448" cy="532448"/>
          </a:xfrm>
          <a:prstGeom prst="rect">
            <a:avLst/>
          </a:prstGeom>
        </p:spPr>
      </p:pic>
      <p:sp>
        <p:nvSpPr>
          <p:cNvPr id="12" name="Text 7"/>
          <p:cNvSpPr/>
          <p:nvPr/>
        </p:nvSpPr>
        <p:spPr>
          <a:xfrm>
            <a:off x="9682520" y="3802023"/>
            <a:ext cx="3900011" cy="332780"/>
          </a:xfrm>
          <a:prstGeom prst="rect">
            <a:avLst/>
          </a:prstGeom>
          <a:noFill/>
          <a:ln/>
        </p:spPr>
        <p:txBody>
          <a:bodyPr wrap="non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Evidence-Based Governance</a:t>
            </a:r>
            <a:endParaRPr lang="en-US" sz="2050" dirty="0"/>
          </a:p>
        </p:txBody>
      </p:sp>
      <p:sp>
        <p:nvSpPr>
          <p:cNvPr id="13" name="Text 8"/>
          <p:cNvSpPr/>
          <p:nvPr/>
        </p:nvSpPr>
        <p:spPr>
          <a:xfrm>
            <a:off x="9682520" y="4262557"/>
            <a:ext cx="4202192" cy="681514"/>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Data-driven policy and resource allocation.</a:t>
            </a:r>
            <a:endParaRPr lang="en-US" sz="1650" dirty="0"/>
          </a:p>
        </p:txBody>
      </p:sp>
      <p:pic>
        <p:nvPicPr>
          <p:cNvPr id="14" name="Image 3" descr="preencoded.png"/>
          <p:cNvPicPr>
            <a:picLocks noChangeAspect="1"/>
          </p:cNvPicPr>
          <p:nvPr/>
        </p:nvPicPr>
        <p:blipFill>
          <a:blip r:embed="rId6"/>
          <a:stretch>
            <a:fillRect/>
          </a:stretch>
        </p:blipFill>
        <p:spPr>
          <a:xfrm>
            <a:off x="745569" y="5370076"/>
            <a:ext cx="532448" cy="532448"/>
          </a:xfrm>
          <a:prstGeom prst="rect">
            <a:avLst/>
          </a:prstGeom>
        </p:spPr>
      </p:pic>
      <p:sp>
        <p:nvSpPr>
          <p:cNvPr id="15" name="Text 9"/>
          <p:cNvSpPr/>
          <p:nvPr/>
        </p:nvSpPr>
        <p:spPr>
          <a:xfrm>
            <a:off x="745569" y="6168747"/>
            <a:ext cx="3492103" cy="332780"/>
          </a:xfrm>
          <a:prstGeom prst="rect">
            <a:avLst/>
          </a:prstGeom>
          <a:noFill/>
          <a:ln/>
        </p:spPr>
        <p:txBody>
          <a:bodyPr wrap="non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Administrative Efficiency</a:t>
            </a:r>
            <a:endParaRPr lang="en-US" sz="2050" dirty="0"/>
          </a:p>
        </p:txBody>
      </p:sp>
      <p:sp>
        <p:nvSpPr>
          <p:cNvPr id="16" name="Text 10"/>
          <p:cNvSpPr/>
          <p:nvPr/>
        </p:nvSpPr>
        <p:spPr>
          <a:xfrm>
            <a:off x="745569" y="6629281"/>
            <a:ext cx="4202192" cy="681514"/>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Streamlined operations to reduce bureaucracy.</a:t>
            </a:r>
            <a:endParaRPr lang="en-US" sz="1650" dirty="0"/>
          </a:p>
        </p:txBody>
      </p:sp>
      <p:pic>
        <p:nvPicPr>
          <p:cNvPr id="17" name="Image 4" descr="preencoded.png"/>
          <p:cNvPicPr>
            <a:picLocks noChangeAspect="1"/>
          </p:cNvPicPr>
          <p:nvPr/>
        </p:nvPicPr>
        <p:blipFill>
          <a:blip r:embed="rId7"/>
          <a:stretch>
            <a:fillRect/>
          </a:stretch>
        </p:blipFill>
        <p:spPr>
          <a:xfrm>
            <a:off x="5213985" y="5370076"/>
            <a:ext cx="532448" cy="532448"/>
          </a:xfrm>
          <a:prstGeom prst="rect">
            <a:avLst/>
          </a:prstGeom>
        </p:spPr>
      </p:pic>
      <p:sp>
        <p:nvSpPr>
          <p:cNvPr id="18" name="Text 11"/>
          <p:cNvSpPr/>
          <p:nvPr/>
        </p:nvSpPr>
        <p:spPr>
          <a:xfrm>
            <a:off x="5213985" y="6168747"/>
            <a:ext cx="4202311" cy="665559"/>
          </a:xfrm>
          <a:prstGeom prst="rect">
            <a:avLst/>
          </a:prstGeom>
          <a:noFill/>
          <a:ln/>
        </p:spPr>
        <p:txBody>
          <a:bodyPr wrap="squar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Transparency &amp; Accountability</a:t>
            </a:r>
            <a:endParaRPr lang="en-US" sz="2050" dirty="0"/>
          </a:p>
        </p:txBody>
      </p:sp>
      <p:sp>
        <p:nvSpPr>
          <p:cNvPr id="19" name="Text 12"/>
          <p:cNvSpPr/>
          <p:nvPr/>
        </p:nvSpPr>
        <p:spPr>
          <a:xfrm>
            <a:off x="5213985" y="6962061"/>
            <a:ext cx="4202311" cy="681514"/>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Clear performance metrics for all institutions.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26030"/>
          </a:xfrm>
          <a:prstGeom prst="rect">
            <a:avLst/>
          </a:prstGeom>
        </p:spPr>
      </p:pic>
      <p:sp>
        <p:nvSpPr>
          <p:cNvPr id="3" name="Text 0"/>
          <p:cNvSpPr/>
          <p:nvPr/>
        </p:nvSpPr>
        <p:spPr>
          <a:xfrm>
            <a:off x="785813" y="3145036"/>
            <a:ext cx="9851112" cy="631388"/>
          </a:xfrm>
          <a:prstGeom prst="rect">
            <a:avLst/>
          </a:prstGeom>
          <a:noFill/>
          <a:ln/>
        </p:spPr>
        <p:txBody>
          <a:bodyPr wrap="none" lIns="0" tIns="0" rIns="0" bIns="0" rtlCol="0" anchor="t"/>
          <a:lstStyle/>
          <a:p>
            <a:pPr marL="0" indent="0" algn="l">
              <a:lnSpc>
                <a:spcPts val="4950"/>
              </a:lnSpc>
              <a:buNone/>
            </a:pPr>
            <a:r>
              <a:rPr lang="en-US" sz="3950" dirty="0">
                <a:solidFill>
                  <a:srgbClr val="5C4E3D"/>
                </a:solidFill>
                <a:latin typeface="Libre Baskerville" pitchFamily="34" charset="0"/>
                <a:ea typeface="Libre Baskerville" pitchFamily="34" charset="-122"/>
                <a:cs typeface="Libre Baskerville" pitchFamily="34" charset="-120"/>
              </a:rPr>
              <a:t>2. The Challenge: A Governance Crisis</a:t>
            </a:r>
            <a:endParaRPr lang="en-US" sz="3950" dirty="0"/>
          </a:p>
        </p:txBody>
      </p:sp>
      <p:sp>
        <p:nvSpPr>
          <p:cNvPr id="4" name="Text 1"/>
          <p:cNvSpPr/>
          <p:nvPr/>
        </p:nvSpPr>
        <p:spPr>
          <a:xfrm>
            <a:off x="785813" y="4079438"/>
            <a:ext cx="4230529" cy="505182"/>
          </a:xfrm>
          <a:prstGeom prst="rect">
            <a:avLst/>
          </a:prstGeom>
          <a:noFill/>
          <a:ln/>
        </p:spPr>
        <p:txBody>
          <a:bodyPr wrap="none" lIns="0" tIns="0" rIns="0" bIns="0" rtlCol="0" anchor="t"/>
          <a:lstStyle/>
          <a:p>
            <a:pPr marL="0" indent="0" algn="l">
              <a:lnSpc>
                <a:spcPts val="3950"/>
              </a:lnSpc>
              <a:buNone/>
            </a:pPr>
            <a:r>
              <a:rPr lang="en-US" sz="3150" dirty="0">
                <a:solidFill>
                  <a:srgbClr val="5C4E3D"/>
                </a:solidFill>
                <a:latin typeface="Libre Baskerville" pitchFamily="34" charset="0"/>
                <a:ea typeface="Libre Baskerville" pitchFamily="34" charset="-122"/>
                <a:cs typeface="Libre Baskerville" pitchFamily="34" charset="-120"/>
              </a:rPr>
              <a:t>Systemic Challenges</a:t>
            </a:r>
            <a:endParaRPr lang="en-US" sz="3150" dirty="0"/>
          </a:p>
        </p:txBody>
      </p:sp>
      <p:sp>
        <p:nvSpPr>
          <p:cNvPr id="5" name="Text 2"/>
          <p:cNvSpPr/>
          <p:nvPr/>
        </p:nvSpPr>
        <p:spPr>
          <a:xfrm>
            <a:off x="785813" y="4887635"/>
            <a:ext cx="13058775" cy="323255"/>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Cambodia's higher education potential is undermined by critical, systemic challenges.</a:t>
            </a:r>
            <a:endParaRPr lang="en-US" sz="1550" dirty="0"/>
          </a:p>
        </p:txBody>
      </p:sp>
      <p:sp>
        <p:nvSpPr>
          <p:cNvPr id="6" name="Shape 3"/>
          <p:cNvSpPr/>
          <p:nvPr/>
        </p:nvSpPr>
        <p:spPr>
          <a:xfrm>
            <a:off x="785813" y="5438180"/>
            <a:ext cx="4218146" cy="2172295"/>
          </a:xfrm>
          <a:prstGeom prst="roundRect">
            <a:avLst>
              <a:gd name="adj" fmla="val 3907"/>
            </a:avLst>
          </a:prstGeom>
          <a:solidFill>
            <a:srgbClr val="FFFDFA"/>
          </a:solidFill>
          <a:ln w="22860">
            <a:solidFill>
              <a:srgbClr val="DDD3BA"/>
            </a:solidFill>
            <a:prstDash val="solid"/>
          </a:ln>
        </p:spPr>
      </p:sp>
      <p:sp>
        <p:nvSpPr>
          <p:cNvPr id="7" name="Shape 4"/>
          <p:cNvSpPr/>
          <p:nvPr/>
        </p:nvSpPr>
        <p:spPr>
          <a:xfrm>
            <a:off x="785813" y="5438180"/>
            <a:ext cx="91440" cy="2172295"/>
          </a:xfrm>
          <a:prstGeom prst="roundRect">
            <a:avLst>
              <a:gd name="adj" fmla="val 92822"/>
            </a:avLst>
          </a:prstGeom>
          <a:solidFill>
            <a:srgbClr val="B88E23"/>
          </a:solidFill>
          <a:ln/>
        </p:spPr>
      </p:sp>
      <p:sp>
        <p:nvSpPr>
          <p:cNvPr id="8" name="Text 5"/>
          <p:cNvSpPr/>
          <p:nvPr/>
        </p:nvSpPr>
        <p:spPr>
          <a:xfrm>
            <a:off x="1102162" y="5663089"/>
            <a:ext cx="2526030" cy="315754"/>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Fragmented Data</a:t>
            </a:r>
            <a:endParaRPr lang="en-US" sz="1950" dirty="0"/>
          </a:p>
        </p:txBody>
      </p:sp>
      <p:sp>
        <p:nvSpPr>
          <p:cNvPr id="9" name="Text 6"/>
          <p:cNvSpPr/>
          <p:nvPr/>
        </p:nvSpPr>
        <p:spPr>
          <a:xfrm>
            <a:off x="1102162" y="6100048"/>
            <a:ext cx="3676888" cy="969764"/>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Information is siloed in individual institutions, preventing national oversight.</a:t>
            </a:r>
            <a:endParaRPr lang="en-US" sz="1550" dirty="0"/>
          </a:p>
        </p:txBody>
      </p:sp>
      <p:sp>
        <p:nvSpPr>
          <p:cNvPr id="10" name="Shape 7"/>
          <p:cNvSpPr/>
          <p:nvPr/>
        </p:nvSpPr>
        <p:spPr>
          <a:xfrm>
            <a:off x="5206008" y="5438180"/>
            <a:ext cx="4218265" cy="2172295"/>
          </a:xfrm>
          <a:prstGeom prst="roundRect">
            <a:avLst>
              <a:gd name="adj" fmla="val 3907"/>
            </a:avLst>
          </a:prstGeom>
          <a:solidFill>
            <a:srgbClr val="FFFDFA"/>
          </a:solidFill>
          <a:ln w="22860">
            <a:solidFill>
              <a:srgbClr val="DDD3BA"/>
            </a:solidFill>
            <a:prstDash val="solid"/>
          </a:ln>
        </p:spPr>
      </p:sp>
      <p:sp>
        <p:nvSpPr>
          <p:cNvPr id="11" name="Shape 8"/>
          <p:cNvSpPr/>
          <p:nvPr/>
        </p:nvSpPr>
        <p:spPr>
          <a:xfrm>
            <a:off x="5206008" y="5438180"/>
            <a:ext cx="91440" cy="2172295"/>
          </a:xfrm>
          <a:prstGeom prst="roundRect">
            <a:avLst>
              <a:gd name="adj" fmla="val 92822"/>
            </a:avLst>
          </a:prstGeom>
          <a:solidFill>
            <a:srgbClr val="B88E23"/>
          </a:solidFill>
          <a:ln/>
        </p:spPr>
      </p:sp>
      <p:sp>
        <p:nvSpPr>
          <p:cNvPr id="12" name="Text 9"/>
          <p:cNvSpPr/>
          <p:nvPr/>
        </p:nvSpPr>
        <p:spPr>
          <a:xfrm>
            <a:off x="5522357" y="5663089"/>
            <a:ext cx="3677007" cy="631507"/>
          </a:xfrm>
          <a:prstGeom prst="rect">
            <a:avLst/>
          </a:prstGeom>
          <a:noFill/>
          <a:ln/>
        </p:spPr>
        <p:txBody>
          <a:bodyPr wrap="squar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Government Oversight Limitations</a:t>
            </a:r>
            <a:endParaRPr lang="en-US" sz="1950" dirty="0"/>
          </a:p>
        </p:txBody>
      </p:sp>
      <p:sp>
        <p:nvSpPr>
          <p:cNvPr id="13" name="Text 10"/>
          <p:cNvSpPr/>
          <p:nvPr/>
        </p:nvSpPr>
        <p:spPr>
          <a:xfrm>
            <a:off x="5522357" y="6415802"/>
            <a:ext cx="3677007" cy="646509"/>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Ministry officials lack timely, accurate data for critical decisions.</a:t>
            </a:r>
            <a:endParaRPr lang="en-US" sz="1550" dirty="0"/>
          </a:p>
        </p:txBody>
      </p:sp>
      <p:sp>
        <p:nvSpPr>
          <p:cNvPr id="14" name="Shape 11"/>
          <p:cNvSpPr/>
          <p:nvPr/>
        </p:nvSpPr>
        <p:spPr>
          <a:xfrm>
            <a:off x="9626322" y="5438180"/>
            <a:ext cx="4218265" cy="2172295"/>
          </a:xfrm>
          <a:prstGeom prst="roundRect">
            <a:avLst>
              <a:gd name="adj" fmla="val 3907"/>
            </a:avLst>
          </a:prstGeom>
          <a:solidFill>
            <a:srgbClr val="FFFDFA"/>
          </a:solidFill>
          <a:ln w="22860">
            <a:solidFill>
              <a:srgbClr val="DDD3BA"/>
            </a:solidFill>
            <a:prstDash val="solid"/>
          </a:ln>
        </p:spPr>
      </p:sp>
      <p:sp>
        <p:nvSpPr>
          <p:cNvPr id="15" name="Shape 12"/>
          <p:cNvSpPr/>
          <p:nvPr/>
        </p:nvSpPr>
        <p:spPr>
          <a:xfrm>
            <a:off x="9626322" y="5438180"/>
            <a:ext cx="91440" cy="2172295"/>
          </a:xfrm>
          <a:prstGeom prst="roundRect">
            <a:avLst>
              <a:gd name="adj" fmla="val 92822"/>
            </a:avLst>
          </a:prstGeom>
          <a:solidFill>
            <a:srgbClr val="B88E23"/>
          </a:solidFill>
          <a:ln/>
        </p:spPr>
      </p:sp>
      <p:sp>
        <p:nvSpPr>
          <p:cNvPr id="16" name="Text 13"/>
          <p:cNvSpPr/>
          <p:nvPr/>
        </p:nvSpPr>
        <p:spPr>
          <a:xfrm>
            <a:off x="9942671" y="5663089"/>
            <a:ext cx="3677007" cy="631507"/>
          </a:xfrm>
          <a:prstGeom prst="rect">
            <a:avLst/>
          </a:prstGeom>
          <a:noFill/>
          <a:ln/>
        </p:spPr>
        <p:txBody>
          <a:bodyPr wrap="squar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Severe Administrative Burden</a:t>
            </a:r>
            <a:endParaRPr lang="en-US" sz="1950" dirty="0"/>
          </a:p>
        </p:txBody>
      </p:sp>
      <p:sp>
        <p:nvSpPr>
          <p:cNvPr id="17" name="Text 14"/>
          <p:cNvSpPr/>
          <p:nvPr/>
        </p:nvSpPr>
        <p:spPr>
          <a:xfrm>
            <a:off x="9942671" y="6415802"/>
            <a:ext cx="3677007" cy="969764"/>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Universities spend countless hours on manual data compilation in Excel, leading to errors and delays.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69156"/>
            <a:ext cx="11056025"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2. The Challenge: A Governance Crisis</a:t>
            </a:r>
            <a:endParaRPr lang="en-US" sz="4450" dirty="0"/>
          </a:p>
        </p:txBody>
      </p:sp>
      <p:sp>
        <p:nvSpPr>
          <p:cNvPr id="3" name="Text 1"/>
          <p:cNvSpPr/>
          <p:nvPr/>
        </p:nvSpPr>
        <p:spPr>
          <a:xfrm>
            <a:off x="793790" y="1918097"/>
            <a:ext cx="4777740"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The Cost of Inaction</a:t>
            </a:r>
            <a:endParaRPr lang="en-US" sz="3550" dirty="0"/>
          </a:p>
        </p:txBody>
      </p:sp>
      <p:sp>
        <p:nvSpPr>
          <p:cNvPr id="4" name="Text 2"/>
          <p:cNvSpPr/>
          <p:nvPr/>
        </p:nvSpPr>
        <p:spPr>
          <a:xfrm>
            <a:off x="793790" y="282523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This governance crisis has a direct and damaging impact on Cambodia's national goals.</a:t>
            </a:r>
            <a:endParaRPr lang="en-US" sz="1750" dirty="0"/>
          </a:p>
        </p:txBody>
      </p:sp>
      <p:sp>
        <p:nvSpPr>
          <p:cNvPr id="5" name="Shape 3"/>
          <p:cNvSpPr/>
          <p:nvPr/>
        </p:nvSpPr>
        <p:spPr>
          <a:xfrm>
            <a:off x="793790" y="3443288"/>
            <a:ext cx="13042821" cy="3917156"/>
          </a:xfrm>
          <a:prstGeom prst="roundRect">
            <a:avLst>
              <a:gd name="adj" fmla="val 2432"/>
            </a:avLst>
          </a:prstGeom>
          <a:noFill/>
          <a:ln w="7620">
            <a:solidFill>
              <a:srgbClr val="000000">
                <a:alpha val="8000"/>
              </a:srgbClr>
            </a:solidFill>
            <a:prstDash val="solid"/>
          </a:ln>
        </p:spPr>
      </p:sp>
      <p:sp>
        <p:nvSpPr>
          <p:cNvPr id="6" name="Shape 4"/>
          <p:cNvSpPr/>
          <p:nvPr/>
        </p:nvSpPr>
        <p:spPr>
          <a:xfrm>
            <a:off x="801410" y="3450908"/>
            <a:ext cx="13026271" cy="650319"/>
          </a:xfrm>
          <a:prstGeom prst="rect">
            <a:avLst/>
          </a:prstGeom>
          <a:solidFill>
            <a:srgbClr val="FFFFFF">
              <a:alpha val="4000"/>
            </a:srgbClr>
          </a:solidFill>
          <a:ln/>
        </p:spPr>
      </p:sp>
      <p:sp>
        <p:nvSpPr>
          <p:cNvPr id="7" name="Text 5"/>
          <p:cNvSpPr/>
          <p:nvPr/>
        </p:nvSpPr>
        <p:spPr>
          <a:xfrm>
            <a:off x="1029653" y="3594616"/>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Critical Challenge</a:t>
            </a:r>
            <a:endParaRPr lang="en-US" sz="1750" dirty="0"/>
          </a:p>
        </p:txBody>
      </p:sp>
      <p:sp>
        <p:nvSpPr>
          <p:cNvPr id="8" name="Text 6"/>
          <p:cNvSpPr/>
          <p:nvPr/>
        </p:nvSpPr>
        <p:spPr>
          <a:xfrm>
            <a:off x="5375077" y="3594616"/>
            <a:ext cx="388036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Current Reality</a:t>
            </a:r>
            <a:endParaRPr lang="en-US" sz="1750" dirty="0"/>
          </a:p>
        </p:txBody>
      </p:sp>
      <p:sp>
        <p:nvSpPr>
          <p:cNvPr id="9" name="Text 7"/>
          <p:cNvSpPr/>
          <p:nvPr/>
        </p:nvSpPr>
        <p:spPr>
          <a:xfrm>
            <a:off x="9716691" y="3594616"/>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Impact on National Goals</a:t>
            </a:r>
            <a:endParaRPr lang="en-US" sz="1750" dirty="0"/>
          </a:p>
        </p:txBody>
      </p:sp>
      <p:sp>
        <p:nvSpPr>
          <p:cNvPr id="10" name="Shape 8"/>
          <p:cNvSpPr/>
          <p:nvPr/>
        </p:nvSpPr>
        <p:spPr>
          <a:xfrm>
            <a:off x="801410" y="4101227"/>
            <a:ext cx="13026271" cy="650319"/>
          </a:xfrm>
          <a:prstGeom prst="rect">
            <a:avLst/>
          </a:prstGeom>
          <a:solidFill>
            <a:srgbClr val="000000">
              <a:alpha val="4000"/>
            </a:srgbClr>
          </a:solidFill>
          <a:ln/>
        </p:spPr>
      </p:sp>
      <p:sp>
        <p:nvSpPr>
          <p:cNvPr id="11" name="Text 9"/>
          <p:cNvSpPr/>
          <p:nvPr/>
        </p:nvSpPr>
        <p:spPr>
          <a:xfrm>
            <a:off x="1029653" y="424493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Information Silos</a:t>
            </a:r>
            <a:endParaRPr lang="en-US" sz="1750" dirty="0"/>
          </a:p>
        </p:txBody>
      </p:sp>
      <p:sp>
        <p:nvSpPr>
          <p:cNvPr id="12" name="Text 10"/>
          <p:cNvSpPr/>
          <p:nvPr/>
        </p:nvSpPr>
        <p:spPr>
          <a:xfrm>
            <a:off x="5375077" y="4244935"/>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Siloed institutional data</a:t>
            </a:r>
            <a:endParaRPr lang="en-US" sz="1750" dirty="0"/>
          </a:p>
        </p:txBody>
      </p:sp>
      <p:sp>
        <p:nvSpPr>
          <p:cNvPr id="13" name="Text 11"/>
          <p:cNvSpPr/>
          <p:nvPr/>
        </p:nvSpPr>
        <p:spPr>
          <a:xfrm>
            <a:off x="9716691" y="424493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Poor national oversight</a:t>
            </a:r>
            <a:endParaRPr lang="en-US" sz="1750" dirty="0"/>
          </a:p>
        </p:txBody>
      </p:sp>
      <p:sp>
        <p:nvSpPr>
          <p:cNvPr id="14" name="Shape 12"/>
          <p:cNvSpPr/>
          <p:nvPr/>
        </p:nvSpPr>
        <p:spPr>
          <a:xfrm>
            <a:off x="801410" y="4751546"/>
            <a:ext cx="13026271" cy="650319"/>
          </a:xfrm>
          <a:prstGeom prst="rect">
            <a:avLst/>
          </a:prstGeom>
          <a:solidFill>
            <a:srgbClr val="FFFFFF">
              <a:alpha val="4000"/>
            </a:srgbClr>
          </a:solidFill>
          <a:ln/>
        </p:spPr>
      </p:sp>
      <p:sp>
        <p:nvSpPr>
          <p:cNvPr id="15" name="Text 13"/>
          <p:cNvSpPr/>
          <p:nvPr/>
        </p:nvSpPr>
        <p:spPr>
          <a:xfrm>
            <a:off x="1029653" y="489525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Manual Dependencies</a:t>
            </a:r>
            <a:endParaRPr lang="en-US" sz="1750" dirty="0"/>
          </a:p>
        </p:txBody>
      </p:sp>
      <p:sp>
        <p:nvSpPr>
          <p:cNvPr id="16" name="Text 14"/>
          <p:cNvSpPr/>
          <p:nvPr/>
        </p:nvSpPr>
        <p:spPr>
          <a:xfrm>
            <a:off x="5375077" y="4895255"/>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Excel reporting delays</a:t>
            </a:r>
            <a:endParaRPr lang="en-US" sz="1750" dirty="0"/>
          </a:p>
        </p:txBody>
      </p:sp>
      <p:sp>
        <p:nvSpPr>
          <p:cNvPr id="17" name="Text 15"/>
          <p:cNvSpPr/>
          <p:nvPr/>
        </p:nvSpPr>
        <p:spPr>
          <a:xfrm>
            <a:off x="9716691" y="489525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Delayed strategic decisions</a:t>
            </a:r>
            <a:endParaRPr lang="en-US" sz="1750" dirty="0"/>
          </a:p>
        </p:txBody>
      </p:sp>
      <p:sp>
        <p:nvSpPr>
          <p:cNvPr id="18" name="Shape 16"/>
          <p:cNvSpPr/>
          <p:nvPr/>
        </p:nvSpPr>
        <p:spPr>
          <a:xfrm>
            <a:off x="801410" y="5401866"/>
            <a:ext cx="13026271" cy="650319"/>
          </a:xfrm>
          <a:prstGeom prst="rect">
            <a:avLst/>
          </a:prstGeom>
          <a:solidFill>
            <a:srgbClr val="000000">
              <a:alpha val="4000"/>
            </a:srgbClr>
          </a:solidFill>
          <a:ln/>
        </p:spPr>
      </p:sp>
      <p:sp>
        <p:nvSpPr>
          <p:cNvPr id="19" name="Text 17"/>
          <p:cNvSpPr/>
          <p:nvPr/>
        </p:nvSpPr>
        <p:spPr>
          <a:xfrm>
            <a:off x="1029653" y="5545574"/>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Quality Blind Spots</a:t>
            </a:r>
            <a:endParaRPr lang="en-US" sz="1750" dirty="0"/>
          </a:p>
        </p:txBody>
      </p:sp>
      <p:sp>
        <p:nvSpPr>
          <p:cNvPr id="20" name="Text 18"/>
          <p:cNvSpPr/>
          <p:nvPr/>
        </p:nvSpPr>
        <p:spPr>
          <a:xfrm>
            <a:off x="5375077" y="5545574"/>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No performance monitoring</a:t>
            </a:r>
            <a:endParaRPr lang="en-US" sz="1750" dirty="0"/>
          </a:p>
        </p:txBody>
      </p:sp>
      <p:sp>
        <p:nvSpPr>
          <p:cNvPr id="21" name="Text 19"/>
          <p:cNvSpPr/>
          <p:nvPr/>
        </p:nvSpPr>
        <p:spPr>
          <a:xfrm>
            <a:off x="9716691" y="5545574"/>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Declining standards</a:t>
            </a:r>
            <a:endParaRPr lang="en-US" sz="1750" dirty="0"/>
          </a:p>
        </p:txBody>
      </p:sp>
      <p:sp>
        <p:nvSpPr>
          <p:cNvPr id="22" name="Shape 20"/>
          <p:cNvSpPr/>
          <p:nvPr/>
        </p:nvSpPr>
        <p:spPr>
          <a:xfrm>
            <a:off x="801410" y="6052185"/>
            <a:ext cx="13026271" cy="650319"/>
          </a:xfrm>
          <a:prstGeom prst="rect">
            <a:avLst/>
          </a:prstGeom>
          <a:solidFill>
            <a:srgbClr val="FFFFFF">
              <a:alpha val="4000"/>
            </a:srgbClr>
          </a:solidFill>
          <a:ln/>
        </p:spPr>
      </p:sp>
      <p:sp>
        <p:nvSpPr>
          <p:cNvPr id="23" name="Text 21"/>
          <p:cNvSpPr/>
          <p:nvPr/>
        </p:nvSpPr>
        <p:spPr>
          <a:xfrm>
            <a:off x="1029653" y="619589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Resource Inefficiency</a:t>
            </a:r>
            <a:endParaRPr lang="en-US" sz="1750" dirty="0"/>
          </a:p>
        </p:txBody>
      </p:sp>
      <p:sp>
        <p:nvSpPr>
          <p:cNvPr id="24" name="Text 22"/>
          <p:cNvSpPr/>
          <p:nvPr/>
        </p:nvSpPr>
        <p:spPr>
          <a:xfrm>
            <a:off x="5375077" y="6195893"/>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Decisions without data</a:t>
            </a:r>
            <a:endParaRPr lang="en-US" sz="1750" dirty="0"/>
          </a:p>
        </p:txBody>
      </p:sp>
      <p:sp>
        <p:nvSpPr>
          <p:cNvPr id="25" name="Text 23"/>
          <p:cNvSpPr/>
          <p:nvPr/>
        </p:nvSpPr>
        <p:spPr>
          <a:xfrm>
            <a:off x="9716691" y="619589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Wasted public investment</a:t>
            </a:r>
            <a:endParaRPr lang="en-US" sz="1750" dirty="0"/>
          </a:p>
        </p:txBody>
      </p:sp>
      <p:sp>
        <p:nvSpPr>
          <p:cNvPr id="26" name="Shape 24"/>
          <p:cNvSpPr/>
          <p:nvPr/>
        </p:nvSpPr>
        <p:spPr>
          <a:xfrm>
            <a:off x="801410" y="6702504"/>
            <a:ext cx="13026271" cy="650319"/>
          </a:xfrm>
          <a:prstGeom prst="rect">
            <a:avLst/>
          </a:prstGeom>
          <a:solidFill>
            <a:srgbClr val="000000">
              <a:alpha val="4000"/>
            </a:srgbClr>
          </a:solidFill>
          <a:ln/>
        </p:spPr>
      </p:sp>
      <p:sp>
        <p:nvSpPr>
          <p:cNvPr id="27" name="Text 25"/>
          <p:cNvSpPr/>
          <p:nvPr/>
        </p:nvSpPr>
        <p:spPr>
          <a:xfrm>
            <a:off x="1029653" y="684621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Quality Blind Spots</a:t>
            </a:r>
            <a:endParaRPr lang="en-US" sz="1750" dirty="0"/>
          </a:p>
        </p:txBody>
      </p:sp>
      <p:sp>
        <p:nvSpPr>
          <p:cNvPr id="28" name="Text 26"/>
          <p:cNvSpPr/>
          <p:nvPr/>
        </p:nvSpPr>
        <p:spPr>
          <a:xfrm>
            <a:off x="5375077" y="6846213"/>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No performance monitoring</a:t>
            </a:r>
            <a:endParaRPr lang="en-US" sz="1750" dirty="0"/>
          </a:p>
        </p:txBody>
      </p:sp>
      <p:sp>
        <p:nvSpPr>
          <p:cNvPr id="29" name="Text 27"/>
          <p:cNvSpPr/>
          <p:nvPr/>
        </p:nvSpPr>
        <p:spPr>
          <a:xfrm>
            <a:off x="9716691" y="684621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Declining standards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66919"/>
            <a:ext cx="7185779" cy="460772"/>
          </a:xfrm>
          <a:prstGeom prst="rect">
            <a:avLst/>
          </a:prstGeom>
          <a:noFill/>
          <a:ln/>
        </p:spPr>
        <p:txBody>
          <a:bodyPr wrap="none" lIns="0" tIns="0" rIns="0" bIns="0" rtlCol="0" anchor="t"/>
          <a:lstStyle/>
          <a:p>
            <a:pPr marL="0" indent="0" algn="l">
              <a:lnSpc>
                <a:spcPts val="3600"/>
              </a:lnSpc>
              <a:buNone/>
            </a:pPr>
            <a:r>
              <a:rPr lang="en-US" sz="2900" dirty="0">
                <a:solidFill>
                  <a:srgbClr val="5C4E3D"/>
                </a:solidFill>
                <a:latin typeface="Libre Baskerville" pitchFamily="34" charset="0"/>
                <a:ea typeface="Libre Baskerville" pitchFamily="34" charset="-122"/>
                <a:cs typeface="Libre Baskerville" pitchFamily="34" charset="-120"/>
              </a:rPr>
              <a:t>2. The Challenge: A Governance Crisis</a:t>
            </a:r>
            <a:endParaRPr lang="en-US" sz="2900" dirty="0"/>
          </a:p>
        </p:txBody>
      </p:sp>
      <p:sp>
        <p:nvSpPr>
          <p:cNvPr id="3" name="Text 1"/>
          <p:cNvSpPr/>
          <p:nvPr/>
        </p:nvSpPr>
        <p:spPr>
          <a:xfrm>
            <a:off x="793790" y="1748790"/>
            <a:ext cx="3202424" cy="368618"/>
          </a:xfrm>
          <a:prstGeom prst="rect">
            <a:avLst/>
          </a:prstGeom>
          <a:noFill/>
          <a:ln/>
        </p:spPr>
        <p:txBody>
          <a:bodyPr wrap="none" lIns="0" tIns="0" rIns="0" bIns="0" rtlCol="0" anchor="t"/>
          <a:lstStyle/>
          <a:p>
            <a:pPr marL="0" indent="0" algn="l">
              <a:lnSpc>
                <a:spcPts val="2900"/>
              </a:lnSpc>
              <a:buNone/>
            </a:pPr>
            <a:r>
              <a:rPr lang="en-US" sz="2300" dirty="0">
                <a:solidFill>
                  <a:srgbClr val="5C4E3D"/>
                </a:solidFill>
                <a:latin typeface="Libre Baskerville" pitchFamily="34" charset="0"/>
                <a:ea typeface="Libre Baskerville" pitchFamily="34" charset="-122"/>
                <a:cs typeface="Libre Baskerville" pitchFamily="34" charset="-120"/>
              </a:rPr>
              <a:t>Strategic Imperatives</a:t>
            </a:r>
            <a:endParaRPr lang="en-US" sz="2300" dirty="0"/>
          </a:p>
        </p:txBody>
      </p:sp>
      <p:sp>
        <p:nvSpPr>
          <p:cNvPr id="4" name="Text 2"/>
          <p:cNvSpPr/>
          <p:nvPr/>
        </p:nvSpPr>
        <p:spPr>
          <a:xfrm>
            <a:off x="793790" y="2608502"/>
            <a:ext cx="13042821" cy="235744"/>
          </a:xfrm>
          <a:prstGeom prst="rect">
            <a:avLst/>
          </a:prstGeom>
          <a:noFill/>
          <a:ln/>
        </p:spPr>
        <p:txBody>
          <a:bodyPr wrap="none" lIns="0" tIns="0" rIns="0" bIns="0" rtlCol="0" anchor="t"/>
          <a:lstStyle/>
          <a:p>
            <a:pPr marL="0" indent="0" algn="l">
              <a:lnSpc>
                <a:spcPts val="1850"/>
              </a:lnSpc>
              <a:buNone/>
            </a:pPr>
            <a:r>
              <a:rPr lang="en-US" dirty="0">
                <a:solidFill>
                  <a:srgbClr val="454240"/>
                </a:solidFill>
                <a:latin typeface="DM Sans" pitchFamily="34" charset="0"/>
                <a:ea typeface="DM Sans" pitchFamily="34" charset="-122"/>
                <a:cs typeface="DM Sans" pitchFamily="34" charset="-120"/>
              </a:rPr>
              <a:t>To secure its future, the government must achieve these critical objectives.</a:t>
            </a:r>
            <a:endParaRPr lang="en-US" dirty="0"/>
          </a:p>
        </p:txBody>
      </p:sp>
      <p:pic>
        <p:nvPicPr>
          <p:cNvPr id="5" name="Image 0" descr="preencoded.png"/>
          <p:cNvPicPr>
            <a:picLocks noChangeAspect="1"/>
          </p:cNvPicPr>
          <p:nvPr/>
        </p:nvPicPr>
        <p:blipFill>
          <a:blip r:embed="rId3"/>
          <a:stretch>
            <a:fillRect/>
          </a:stretch>
        </p:blipFill>
        <p:spPr>
          <a:xfrm>
            <a:off x="793790" y="3010099"/>
            <a:ext cx="737116" cy="884515"/>
          </a:xfrm>
          <a:prstGeom prst="rect">
            <a:avLst/>
          </a:prstGeom>
        </p:spPr>
      </p:pic>
      <p:sp>
        <p:nvSpPr>
          <p:cNvPr id="6" name="Text 3"/>
          <p:cNvSpPr/>
          <p:nvPr/>
        </p:nvSpPr>
        <p:spPr>
          <a:xfrm>
            <a:off x="1678305" y="3157499"/>
            <a:ext cx="1842968" cy="230386"/>
          </a:xfrm>
          <a:prstGeom prst="rect">
            <a:avLst/>
          </a:prstGeom>
          <a:noFill/>
          <a:ln/>
        </p:spPr>
        <p:txBody>
          <a:bodyPr wrap="none" lIns="0" tIns="0" rIns="0" bIns="0" rtlCol="0" anchor="t"/>
          <a:lstStyle/>
          <a:p>
            <a:pPr marL="0" indent="0" algn="l">
              <a:lnSpc>
                <a:spcPts val="1800"/>
              </a:lnSpc>
              <a:buNone/>
            </a:pPr>
            <a:r>
              <a:rPr lang="en-US" dirty="0">
                <a:solidFill>
                  <a:srgbClr val="454240"/>
                </a:solidFill>
                <a:latin typeface="Libre Baskerville" pitchFamily="34" charset="0"/>
                <a:ea typeface="Libre Baskerville" pitchFamily="34" charset="-122"/>
                <a:cs typeface="Libre Baskerville" pitchFamily="34" charset="-120"/>
              </a:rPr>
              <a:t>Establish</a:t>
            </a:r>
            <a:endParaRPr lang="en-US" dirty="0"/>
          </a:p>
        </p:txBody>
      </p:sp>
      <p:sp>
        <p:nvSpPr>
          <p:cNvPr id="7" name="Text 4"/>
          <p:cNvSpPr/>
          <p:nvPr/>
        </p:nvSpPr>
        <p:spPr>
          <a:xfrm>
            <a:off x="1678305" y="3476229"/>
            <a:ext cx="12158305" cy="235744"/>
          </a:xfrm>
          <a:prstGeom prst="rect">
            <a:avLst/>
          </a:prstGeom>
          <a:noFill/>
          <a:ln/>
        </p:spPr>
        <p:txBody>
          <a:bodyPr wrap="none" lIns="0" tIns="0" rIns="0" bIns="0" rtlCol="0" anchor="t"/>
          <a:lstStyle/>
          <a:p>
            <a:pPr marL="0" indent="0" algn="l">
              <a:lnSpc>
                <a:spcPts val="1850"/>
              </a:lnSpc>
              <a:buNone/>
            </a:pPr>
            <a:r>
              <a:rPr lang="en-US" dirty="0">
                <a:solidFill>
                  <a:srgbClr val="454240"/>
                </a:solidFill>
                <a:latin typeface="DM Sans" pitchFamily="34" charset="0"/>
                <a:ea typeface="DM Sans" pitchFamily="34" charset="-122"/>
                <a:cs typeface="DM Sans" pitchFamily="34" charset="-120"/>
              </a:rPr>
              <a:t>centralized oversight for strategic governance.</a:t>
            </a:r>
            <a:endParaRPr lang="en-US" dirty="0"/>
          </a:p>
        </p:txBody>
      </p:sp>
      <p:pic>
        <p:nvPicPr>
          <p:cNvPr id="8" name="Image 1" descr="preencoded.png"/>
          <p:cNvPicPr>
            <a:picLocks noChangeAspect="1"/>
          </p:cNvPicPr>
          <p:nvPr/>
        </p:nvPicPr>
        <p:blipFill>
          <a:blip r:embed="rId4"/>
          <a:stretch>
            <a:fillRect/>
          </a:stretch>
        </p:blipFill>
        <p:spPr>
          <a:xfrm>
            <a:off x="793790" y="3894615"/>
            <a:ext cx="737116" cy="884515"/>
          </a:xfrm>
          <a:prstGeom prst="rect">
            <a:avLst/>
          </a:prstGeom>
        </p:spPr>
      </p:pic>
      <p:sp>
        <p:nvSpPr>
          <p:cNvPr id="9" name="Text 5"/>
          <p:cNvSpPr/>
          <p:nvPr/>
        </p:nvSpPr>
        <p:spPr>
          <a:xfrm>
            <a:off x="1678305" y="4042014"/>
            <a:ext cx="1842968" cy="230386"/>
          </a:xfrm>
          <a:prstGeom prst="rect">
            <a:avLst/>
          </a:prstGeom>
          <a:noFill/>
          <a:ln/>
        </p:spPr>
        <p:txBody>
          <a:bodyPr wrap="none" lIns="0" tIns="0" rIns="0" bIns="0" rtlCol="0" anchor="t"/>
          <a:lstStyle/>
          <a:p>
            <a:pPr marL="0" indent="0" algn="l">
              <a:lnSpc>
                <a:spcPts val="1800"/>
              </a:lnSpc>
              <a:buNone/>
            </a:pPr>
            <a:r>
              <a:rPr lang="en-US" dirty="0">
                <a:solidFill>
                  <a:srgbClr val="454240"/>
                </a:solidFill>
                <a:latin typeface="Libre Baskerville" pitchFamily="34" charset="0"/>
                <a:ea typeface="Libre Baskerville" pitchFamily="34" charset="-122"/>
                <a:cs typeface="Libre Baskerville" pitchFamily="34" charset="-120"/>
              </a:rPr>
              <a:t>Implement</a:t>
            </a:r>
            <a:endParaRPr lang="en-US" dirty="0"/>
          </a:p>
        </p:txBody>
      </p:sp>
      <p:sp>
        <p:nvSpPr>
          <p:cNvPr id="10" name="Text 6"/>
          <p:cNvSpPr/>
          <p:nvPr/>
        </p:nvSpPr>
        <p:spPr>
          <a:xfrm>
            <a:off x="1678305" y="4360744"/>
            <a:ext cx="12158305" cy="235744"/>
          </a:xfrm>
          <a:prstGeom prst="rect">
            <a:avLst/>
          </a:prstGeom>
          <a:noFill/>
          <a:ln/>
        </p:spPr>
        <p:txBody>
          <a:bodyPr wrap="none" lIns="0" tIns="0" rIns="0" bIns="0" rtlCol="0" anchor="t"/>
          <a:lstStyle/>
          <a:p>
            <a:pPr marL="0" indent="0" algn="l">
              <a:lnSpc>
                <a:spcPts val="1850"/>
              </a:lnSpc>
              <a:buNone/>
            </a:pPr>
            <a:r>
              <a:rPr lang="en-US" dirty="0">
                <a:solidFill>
                  <a:srgbClr val="454240"/>
                </a:solidFill>
                <a:latin typeface="DM Sans" pitchFamily="34" charset="0"/>
                <a:ea typeface="DM Sans" pitchFamily="34" charset="-122"/>
                <a:cs typeface="DM Sans" pitchFamily="34" charset="-120"/>
              </a:rPr>
              <a:t>systematic monitoring to enhance educational reputation.</a:t>
            </a:r>
            <a:endParaRPr lang="en-US" dirty="0"/>
          </a:p>
        </p:txBody>
      </p:sp>
      <p:pic>
        <p:nvPicPr>
          <p:cNvPr id="11" name="Image 2" descr="preencoded.png"/>
          <p:cNvPicPr>
            <a:picLocks noChangeAspect="1"/>
          </p:cNvPicPr>
          <p:nvPr/>
        </p:nvPicPr>
        <p:blipFill>
          <a:blip r:embed="rId5"/>
          <a:stretch>
            <a:fillRect/>
          </a:stretch>
        </p:blipFill>
        <p:spPr>
          <a:xfrm>
            <a:off x="793790" y="4779130"/>
            <a:ext cx="737116" cy="884515"/>
          </a:xfrm>
          <a:prstGeom prst="rect">
            <a:avLst/>
          </a:prstGeom>
        </p:spPr>
      </p:pic>
      <p:sp>
        <p:nvSpPr>
          <p:cNvPr id="12" name="Text 7"/>
          <p:cNvSpPr/>
          <p:nvPr/>
        </p:nvSpPr>
        <p:spPr>
          <a:xfrm>
            <a:off x="1678305" y="4926529"/>
            <a:ext cx="1842968" cy="230386"/>
          </a:xfrm>
          <a:prstGeom prst="rect">
            <a:avLst/>
          </a:prstGeom>
          <a:noFill/>
          <a:ln/>
        </p:spPr>
        <p:txBody>
          <a:bodyPr wrap="none" lIns="0" tIns="0" rIns="0" bIns="0" rtlCol="0" anchor="t"/>
          <a:lstStyle/>
          <a:p>
            <a:pPr marL="0" indent="0" algn="l">
              <a:lnSpc>
                <a:spcPts val="1800"/>
              </a:lnSpc>
              <a:buNone/>
            </a:pPr>
            <a:r>
              <a:rPr lang="en-US" dirty="0">
                <a:solidFill>
                  <a:srgbClr val="454240"/>
                </a:solidFill>
                <a:latin typeface="Libre Baskerville" pitchFamily="34" charset="0"/>
                <a:ea typeface="Libre Baskerville" pitchFamily="34" charset="-122"/>
                <a:cs typeface="Libre Baskerville" pitchFamily="34" charset="-120"/>
              </a:rPr>
              <a:t>Create</a:t>
            </a:r>
            <a:endParaRPr lang="en-US" dirty="0"/>
          </a:p>
        </p:txBody>
      </p:sp>
      <p:sp>
        <p:nvSpPr>
          <p:cNvPr id="13" name="Text 8"/>
          <p:cNvSpPr/>
          <p:nvPr/>
        </p:nvSpPr>
        <p:spPr>
          <a:xfrm>
            <a:off x="1678305" y="5245260"/>
            <a:ext cx="12158305" cy="235744"/>
          </a:xfrm>
          <a:prstGeom prst="rect">
            <a:avLst/>
          </a:prstGeom>
          <a:noFill/>
          <a:ln/>
        </p:spPr>
        <p:txBody>
          <a:bodyPr wrap="none" lIns="0" tIns="0" rIns="0" bIns="0" rtlCol="0" anchor="t"/>
          <a:lstStyle/>
          <a:p>
            <a:pPr marL="0" indent="0" algn="l">
              <a:lnSpc>
                <a:spcPts val="1850"/>
              </a:lnSpc>
              <a:buNone/>
            </a:pPr>
            <a:r>
              <a:rPr lang="en-US" dirty="0">
                <a:solidFill>
                  <a:srgbClr val="454240"/>
                </a:solidFill>
                <a:latin typeface="DM Sans" pitchFamily="34" charset="0"/>
                <a:ea typeface="DM Sans" pitchFamily="34" charset="-122"/>
                <a:cs typeface="DM Sans" pitchFamily="34" charset="-120"/>
              </a:rPr>
              <a:t>a robust data foundation for informed decisions.</a:t>
            </a:r>
            <a:endParaRPr lang="en-US" dirty="0"/>
          </a:p>
        </p:txBody>
      </p:sp>
      <p:pic>
        <p:nvPicPr>
          <p:cNvPr id="14" name="Image 3" descr="preencoded.png"/>
          <p:cNvPicPr>
            <a:picLocks noChangeAspect="1"/>
          </p:cNvPicPr>
          <p:nvPr/>
        </p:nvPicPr>
        <p:blipFill>
          <a:blip r:embed="rId6"/>
          <a:stretch>
            <a:fillRect/>
          </a:stretch>
        </p:blipFill>
        <p:spPr>
          <a:xfrm>
            <a:off x="793790" y="5663645"/>
            <a:ext cx="737116" cy="884515"/>
          </a:xfrm>
          <a:prstGeom prst="rect">
            <a:avLst/>
          </a:prstGeom>
        </p:spPr>
      </p:pic>
      <p:sp>
        <p:nvSpPr>
          <p:cNvPr id="15" name="Text 9"/>
          <p:cNvSpPr/>
          <p:nvPr/>
        </p:nvSpPr>
        <p:spPr>
          <a:xfrm>
            <a:off x="1678305" y="5811045"/>
            <a:ext cx="1842968" cy="230386"/>
          </a:xfrm>
          <a:prstGeom prst="rect">
            <a:avLst/>
          </a:prstGeom>
          <a:noFill/>
          <a:ln/>
        </p:spPr>
        <p:txBody>
          <a:bodyPr wrap="none" lIns="0" tIns="0" rIns="0" bIns="0" rtlCol="0" anchor="t"/>
          <a:lstStyle/>
          <a:p>
            <a:pPr marL="0" indent="0" algn="l">
              <a:lnSpc>
                <a:spcPts val="1800"/>
              </a:lnSpc>
              <a:buNone/>
            </a:pPr>
            <a:r>
              <a:rPr lang="en-US" dirty="0">
                <a:solidFill>
                  <a:srgbClr val="454240"/>
                </a:solidFill>
                <a:latin typeface="Libre Baskerville" pitchFamily="34" charset="0"/>
                <a:ea typeface="Libre Baskerville" pitchFamily="34" charset="-122"/>
                <a:cs typeface="Libre Baskerville" pitchFamily="34" charset="-120"/>
              </a:rPr>
              <a:t>Transform</a:t>
            </a:r>
            <a:endParaRPr lang="en-US" dirty="0"/>
          </a:p>
        </p:txBody>
      </p:sp>
      <p:sp>
        <p:nvSpPr>
          <p:cNvPr id="16" name="Text 10"/>
          <p:cNvSpPr/>
          <p:nvPr/>
        </p:nvSpPr>
        <p:spPr>
          <a:xfrm>
            <a:off x="1678305" y="6129775"/>
            <a:ext cx="12158305" cy="235744"/>
          </a:xfrm>
          <a:prstGeom prst="rect">
            <a:avLst/>
          </a:prstGeom>
          <a:noFill/>
          <a:ln/>
        </p:spPr>
        <p:txBody>
          <a:bodyPr wrap="none" lIns="0" tIns="0" rIns="0" bIns="0" rtlCol="0" anchor="t"/>
          <a:lstStyle/>
          <a:p>
            <a:pPr marL="0" indent="0" algn="l">
              <a:lnSpc>
                <a:spcPts val="1850"/>
              </a:lnSpc>
              <a:buNone/>
            </a:pPr>
            <a:r>
              <a:rPr lang="en-US" dirty="0">
                <a:solidFill>
                  <a:srgbClr val="454240"/>
                </a:solidFill>
                <a:latin typeface="DM Sans" pitchFamily="34" charset="0"/>
                <a:ea typeface="DM Sans" pitchFamily="34" charset="-122"/>
                <a:cs typeface="DM Sans" pitchFamily="34" charset="-120"/>
              </a:rPr>
              <a:t>bureaucratic processes for greater efficiency.</a:t>
            </a:r>
            <a:endParaRPr lang="en-US" dirty="0"/>
          </a:p>
        </p:txBody>
      </p:sp>
      <p:pic>
        <p:nvPicPr>
          <p:cNvPr id="17" name="Image 4" descr="preencoded.png"/>
          <p:cNvPicPr>
            <a:picLocks noChangeAspect="1"/>
          </p:cNvPicPr>
          <p:nvPr/>
        </p:nvPicPr>
        <p:blipFill>
          <a:blip r:embed="rId7"/>
          <a:stretch>
            <a:fillRect/>
          </a:stretch>
        </p:blipFill>
        <p:spPr>
          <a:xfrm>
            <a:off x="793790" y="6548161"/>
            <a:ext cx="737116" cy="884515"/>
          </a:xfrm>
          <a:prstGeom prst="rect">
            <a:avLst/>
          </a:prstGeom>
        </p:spPr>
      </p:pic>
      <p:sp>
        <p:nvSpPr>
          <p:cNvPr id="18" name="Text 11"/>
          <p:cNvSpPr/>
          <p:nvPr/>
        </p:nvSpPr>
        <p:spPr>
          <a:xfrm>
            <a:off x="1678305" y="6695560"/>
            <a:ext cx="1842968" cy="230386"/>
          </a:xfrm>
          <a:prstGeom prst="rect">
            <a:avLst/>
          </a:prstGeom>
          <a:noFill/>
          <a:ln/>
        </p:spPr>
        <p:txBody>
          <a:bodyPr wrap="none" lIns="0" tIns="0" rIns="0" bIns="0" rtlCol="0" anchor="t"/>
          <a:lstStyle/>
          <a:p>
            <a:pPr marL="0" indent="0" algn="l">
              <a:lnSpc>
                <a:spcPts val="1800"/>
              </a:lnSpc>
              <a:buNone/>
            </a:pPr>
            <a:r>
              <a:rPr lang="en-US" dirty="0">
                <a:solidFill>
                  <a:srgbClr val="454240"/>
                </a:solidFill>
                <a:latin typeface="Libre Baskerville" pitchFamily="34" charset="0"/>
                <a:ea typeface="Libre Baskerville" pitchFamily="34" charset="-122"/>
                <a:cs typeface="Libre Baskerville" pitchFamily="34" charset="-120"/>
              </a:rPr>
              <a:t>Ensure</a:t>
            </a:r>
            <a:endParaRPr lang="en-US" dirty="0"/>
          </a:p>
        </p:txBody>
      </p:sp>
      <p:sp>
        <p:nvSpPr>
          <p:cNvPr id="19" name="Text 12"/>
          <p:cNvSpPr/>
          <p:nvPr/>
        </p:nvSpPr>
        <p:spPr>
          <a:xfrm>
            <a:off x="1678305" y="7014290"/>
            <a:ext cx="12158305" cy="235744"/>
          </a:xfrm>
          <a:prstGeom prst="rect">
            <a:avLst/>
          </a:prstGeom>
          <a:noFill/>
          <a:ln/>
        </p:spPr>
        <p:txBody>
          <a:bodyPr wrap="none" lIns="0" tIns="0" rIns="0" bIns="0" rtlCol="0" anchor="t"/>
          <a:lstStyle/>
          <a:p>
            <a:pPr marL="0" indent="0" algn="l">
              <a:lnSpc>
                <a:spcPts val="1850"/>
              </a:lnSpc>
              <a:buNone/>
            </a:pPr>
            <a:r>
              <a:rPr lang="en-US" dirty="0">
                <a:solidFill>
                  <a:srgbClr val="454240"/>
                </a:solidFill>
                <a:latin typeface="DM Sans" pitchFamily="34" charset="0"/>
                <a:ea typeface="DM Sans" pitchFamily="34" charset="-122"/>
                <a:cs typeface="DM Sans" pitchFamily="34" charset="-120"/>
              </a:rPr>
              <a:t>maximum return on public investment in education.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06310" y="536467"/>
            <a:ext cx="6926818"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3. The Solution: HEMIS</a:t>
            </a:r>
            <a:endParaRPr lang="en-US" sz="4450" dirty="0"/>
          </a:p>
        </p:txBody>
      </p:sp>
      <p:sp>
        <p:nvSpPr>
          <p:cNvPr id="4" name="Text 1"/>
          <p:cNvSpPr/>
          <p:nvPr/>
        </p:nvSpPr>
        <p:spPr>
          <a:xfrm>
            <a:off x="1106310" y="1585408"/>
            <a:ext cx="7556421" cy="1700927"/>
          </a:xfrm>
          <a:prstGeom prst="rect">
            <a:avLst/>
          </a:prstGeom>
          <a:noFill/>
          <a:ln/>
        </p:spPr>
        <p:txBody>
          <a:bodyPr wrap="squar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Cambodia's Answer to Higher Education Governance Excellence</a:t>
            </a:r>
            <a:endParaRPr lang="en-US" sz="3550" dirty="0"/>
          </a:p>
        </p:txBody>
      </p:sp>
      <p:sp>
        <p:nvSpPr>
          <p:cNvPr id="5" name="Text 2"/>
          <p:cNvSpPr/>
          <p:nvPr/>
        </p:nvSpPr>
        <p:spPr>
          <a:xfrm>
            <a:off x="8996253" y="3701446"/>
            <a:ext cx="4842387" cy="725805"/>
          </a:xfrm>
          <a:prstGeom prst="rect">
            <a:avLst/>
          </a:prstGeom>
          <a:noFill/>
          <a:ln/>
        </p:spPr>
        <p:txBody>
          <a:bodyPr wrap="square" lIns="0" tIns="0" rIns="0" bIns="0" rtlCol="0" anchor="t"/>
          <a:lstStyle/>
          <a:p>
            <a:pPr marL="0" indent="0" algn="l">
              <a:lnSpc>
                <a:spcPts val="2850"/>
              </a:lnSpc>
              <a:buNone/>
            </a:pPr>
            <a:r>
              <a:rPr lang="en-US" dirty="0">
                <a:solidFill>
                  <a:srgbClr val="454240"/>
                </a:solidFill>
                <a:latin typeface="DM Sans" pitchFamily="34" charset="0"/>
                <a:ea typeface="DM Sans" pitchFamily="34" charset="-122"/>
                <a:cs typeface="DM Sans" pitchFamily="34" charset="-120"/>
              </a:rPr>
              <a:t>HEMIS is the transformative solution that replaces fragmented manual processes with a </a:t>
            </a:r>
            <a:r>
              <a:rPr lang="en-US" b="1" dirty="0">
                <a:solidFill>
                  <a:srgbClr val="454240"/>
                </a:solidFill>
                <a:latin typeface="DM Sans" pitchFamily="34" charset="0"/>
                <a:ea typeface="DM Sans" pitchFamily="34" charset="-122"/>
                <a:cs typeface="DM Sans" pitchFamily="34" charset="-120"/>
              </a:rPr>
              <a:t>unified digital ecosystem</a:t>
            </a:r>
            <a:r>
              <a:rPr lang="en-US" dirty="0">
                <a:solidFill>
                  <a:srgbClr val="454240"/>
                </a:solidFill>
                <a:latin typeface="DM Sans" pitchFamily="34" charset="0"/>
                <a:ea typeface="DM Sans" pitchFamily="34" charset="-122"/>
                <a:cs typeface="DM Sans" pitchFamily="34" charset="-120"/>
              </a:rPr>
              <a:t>.</a:t>
            </a:r>
            <a:endParaRPr lang="en-US" dirty="0"/>
          </a:p>
        </p:txBody>
      </p:sp>
      <p:sp>
        <p:nvSpPr>
          <p:cNvPr id="6" name="Text 3"/>
          <p:cNvSpPr/>
          <p:nvPr/>
        </p:nvSpPr>
        <p:spPr>
          <a:xfrm>
            <a:off x="8996252" y="5389644"/>
            <a:ext cx="4842387" cy="725805"/>
          </a:xfrm>
          <a:prstGeom prst="rect">
            <a:avLst/>
          </a:prstGeom>
          <a:noFill/>
          <a:ln/>
        </p:spPr>
        <p:txBody>
          <a:bodyPr wrap="square" lIns="0" tIns="0" rIns="0" bIns="0" rtlCol="0" anchor="t"/>
          <a:lstStyle/>
          <a:p>
            <a:pPr marL="0" indent="0" algn="l">
              <a:lnSpc>
                <a:spcPts val="2850"/>
              </a:lnSpc>
              <a:buNone/>
            </a:pPr>
            <a:r>
              <a:rPr lang="en-US" dirty="0">
                <a:solidFill>
                  <a:srgbClr val="454240"/>
                </a:solidFill>
                <a:latin typeface="DM Sans" pitchFamily="34" charset="0"/>
                <a:ea typeface="DM Sans" pitchFamily="34" charset="-122"/>
                <a:cs typeface="DM Sans" pitchFamily="34" charset="-120"/>
              </a:rPr>
              <a:t>It empowers strategic decisions and drives measurable improvements in educational quality and administrative efficiency.</a:t>
            </a:r>
            <a:endParaRPr lang="en-US" dirty="0"/>
          </a:p>
        </p:txBody>
      </p:sp>
      <p:sp>
        <p:nvSpPr>
          <p:cNvPr id="7" name="Shape 4"/>
          <p:cNvSpPr/>
          <p:nvPr/>
        </p:nvSpPr>
        <p:spPr>
          <a:xfrm>
            <a:off x="6280190" y="4551283"/>
            <a:ext cx="30480" cy="2217063"/>
          </a:xfrm>
          <a:prstGeom prst="rect">
            <a:avLst/>
          </a:prstGeom>
          <a:solidFill>
            <a:srgbClr val="B88E23"/>
          </a:solidFill>
          <a:ln/>
        </p:spPr>
      </p:sp>
      <p:pic>
        <p:nvPicPr>
          <p:cNvPr id="9" name="Picture 8">
            <a:extLst>
              <a:ext uri="{FF2B5EF4-FFF2-40B4-BE49-F238E27FC236}">
                <a16:creationId xmlns:a16="http://schemas.microsoft.com/office/drawing/2014/main" id="{41536DC0-C7D6-72BE-D9B5-5F643C5F6766}"/>
              </a:ext>
            </a:extLst>
          </p:cNvPr>
          <p:cNvPicPr>
            <a:picLocks noChangeAspect="1"/>
          </p:cNvPicPr>
          <p:nvPr/>
        </p:nvPicPr>
        <p:blipFill>
          <a:blip r:embed="rId3"/>
          <a:stretch>
            <a:fillRect/>
          </a:stretch>
        </p:blipFill>
        <p:spPr>
          <a:xfrm>
            <a:off x="1106310" y="3701446"/>
            <a:ext cx="7216259" cy="38317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9383" y="612458"/>
            <a:ext cx="6800255" cy="695920"/>
          </a:xfrm>
          <a:prstGeom prst="rect">
            <a:avLst/>
          </a:prstGeom>
          <a:noFill/>
          <a:ln/>
        </p:spPr>
        <p:txBody>
          <a:bodyPr wrap="none" lIns="0" tIns="0" rIns="0" bIns="0" rtlCol="0" anchor="t"/>
          <a:lstStyle/>
          <a:p>
            <a:pPr marL="0" indent="0" algn="l">
              <a:lnSpc>
                <a:spcPts val="5450"/>
              </a:lnSpc>
              <a:buNone/>
            </a:pPr>
            <a:r>
              <a:rPr lang="en-US" sz="4350" dirty="0">
                <a:solidFill>
                  <a:srgbClr val="5C4E3D"/>
                </a:solidFill>
                <a:latin typeface="Libre Baskerville" pitchFamily="34" charset="0"/>
                <a:ea typeface="Libre Baskerville" pitchFamily="34" charset="-122"/>
                <a:cs typeface="Libre Baskerville" pitchFamily="34" charset="-120"/>
              </a:rPr>
              <a:t>3. The Solution: HEMIS</a:t>
            </a:r>
            <a:endParaRPr lang="en-US" sz="4350" dirty="0"/>
          </a:p>
        </p:txBody>
      </p:sp>
      <p:sp>
        <p:nvSpPr>
          <p:cNvPr id="3" name="Text 1"/>
          <p:cNvSpPr/>
          <p:nvPr/>
        </p:nvSpPr>
        <p:spPr>
          <a:xfrm>
            <a:off x="779383" y="1642348"/>
            <a:ext cx="11478339" cy="556736"/>
          </a:xfrm>
          <a:prstGeom prst="rect">
            <a:avLst/>
          </a:prstGeom>
          <a:noFill/>
          <a:ln/>
        </p:spPr>
        <p:txBody>
          <a:bodyPr wrap="none" lIns="0" tIns="0" rIns="0" bIns="0" rtlCol="0" anchor="t"/>
          <a:lstStyle/>
          <a:p>
            <a:pPr marL="0" indent="0" algn="l">
              <a:lnSpc>
                <a:spcPts val="4350"/>
              </a:lnSpc>
              <a:buNone/>
            </a:pPr>
            <a:r>
              <a:rPr lang="en-US" sz="3500" dirty="0">
                <a:solidFill>
                  <a:srgbClr val="5C4E3D"/>
                </a:solidFill>
                <a:latin typeface="Libre Baskerville" pitchFamily="34" charset="0"/>
                <a:ea typeface="Libre Baskerville" pitchFamily="34" charset="-122"/>
                <a:cs typeface="Libre Baskerville" pitchFamily="34" charset="-120"/>
              </a:rPr>
              <a:t>How HEMIS Transforms Government Capabilities</a:t>
            </a:r>
            <a:endParaRPr lang="en-US" sz="3500" dirty="0"/>
          </a:p>
        </p:txBody>
      </p:sp>
      <p:sp>
        <p:nvSpPr>
          <p:cNvPr id="4" name="Text 2"/>
          <p:cNvSpPr/>
          <p:nvPr/>
        </p:nvSpPr>
        <p:spPr>
          <a:xfrm>
            <a:off x="779383" y="2533055"/>
            <a:ext cx="13071634" cy="356235"/>
          </a:xfrm>
          <a:prstGeom prst="rect">
            <a:avLst/>
          </a:prstGeom>
          <a:noFill/>
          <a:ln/>
        </p:spPr>
        <p:txBody>
          <a:bodyPr wrap="non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HEMIS provides the tools for modern, effective governance.</a:t>
            </a:r>
            <a:endParaRPr lang="en-US" sz="1750" dirty="0"/>
          </a:p>
        </p:txBody>
      </p:sp>
      <p:sp>
        <p:nvSpPr>
          <p:cNvPr id="5" name="Shape 3"/>
          <p:cNvSpPr/>
          <p:nvPr/>
        </p:nvSpPr>
        <p:spPr>
          <a:xfrm>
            <a:off x="779383" y="3139797"/>
            <a:ext cx="6424493" cy="1343978"/>
          </a:xfrm>
          <a:prstGeom prst="roundRect">
            <a:avLst>
              <a:gd name="adj" fmla="val 6960"/>
            </a:avLst>
          </a:prstGeom>
          <a:solidFill>
            <a:srgbClr val="FFFDFA"/>
          </a:solidFill>
          <a:ln w="30480">
            <a:solidFill>
              <a:srgbClr val="DDD3BA"/>
            </a:solidFill>
            <a:prstDash val="solid"/>
          </a:ln>
        </p:spPr>
      </p:sp>
      <p:sp>
        <p:nvSpPr>
          <p:cNvPr id="6" name="Shape 4"/>
          <p:cNvSpPr/>
          <p:nvPr/>
        </p:nvSpPr>
        <p:spPr>
          <a:xfrm>
            <a:off x="779383" y="3139797"/>
            <a:ext cx="121920" cy="1343978"/>
          </a:xfrm>
          <a:prstGeom prst="roundRect">
            <a:avLst>
              <a:gd name="adj" fmla="val 76719"/>
            </a:avLst>
          </a:prstGeom>
          <a:solidFill>
            <a:srgbClr val="B88E23"/>
          </a:solidFill>
          <a:ln/>
        </p:spPr>
      </p:sp>
      <p:sp>
        <p:nvSpPr>
          <p:cNvPr id="7" name="Text 5"/>
          <p:cNvSpPr/>
          <p:nvPr/>
        </p:nvSpPr>
        <p:spPr>
          <a:xfrm>
            <a:off x="1154430" y="3392924"/>
            <a:ext cx="3880485" cy="347901"/>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National Command Center</a:t>
            </a:r>
            <a:endParaRPr lang="en-US" sz="2150" dirty="0"/>
          </a:p>
        </p:txBody>
      </p:sp>
      <p:sp>
        <p:nvSpPr>
          <p:cNvPr id="8" name="Text 6"/>
          <p:cNvSpPr/>
          <p:nvPr/>
        </p:nvSpPr>
        <p:spPr>
          <a:xfrm>
            <a:off x="1154430" y="3874413"/>
            <a:ext cx="5796320" cy="356235"/>
          </a:xfrm>
          <a:prstGeom prst="rect">
            <a:avLst/>
          </a:prstGeom>
          <a:noFill/>
          <a:ln/>
        </p:spPr>
        <p:txBody>
          <a:bodyPr wrap="non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Real-time sector oversight</a:t>
            </a:r>
            <a:endParaRPr lang="en-US" sz="1750" dirty="0"/>
          </a:p>
        </p:txBody>
      </p:sp>
      <p:sp>
        <p:nvSpPr>
          <p:cNvPr id="9" name="Shape 7"/>
          <p:cNvSpPr/>
          <p:nvPr/>
        </p:nvSpPr>
        <p:spPr>
          <a:xfrm>
            <a:off x="7426523" y="3139797"/>
            <a:ext cx="6424493" cy="1343978"/>
          </a:xfrm>
          <a:prstGeom prst="roundRect">
            <a:avLst>
              <a:gd name="adj" fmla="val 6960"/>
            </a:avLst>
          </a:prstGeom>
          <a:solidFill>
            <a:srgbClr val="FFFDFA"/>
          </a:solidFill>
          <a:ln w="30480">
            <a:solidFill>
              <a:srgbClr val="DDD3BA"/>
            </a:solidFill>
            <a:prstDash val="solid"/>
          </a:ln>
        </p:spPr>
      </p:sp>
      <p:sp>
        <p:nvSpPr>
          <p:cNvPr id="10" name="Shape 8"/>
          <p:cNvSpPr/>
          <p:nvPr/>
        </p:nvSpPr>
        <p:spPr>
          <a:xfrm>
            <a:off x="7426523" y="3139797"/>
            <a:ext cx="121920" cy="1343978"/>
          </a:xfrm>
          <a:prstGeom prst="roundRect">
            <a:avLst>
              <a:gd name="adj" fmla="val 76719"/>
            </a:avLst>
          </a:prstGeom>
          <a:solidFill>
            <a:srgbClr val="B88E23"/>
          </a:solidFill>
          <a:ln/>
        </p:spPr>
      </p:sp>
      <p:sp>
        <p:nvSpPr>
          <p:cNvPr id="11" name="Text 9"/>
          <p:cNvSpPr/>
          <p:nvPr/>
        </p:nvSpPr>
        <p:spPr>
          <a:xfrm>
            <a:off x="7801570" y="3392924"/>
            <a:ext cx="3707487" cy="347901"/>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Policy Intelligence Engine</a:t>
            </a:r>
            <a:endParaRPr lang="en-US" sz="2150" dirty="0"/>
          </a:p>
        </p:txBody>
      </p:sp>
      <p:sp>
        <p:nvSpPr>
          <p:cNvPr id="12" name="Text 10"/>
          <p:cNvSpPr/>
          <p:nvPr/>
        </p:nvSpPr>
        <p:spPr>
          <a:xfrm>
            <a:off x="7801570" y="3874413"/>
            <a:ext cx="5796320" cy="356235"/>
          </a:xfrm>
          <a:prstGeom prst="rect">
            <a:avLst/>
          </a:prstGeom>
          <a:noFill/>
          <a:ln/>
        </p:spPr>
        <p:txBody>
          <a:bodyPr wrap="non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Data-driven strategic insights</a:t>
            </a:r>
            <a:endParaRPr lang="en-US" sz="1750" dirty="0"/>
          </a:p>
        </p:txBody>
      </p:sp>
      <p:sp>
        <p:nvSpPr>
          <p:cNvPr id="13" name="Shape 11"/>
          <p:cNvSpPr/>
          <p:nvPr/>
        </p:nvSpPr>
        <p:spPr>
          <a:xfrm>
            <a:off x="779383" y="4706422"/>
            <a:ext cx="6424493" cy="1343978"/>
          </a:xfrm>
          <a:prstGeom prst="roundRect">
            <a:avLst>
              <a:gd name="adj" fmla="val 6960"/>
            </a:avLst>
          </a:prstGeom>
          <a:solidFill>
            <a:srgbClr val="FFFDFA"/>
          </a:solidFill>
          <a:ln w="30480">
            <a:solidFill>
              <a:srgbClr val="DDD3BA"/>
            </a:solidFill>
            <a:prstDash val="solid"/>
          </a:ln>
        </p:spPr>
      </p:sp>
      <p:sp>
        <p:nvSpPr>
          <p:cNvPr id="14" name="Shape 12"/>
          <p:cNvSpPr/>
          <p:nvPr/>
        </p:nvSpPr>
        <p:spPr>
          <a:xfrm>
            <a:off x="779383" y="4706422"/>
            <a:ext cx="121920" cy="1343978"/>
          </a:xfrm>
          <a:prstGeom prst="roundRect">
            <a:avLst>
              <a:gd name="adj" fmla="val 76719"/>
            </a:avLst>
          </a:prstGeom>
          <a:solidFill>
            <a:srgbClr val="B88E23"/>
          </a:solidFill>
          <a:ln/>
        </p:spPr>
      </p:sp>
      <p:sp>
        <p:nvSpPr>
          <p:cNvPr id="15" name="Text 13"/>
          <p:cNvSpPr/>
          <p:nvPr/>
        </p:nvSpPr>
        <p:spPr>
          <a:xfrm>
            <a:off x="1154430" y="4959548"/>
            <a:ext cx="4029670" cy="347901"/>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Quality Assurance Authority</a:t>
            </a:r>
            <a:endParaRPr lang="en-US" sz="2150" dirty="0"/>
          </a:p>
        </p:txBody>
      </p:sp>
      <p:sp>
        <p:nvSpPr>
          <p:cNvPr id="16" name="Text 14"/>
          <p:cNvSpPr/>
          <p:nvPr/>
        </p:nvSpPr>
        <p:spPr>
          <a:xfrm>
            <a:off x="1154430" y="5441037"/>
            <a:ext cx="5796320" cy="356235"/>
          </a:xfrm>
          <a:prstGeom prst="rect">
            <a:avLst/>
          </a:prstGeom>
          <a:noFill/>
          <a:ln/>
        </p:spPr>
        <p:txBody>
          <a:bodyPr wrap="non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Proactive quality improvement</a:t>
            </a:r>
            <a:endParaRPr lang="en-US" sz="1750" dirty="0"/>
          </a:p>
        </p:txBody>
      </p:sp>
      <p:sp>
        <p:nvSpPr>
          <p:cNvPr id="17" name="Shape 15"/>
          <p:cNvSpPr/>
          <p:nvPr/>
        </p:nvSpPr>
        <p:spPr>
          <a:xfrm>
            <a:off x="7426523" y="4706422"/>
            <a:ext cx="6424493" cy="1343978"/>
          </a:xfrm>
          <a:prstGeom prst="roundRect">
            <a:avLst>
              <a:gd name="adj" fmla="val 6960"/>
            </a:avLst>
          </a:prstGeom>
          <a:solidFill>
            <a:srgbClr val="FFFDFA"/>
          </a:solidFill>
          <a:ln w="30480">
            <a:solidFill>
              <a:srgbClr val="DDD3BA"/>
            </a:solidFill>
            <a:prstDash val="solid"/>
          </a:ln>
        </p:spPr>
      </p:sp>
      <p:sp>
        <p:nvSpPr>
          <p:cNvPr id="18" name="Shape 16"/>
          <p:cNvSpPr/>
          <p:nvPr/>
        </p:nvSpPr>
        <p:spPr>
          <a:xfrm>
            <a:off x="7426523" y="4706422"/>
            <a:ext cx="121920" cy="1343978"/>
          </a:xfrm>
          <a:prstGeom prst="roundRect">
            <a:avLst>
              <a:gd name="adj" fmla="val 76719"/>
            </a:avLst>
          </a:prstGeom>
          <a:solidFill>
            <a:srgbClr val="B88E23"/>
          </a:solidFill>
          <a:ln/>
        </p:spPr>
      </p:sp>
      <p:sp>
        <p:nvSpPr>
          <p:cNvPr id="19" name="Text 17"/>
          <p:cNvSpPr/>
          <p:nvPr/>
        </p:nvSpPr>
        <p:spPr>
          <a:xfrm>
            <a:off x="7801570" y="4959548"/>
            <a:ext cx="4663559" cy="347901"/>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Resource Optimization Platform</a:t>
            </a:r>
            <a:endParaRPr lang="en-US" sz="2150" dirty="0"/>
          </a:p>
        </p:txBody>
      </p:sp>
      <p:sp>
        <p:nvSpPr>
          <p:cNvPr id="20" name="Text 18"/>
          <p:cNvSpPr/>
          <p:nvPr/>
        </p:nvSpPr>
        <p:spPr>
          <a:xfrm>
            <a:off x="7801570" y="5441037"/>
            <a:ext cx="5796320" cy="356235"/>
          </a:xfrm>
          <a:prstGeom prst="rect">
            <a:avLst/>
          </a:prstGeom>
          <a:noFill/>
          <a:ln/>
        </p:spPr>
        <p:txBody>
          <a:bodyPr wrap="non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Evidence-based allocation (ROI)</a:t>
            </a:r>
            <a:endParaRPr lang="en-US" sz="1750" dirty="0"/>
          </a:p>
        </p:txBody>
      </p:sp>
      <p:sp>
        <p:nvSpPr>
          <p:cNvPr id="21" name="Shape 19"/>
          <p:cNvSpPr/>
          <p:nvPr/>
        </p:nvSpPr>
        <p:spPr>
          <a:xfrm>
            <a:off x="779383" y="6273046"/>
            <a:ext cx="6424493" cy="1343978"/>
          </a:xfrm>
          <a:prstGeom prst="roundRect">
            <a:avLst>
              <a:gd name="adj" fmla="val 6960"/>
            </a:avLst>
          </a:prstGeom>
          <a:solidFill>
            <a:srgbClr val="FFFDFA"/>
          </a:solidFill>
          <a:ln w="30480">
            <a:solidFill>
              <a:srgbClr val="DDD3BA"/>
            </a:solidFill>
            <a:prstDash val="solid"/>
          </a:ln>
        </p:spPr>
      </p:sp>
      <p:sp>
        <p:nvSpPr>
          <p:cNvPr id="22" name="Shape 20"/>
          <p:cNvSpPr/>
          <p:nvPr/>
        </p:nvSpPr>
        <p:spPr>
          <a:xfrm>
            <a:off x="779383" y="6273046"/>
            <a:ext cx="121920" cy="1343978"/>
          </a:xfrm>
          <a:prstGeom prst="roundRect">
            <a:avLst>
              <a:gd name="adj" fmla="val 76719"/>
            </a:avLst>
          </a:prstGeom>
          <a:solidFill>
            <a:srgbClr val="B88E23"/>
          </a:solidFill>
          <a:ln/>
        </p:spPr>
      </p:sp>
      <p:sp>
        <p:nvSpPr>
          <p:cNvPr id="23" name="Text 21"/>
          <p:cNvSpPr/>
          <p:nvPr/>
        </p:nvSpPr>
        <p:spPr>
          <a:xfrm>
            <a:off x="1154430" y="6526173"/>
            <a:ext cx="3712726" cy="347901"/>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Administrative Excellence</a:t>
            </a:r>
            <a:endParaRPr lang="en-US" sz="2150" dirty="0"/>
          </a:p>
        </p:txBody>
      </p:sp>
      <p:sp>
        <p:nvSpPr>
          <p:cNvPr id="24" name="Text 22"/>
          <p:cNvSpPr/>
          <p:nvPr/>
        </p:nvSpPr>
        <p:spPr>
          <a:xfrm>
            <a:off x="1154430" y="7007662"/>
            <a:ext cx="5796320" cy="356235"/>
          </a:xfrm>
          <a:prstGeom prst="rect">
            <a:avLst/>
          </a:prstGeom>
          <a:noFill/>
          <a:ln/>
        </p:spPr>
        <p:txBody>
          <a:bodyPr wrap="non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Automated, efficient processes</a:t>
            </a:r>
            <a:endParaRPr lang="en-US" sz="1750" dirty="0"/>
          </a:p>
        </p:txBody>
      </p:sp>
      <p:sp>
        <p:nvSpPr>
          <p:cNvPr id="25" name="Shape 23"/>
          <p:cNvSpPr/>
          <p:nvPr/>
        </p:nvSpPr>
        <p:spPr>
          <a:xfrm>
            <a:off x="7426523" y="6273046"/>
            <a:ext cx="6424493" cy="1343978"/>
          </a:xfrm>
          <a:prstGeom prst="roundRect">
            <a:avLst>
              <a:gd name="adj" fmla="val 6960"/>
            </a:avLst>
          </a:prstGeom>
          <a:solidFill>
            <a:srgbClr val="FFFDFA"/>
          </a:solidFill>
          <a:ln w="30480">
            <a:solidFill>
              <a:srgbClr val="DDD3BA"/>
            </a:solidFill>
            <a:prstDash val="solid"/>
          </a:ln>
        </p:spPr>
      </p:sp>
      <p:sp>
        <p:nvSpPr>
          <p:cNvPr id="26" name="Shape 24"/>
          <p:cNvSpPr/>
          <p:nvPr/>
        </p:nvSpPr>
        <p:spPr>
          <a:xfrm>
            <a:off x="7426523" y="6273046"/>
            <a:ext cx="121920" cy="1343978"/>
          </a:xfrm>
          <a:prstGeom prst="roundRect">
            <a:avLst>
              <a:gd name="adj" fmla="val 76719"/>
            </a:avLst>
          </a:prstGeom>
          <a:solidFill>
            <a:srgbClr val="B88E23"/>
          </a:solidFill>
          <a:ln/>
        </p:spPr>
      </p:sp>
      <p:sp>
        <p:nvSpPr>
          <p:cNvPr id="27" name="Text 25"/>
          <p:cNvSpPr/>
          <p:nvPr/>
        </p:nvSpPr>
        <p:spPr>
          <a:xfrm>
            <a:off x="7801570" y="6526173"/>
            <a:ext cx="3431738" cy="347901"/>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Stakeholder Confidence</a:t>
            </a:r>
            <a:endParaRPr lang="en-US" sz="2150" dirty="0"/>
          </a:p>
        </p:txBody>
      </p:sp>
      <p:sp>
        <p:nvSpPr>
          <p:cNvPr id="28" name="Text 26"/>
          <p:cNvSpPr/>
          <p:nvPr/>
        </p:nvSpPr>
        <p:spPr>
          <a:xfrm>
            <a:off x="7801570" y="7007662"/>
            <a:ext cx="5796320" cy="356235"/>
          </a:xfrm>
          <a:prstGeom prst="rect">
            <a:avLst/>
          </a:prstGeom>
          <a:noFill/>
          <a:ln/>
        </p:spPr>
        <p:txBody>
          <a:bodyPr wrap="non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Transparent operations build trust</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67514"/>
            <a:ext cx="5540573"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3. The Solution: HEMIS</a:t>
            </a:r>
            <a:endParaRPr lang="en-US" sz="3550" dirty="0"/>
          </a:p>
        </p:txBody>
      </p:sp>
      <p:sp>
        <p:nvSpPr>
          <p:cNvPr id="3" name="Text 1"/>
          <p:cNvSpPr/>
          <p:nvPr/>
        </p:nvSpPr>
        <p:spPr>
          <a:xfrm>
            <a:off x="793790" y="1861304"/>
            <a:ext cx="7081837" cy="425291"/>
          </a:xfrm>
          <a:prstGeom prst="rect">
            <a:avLst/>
          </a:prstGeom>
          <a:noFill/>
          <a:ln/>
        </p:spPr>
        <p:txBody>
          <a:bodyPr wrap="non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The Government Excellence Framework</a:t>
            </a:r>
            <a:endParaRPr lang="en-US" sz="2650" dirty="0"/>
          </a:p>
        </p:txBody>
      </p:sp>
      <p:sp>
        <p:nvSpPr>
          <p:cNvPr id="4" name="Text 2"/>
          <p:cNvSpPr/>
          <p:nvPr/>
        </p:nvSpPr>
        <p:spPr>
          <a:xfrm>
            <a:off x="793790" y="262675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HEMIS directly links government priorities to strategic, measurable outcomes.</a:t>
            </a:r>
            <a:endParaRPr lang="en-US" sz="1750" dirty="0"/>
          </a:p>
        </p:txBody>
      </p:sp>
      <p:sp>
        <p:nvSpPr>
          <p:cNvPr id="5" name="Shape 3"/>
          <p:cNvSpPr/>
          <p:nvPr/>
        </p:nvSpPr>
        <p:spPr>
          <a:xfrm>
            <a:off x="793790" y="3244810"/>
            <a:ext cx="13042821" cy="3917156"/>
          </a:xfrm>
          <a:prstGeom prst="roundRect">
            <a:avLst>
              <a:gd name="adj" fmla="val 2432"/>
            </a:avLst>
          </a:prstGeom>
          <a:noFill/>
          <a:ln w="7620">
            <a:solidFill>
              <a:srgbClr val="000000">
                <a:alpha val="8000"/>
              </a:srgbClr>
            </a:solidFill>
            <a:prstDash val="solid"/>
          </a:ln>
        </p:spPr>
      </p:sp>
      <p:sp>
        <p:nvSpPr>
          <p:cNvPr id="6" name="Shape 4"/>
          <p:cNvSpPr/>
          <p:nvPr/>
        </p:nvSpPr>
        <p:spPr>
          <a:xfrm>
            <a:off x="801410" y="3252430"/>
            <a:ext cx="13026271" cy="650319"/>
          </a:xfrm>
          <a:prstGeom prst="rect">
            <a:avLst/>
          </a:prstGeom>
          <a:solidFill>
            <a:srgbClr val="FFFFFF">
              <a:alpha val="4000"/>
            </a:srgbClr>
          </a:solidFill>
          <a:ln/>
        </p:spPr>
      </p:sp>
      <p:sp>
        <p:nvSpPr>
          <p:cNvPr id="7" name="Text 5"/>
          <p:cNvSpPr/>
          <p:nvPr/>
        </p:nvSpPr>
        <p:spPr>
          <a:xfrm>
            <a:off x="1029653" y="3396139"/>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Government Priority</a:t>
            </a:r>
            <a:endParaRPr lang="en-US" sz="1750" dirty="0"/>
          </a:p>
        </p:txBody>
      </p:sp>
      <p:sp>
        <p:nvSpPr>
          <p:cNvPr id="8" name="Text 6"/>
          <p:cNvSpPr/>
          <p:nvPr/>
        </p:nvSpPr>
        <p:spPr>
          <a:xfrm>
            <a:off x="5375077" y="3396139"/>
            <a:ext cx="388036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HEMIS Capability</a:t>
            </a:r>
            <a:endParaRPr lang="en-US" sz="1750" dirty="0"/>
          </a:p>
        </p:txBody>
      </p:sp>
      <p:sp>
        <p:nvSpPr>
          <p:cNvPr id="9" name="Text 7"/>
          <p:cNvSpPr/>
          <p:nvPr/>
        </p:nvSpPr>
        <p:spPr>
          <a:xfrm>
            <a:off x="9716691" y="3396139"/>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Strategic Outcome</a:t>
            </a:r>
            <a:endParaRPr lang="en-US" sz="1750" dirty="0"/>
          </a:p>
        </p:txBody>
      </p:sp>
      <p:sp>
        <p:nvSpPr>
          <p:cNvPr id="10" name="Shape 8"/>
          <p:cNvSpPr/>
          <p:nvPr/>
        </p:nvSpPr>
        <p:spPr>
          <a:xfrm>
            <a:off x="801410" y="3902750"/>
            <a:ext cx="13026271" cy="650319"/>
          </a:xfrm>
          <a:prstGeom prst="rect">
            <a:avLst/>
          </a:prstGeom>
          <a:solidFill>
            <a:srgbClr val="000000">
              <a:alpha val="4000"/>
            </a:srgbClr>
          </a:solidFill>
          <a:ln/>
        </p:spPr>
      </p:sp>
      <p:sp>
        <p:nvSpPr>
          <p:cNvPr id="11" name="Text 9"/>
          <p:cNvSpPr/>
          <p:nvPr/>
        </p:nvSpPr>
        <p:spPr>
          <a:xfrm>
            <a:off x="1029653" y="404645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National Oversight</a:t>
            </a:r>
            <a:endParaRPr lang="en-US" sz="1750" dirty="0"/>
          </a:p>
        </p:txBody>
      </p:sp>
      <p:sp>
        <p:nvSpPr>
          <p:cNvPr id="12" name="Text 10"/>
          <p:cNvSpPr/>
          <p:nvPr/>
        </p:nvSpPr>
        <p:spPr>
          <a:xfrm>
            <a:off x="5375077" y="4046458"/>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Real-time monitoring</a:t>
            </a:r>
            <a:endParaRPr lang="en-US" sz="1750" dirty="0"/>
          </a:p>
        </p:txBody>
      </p:sp>
      <p:sp>
        <p:nvSpPr>
          <p:cNvPr id="13" name="Text 11"/>
          <p:cNvSpPr/>
          <p:nvPr/>
        </p:nvSpPr>
        <p:spPr>
          <a:xfrm>
            <a:off x="9716691" y="404645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Informed governance</a:t>
            </a:r>
            <a:endParaRPr lang="en-US" sz="1750" dirty="0"/>
          </a:p>
        </p:txBody>
      </p:sp>
      <p:sp>
        <p:nvSpPr>
          <p:cNvPr id="14" name="Shape 12"/>
          <p:cNvSpPr/>
          <p:nvPr/>
        </p:nvSpPr>
        <p:spPr>
          <a:xfrm>
            <a:off x="801410" y="4553069"/>
            <a:ext cx="13026271" cy="650319"/>
          </a:xfrm>
          <a:prstGeom prst="rect">
            <a:avLst/>
          </a:prstGeom>
          <a:solidFill>
            <a:srgbClr val="FFFFFF">
              <a:alpha val="4000"/>
            </a:srgbClr>
          </a:solidFill>
          <a:ln/>
        </p:spPr>
      </p:sp>
      <p:sp>
        <p:nvSpPr>
          <p:cNvPr id="15" name="Text 13"/>
          <p:cNvSpPr/>
          <p:nvPr/>
        </p:nvSpPr>
        <p:spPr>
          <a:xfrm>
            <a:off x="1029653" y="469677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Quality Leadership</a:t>
            </a:r>
            <a:endParaRPr lang="en-US" sz="1750" dirty="0"/>
          </a:p>
        </p:txBody>
      </p:sp>
      <p:sp>
        <p:nvSpPr>
          <p:cNvPr id="16" name="Text 14"/>
          <p:cNvSpPr/>
          <p:nvPr/>
        </p:nvSpPr>
        <p:spPr>
          <a:xfrm>
            <a:off x="5375077" y="4696778"/>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Performance tracking</a:t>
            </a:r>
            <a:endParaRPr lang="en-US" sz="1750" dirty="0"/>
          </a:p>
        </p:txBody>
      </p:sp>
      <p:sp>
        <p:nvSpPr>
          <p:cNvPr id="17" name="Text 15"/>
          <p:cNvSpPr/>
          <p:nvPr/>
        </p:nvSpPr>
        <p:spPr>
          <a:xfrm>
            <a:off x="9716691" y="469677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Enhanced reputation</a:t>
            </a:r>
            <a:endParaRPr lang="en-US" sz="1750" dirty="0"/>
          </a:p>
        </p:txBody>
      </p:sp>
      <p:sp>
        <p:nvSpPr>
          <p:cNvPr id="18" name="Shape 16"/>
          <p:cNvSpPr/>
          <p:nvPr/>
        </p:nvSpPr>
        <p:spPr>
          <a:xfrm>
            <a:off x="801410" y="5203388"/>
            <a:ext cx="13026271" cy="650319"/>
          </a:xfrm>
          <a:prstGeom prst="rect">
            <a:avLst/>
          </a:prstGeom>
          <a:solidFill>
            <a:srgbClr val="000000">
              <a:alpha val="4000"/>
            </a:srgbClr>
          </a:solidFill>
          <a:ln/>
        </p:spPr>
      </p:sp>
      <p:sp>
        <p:nvSpPr>
          <p:cNvPr id="19" name="Text 17"/>
          <p:cNvSpPr/>
          <p:nvPr/>
        </p:nvSpPr>
        <p:spPr>
          <a:xfrm>
            <a:off x="1029653" y="534709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Resource Stewardship</a:t>
            </a:r>
            <a:endParaRPr lang="en-US" sz="1750" dirty="0"/>
          </a:p>
        </p:txBody>
      </p:sp>
      <p:sp>
        <p:nvSpPr>
          <p:cNvPr id="20" name="Text 18"/>
          <p:cNvSpPr/>
          <p:nvPr/>
        </p:nvSpPr>
        <p:spPr>
          <a:xfrm>
            <a:off x="5375077" y="5347097"/>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Data-driven investment</a:t>
            </a:r>
            <a:endParaRPr lang="en-US" sz="1750" dirty="0"/>
          </a:p>
        </p:txBody>
      </p:sp>
      <p:sp>
        <p:nvSpPr>
          <p:cNvPr id="21" name="Text 19"/>
          <p:cNvSpPr/>
          <p:nvPr/>
        </p:nvSpPr>
        <p:spPr>
          <a:xfrm>
            <a:off x="9716691" y="534709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Maximized public value</a:t>
            </a:r>
            <a:endParaRPr lang="en-US" sz="1750" dirty="0"/>
          </a:p>
        </p:txBody>
      </p:sp>
      <p:sp>
        <p:nvSpPr>
          <p:cNvPr id="22" name="Shape 20"/>
          <p:cNvSpPr/>
          <p:nvPr/>
        </p:nvSpPr>
        <p:spPr>
          <a:xfrm>
            <a:off x="801410" y="5853708"/>
            <a:ext cx="13026271" cy="650319"/>
          </a:xfrm>
          <a:prstGeom prst="rect">
            <a:avLst/>
          </a:prstGeom>
          <a:solidFill>
            <a:srgbClr val="FFFFFF">
              <a:alpha val="4000"/>
            </a:srgbClr>
          </a:solidFill>
          <a:ln/>
        </p:spPr>
      </p:sp>
      <p:sp>
        <p:nvSpPr>
          <p:cNvPr id="23" name="Text 21"/>
          <p:cNvSpPr/>
          <p:nvPr/>
        </p:nvSpPr>
        <p:spPr>
          <a:xfrm>
            <a:off x="1029653" y="5997416"/>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Admin. Efficiency</a:t>
            </a:r>
            <a:endParaRPr lang="en-US" sz="1750" dirty="0"/>
          </a:p>
        </p:txBody>
      </p:sp>
      <p:sp>
        <p:nvSpPr>
          <p:cNvPr id="24" name="Text 22"/>
          <p:cNvSpPr/>
          <p:nvPr/>
        </p:nvSpPr>
        <p:spPr>
          <a:xfrm>
            <a:off x="5375077" y="5997416"/>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Automated processes</a:t>
            </a:r>
            <a:endParaRPr lang="en-US" sz="1750" dirty="0"/>
          </a:p>
        </p:txBody>
      </p:sp>
      <p:sp>
        <p:nvSpPr>
          <p:cNvPr id="25" name="Text 23"/>
          <p:cNvSpPr/>
          <p:nvPr/>
        </p:nvSpPr>
        <p:spPr>
          <a:xfrm>
            <a:off x="9716691" y="5997416"/>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Reduced operational costs</a:t>
            </a:r>
            <a:endParaRPr lang="en-US" sz="1750" dirty="0"/>
          </a:p>
        </p:txBody>
      </p:sp>
      <p:sp>
        <p:nvSpPr>
          <p:cNvPr id="26" name="Shape 24"/>
          <p:cNvSpPr/>
          <p:nvPr/>
        </p:nvSpPr>
        <p:spPr>
          <a:xfrm>
            <a:off x="801410" y="6504027"/>
            <a:ext cx="13026271" cy="650319"/>
          </a:xfrm>
          <a:prstGeom prst="rect">
            <a:avLst/>
          </a:prstGeom>
          <a:solidFill>
            <a:srgbClr val="000000">
              <a:alpha val="4000"/>
            </a:srgbClr>
          </a:solidFill>
          <a:ln/>
        </p:spPr>
      </p:sp>
      <p:sp>
        <p:nvSpPr>
          <p:cNvPr id="27" name="Text 25"/>
          <p:cNvSpPr/>
          <p:nvPr/>
        </p:nvSpPr>
        <p:spPr>
          <a:xfrm>
            <a:off x="1029653" y="6647736"/>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Strategic Planning</a:t>
            </a:r>
            <a:endParaRPr lang="en-US" sz="1750" dirty="0"/>
          </a:p>
        </p:txBody>
      </p:sp>
      <p:sp>
        <p:nvSpPr>
          <p:cNvPr id="28" name="Text 26"/>
          <p:cNvSpPr/>
          <p:nvPr/>
        </p:nvSpPr>
        <p:spPr>
          <a:xfrm>
            <a:off x="5375077" y="6647736"/>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Sector intelligence</a:t>
            </a:r>
            <a:endParaRPr lang="en-US" sz="1750" dirty="0"/>
          </a:p>
        </p:txBody>
      </p:sp>
      <p:sp>
        <p:nvSpPr>
          <p:cNvPr id="29" name="Text 27"/>
          <p:cNvSpPr/>
          <p:nvPr/>
        </p:nvSpPr>
        <p:spPr>
          <a:xfrm>
            <a:off x="9716691" y="6647736"/>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Effective development</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42355"/>
            <a:ext cx="4824293" cy="453628"/>
          </a:xfrm>
          <a:prstGeom prst="rect">
            <a:avLst/>
          </a:prstGeom>
          <a:noFill/>
          <a:ln/>
        </p:spPr>
        <p:txBody>
          <a:bodyPr wrap="none" lIns="0" tIns="0" rIns="0" bIns="0" rtlCol="0" anchor="t"/>
          <a:lstStyle/>
          <a:p>
            <a:pPr marL="0" indent="0" algn="l">
              <a:lnSpc>
                <a:spcPts val="3550"/>
              </a:lnSpc>
              <a:buNone/>
            </a:pPr>
            <a:r>
              <a:rPr lang="en-US" sz="2850" dirty="0">
                <a:solidFill>
                  <a:srgbClr val="5C4E3D"/>
                </a:solidFill>
                <a:latin typeface="Libre Baskerville" pitchFamily="34" charset="0"/>
                <a:ea typeface="Libre Baskerville" pitchFamily="34" charset="-122"/>
                <a:cs typeface="Libre Baskerville" pitchFamily="34" charset="-120"/>
              </a:rPr>
              <a:t>4. Key Features &amp; Benefits</a:t>
            </a:r>
            <a:endParaRPr lang="en-US" sz="2850" dirty="0"/>
          </a:p>
        </p:txBody>
      </p:sp>
      <p:sp>
        <p:nvSpPr>
          <p:cNvPr id="3" name="Text 1"/>
          <p:cNvSpPr/>
          <p:nvPr/>
        </p:nvSpPr>
        <p:spPr>
          <a:xfrm>
            <a:off x="793790" y="1377434"/>
            <a:ext cx="5632728" cy="340162"/>
          </a:xfrm>
          <a:prstGeom prst="rect">
            <a:avLst/>
          </a:prstGeom>
          <a:noFill/>
          <a:ln/>
        </p:spPr>
        <p:txBody>
          <a:bodyPr wrap="none" lIns="0" tIns="0" rIns="0" bIns="0" rtlCol="0" anchor="t"/>
          <a:lstStyle/>
          <a:p>
            <a:pPr marL="0" indent="0" algn="l">
              <a:lnSpc>
                <a:spcPts val="2650"/>
              </a:lnSpc>
              <a:buNone/>
            </a:pPr>
            <a:r>
              <a:rPr lang="en-US" sz="2100" dirty="0">
                <a:solidFill>
                  <a:srgbClr val="5C4E3D"/>
                </a:solidFill>
                <a:latin typeface="Libre Baskerville" pitchFamily="34" charset="0"/>
                <a:ea typeface="Libre Baskerville" pitchFamily="34" charset="-122"/>
                <a:cs typeface="Libre Baskerville" pitchFamily="34" charset="-120"/>
              </a:rPr>
              <a:t>Complete Government Value Ecosystem</a:t>
            </a:r>
            <a:endParaRPr lang="en-US" sz="2100" dirty="0"/>
          </a:p>
        </p:txBody>
      </p:sp>
      <p:sp>
        <p:nvSpPr>
          <p:cNvPr id="4" name="Text 2"/>
          <p:cNvSpPr/>
          <p:nvPr/>
        </p:nvSpPr>
        <p:spPr>
          <a:xfrm>
            <a:off x="793790" y="2171224"/>
            <a:ext cx="5719882" cy="283488"/>
          </a:xfrm>
          <a:prstGeom prst="rect">
            <a:avLst/>
          </a:prstGeom>
          <a:noFill/>
          <a:ln/>
        </p:spPr>
        <p:txBody>
          <a:bodyPr wrap="none" lIns="0" tIns="0" rIns="0" bIns="0" rtlCol="0" anchor="t"/>
          <a:lstStyle/>
          <a:p>
            <a:pPr marL="0" indent="0" algn="l">
              <a:lnSpc>
                <a:spcPts val="2200"/>
              </a:lnSpc>
              <a:buNone/>
            </a:pPr>
            <a:r>
              <a:rPr lang="en-US" sz="1750" dirty="0">
                <a:solidFill>
                  <a:srgbClr val="000000"/>
                </a:solidFill>
                <a:latin typeface="Libre Baskerville" pitchFamily="34" charset="0"/>
                <a:ea typeface="Libre Baskerville" pitchFamily="34" charset="-122"/>
                <a:cs typeface="Libre Baskerville" pitchFamily="34" charset="-120"/>
              </a:rPr>
              <a:t>🏛️</a:t>
            </a:r>
            <a:r>
              <a:rPr lang="en-US" sz="1750" dirty="0">
                <a:solidFill>
                  <a:srgbClr val="5C4E3D"/>
                </a:solidFill>
                <a:latin typeface="Libre Baskerville" pitchFamily="34" charset="0"/>
                <a:ea typeface="Libre Baskerville" pitchFamily="34" charset="-122"/>
                <a:cs typeface="Libre Baskerville" pitchFamily="34" charset="-120"/>
              </a:rPr>
              <a:t> National Institution Information Management</a:t>
            </a:r>
            <a:endParaRPr lang="en-US" sz="1750" dirty="0"/>
          </a:p>
        </p:txBody>
      </p:sp>
      <p:sp>
        <p:nvSpPr>
          <p:cNvPr id="5" name="Text 3"/>
          <p:cNvSpPr/>
          <p:nvPr/>
        </p:nvSpPr>
        <p:spPr>
          <a:xfrm>
            <a:off x="793790" y="2636163"/>
            <a:ext cx="6300073" cy="580549"/>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Centralized data supporting government oversight and information management.</a:t>
            </a:r>
            <a:endParaRPr lang="en-US" sz="1400" dirty="0"/>
          </a:p>
        </p:txBody>
      </p:sp>
      <p:pic>
        <p:nvPicPr>
          <p:cNvPr id="6" name="Image 0" descr="preencoded.png"/>
          <p:cNvPicPr>
            <a:picLocks noChangeAspect="1"/>
          </p:cNvPicPr>
          <p:nvPr/>
        </p:nvPicPr>
        <p:blipFill>
          <a:blip r:embed="rId3"/>
          <a:stretch>
            <a:fillRect/>
          </a:stretch>
        </p:blipFill>
        <p:spPr>
          <a:xfrm>
            <a:off x="861774" y="3392388"/>
            <a:ext cx="272177" cy="340162"/>
          </a:xfrm>
          <a:prstGeom prst="rect">
            <a:avLst/>
          </a:prstGeom>
        </p:spPr>
      </p:pic>
      <p:sp>
        <p:nvSpPr>
          <p:cNvPr id="7" name="Text 4"/>
          <p:cNvSpPr/>
          <p:nvPr/>
        </p:nvSpPr>
        <p:spPr>
          <a:xfrm>
            <a:off x="1383506" y="3420785"/>
            <a:ext cx="3301484" cy="283488"/>
          </a:xfrm>
          <a:prstGeom prst="rect">
            <a:avLst/>
          </a:prstGeom>
          <a:noFill/>
          <a:ln/>
        </p:spPr>
        <p:txBody>
          <a:bodyPr wrap="none" lIns="0" tIns="0" rIns="0" bIns="0" rtlCol="0" anchor="t"/>
          <a:lstStyle/>
          <a:p>
            <a:pPr marL="0" indent="0" algn="l">
              <a:lnSpc>
                <a:spcPts val="2200"/>
              </a:lnSpc>
              <a:buNone/>
            </a:pPr>
            <a:r>
              <a:rPr lang="en-US" sz="1750" dirty="0">
                <a:solidFill>
                  <a:srgbClr val="454240"/>
                </a:solidFill>
                <a:latin typeface="Libre Baskerville" pitchFamily="34" charset="0"/>
                <a:ea typeface="Libre Baskerville" pitchFamily="34" charset="-122"/>
                <a:cs typeface="Libre Baskerville" pitchFamily="34" charset="-120"/>
              </a:rPr>
              <a:t>National Institution Registry</a:t>
            </a:r>
            <a:endParaRPr lang="en-US" sz="1750" dirty="0"/>
          </a:p>
        </p:txBody>
      </p:sp>
      <p:sp>
        <p:nvSpPr>
          <p:cNvPr id="8" name="Text 5"/>
          <p:cNvSpPr/>
          <p:nvPr/>
        </p:nvSpPr>
        <p:spPr>
          <a:xfrm>
            <a:off x="1383506" y="3885724"/>
            <a:ext cx="5710357" cy="580549"/>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A central database with comprehensive profiles of all institutions, including their structure, assets, and history.</a:t>
            </a:r>
            <a:endParaRPr lang="en-US" sz="1400" dirty="0"/>
          </a:p>
        </p:txBody>
      </p:sp>
      <p:pic>
        <p:nvPicPr>
          <p:cNvPr id="9" name="Image 1" descr="preencoded.png"/>
          <p:cNvPicPr>
            <a:picLocks noChangeAspect="1"/>
          </p:cNvPicPr>
          <p:nvPr/>
        </p:nvPicPr>
        <p:blipFill>
          <a:blip r:embed="rId3"/>
          <a:stretch>
            <a:fillRect/>
          </a:stretch>
        </p:blipFill>
        <p:spPr>
          <a:xfrm>
            <a:off x="861774" y="4800779"/>
            <a:ext cx="272177" cy="340162"/>
          </a:xfrm>
          <a:prstGeom prst="rect">
            <a:avLst/>
          </a:prstGeom>
        </p:spPr>
      </p:pic>
      <p:sp>
        <p:nvSpPr>
          <p:cNvPr id="10" name="Text 6"/>
          <p:cNvSpPr/>
          <p:nvPr/>
        </p:nvSpPr>
        <p:spPr>
          <a:xfrm>
            <a:off x="1383506" y="4829175"/>
            <a:ext cx="4025265" cy="283488"/>
          </a:xfrm>
          <a:prstGeom prst="rect">
            <a:avLst/>
          </a:prstGeom>
          <a:noFill/>
          <a:ln/>
        </p:spPr>
        <p:txBody>
          <a:bodyPr wrap="none" lIns="0" tIns="0" rIns="0" bIns="0" rtlCol="0" anchor="t"/>
          <a:lstStyle/>
          <a:p>
            <a:pPr marL="0" indent="0" algn="l">
              <a:lnSpc>
                <a:spcPts val="2200"/>
              </a:lnSpc>
              <a:buNone/>
            </a:pPr>
            <a:r>
              <a:rPr lang="en-US" sz="1750" dirty="0">
                <a:solidFill>
                  <a:srgbClr val="454240"/>
                </a:solidFill>
                <a:latin typeface="Libre Baskerville" pitchFamily="34" charset="0"/>
                <a:ea typeface="Libre Baskerville" pitchFamily="34" charset="-122"/>
                <a:cs typeface="Libre Baskerville" pitchFamily="34" charset="-120"/>
              </a:rPr>
              <a:t>Real-time Government Dashboard</a:t>
            </a:r>
            <a:endParaRPr lang="en-US" sz="1750" dirty="0"/>
          </a:p>
        </p:txBody>
      </p:sp>
      <p:sp>
        <p:nvSpPr>
          <p:cNvPr id="11" name="Text 7"/>
          <p:cNvSpPr/>
          <p:nvPr/>
        </p:nvSpPr>
        <p:spPr>
          <a:xfrm>
            <a:off x="1383506" y="5294114"/>
            <a:ext cx="5710357" cy="580549"/>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Provides a live overview of the sector's performance metrics for direct government oversight.</a:t>
            </a:r>
            <a:endParaRPr lang="en-US" sz="1400" dirty="0"/>
          </a:p>
        </p:txBody>
      </p:sp>
      <p:pic>
        <p:nvPicPr>
          <p:cNvPr id="12" name="Image 2" descr="preencoded.png"/>
          <p:cNvPicPr>
            <a:picLocks noChangeAspect="1"/>
          </p:cNvPicPr>
          <p:nvPr/>
        </p:nvPicPr>
        <p:blipFill>
          <a:blip r:embed="rId3"/>
          <a:stretch>
            <a:fillRect/>
          </a:stretch>
        </p:blipFill>
        <p:spPr>
          <a:xfrm>
            <a:off x="861774" y="6209169"/>
            <a:ext cx="272177" cy="340162"/>
          </a:xfrm>
          <a:prstGeom prst="rect">
            <a:avLst/>
          </a:prstGeom>
        </p:spPr>
      </p:pic>
      <p:sp>
        <p:nvSpPr>
          <p:cNvPr id="13" name="Text 8"/>
          <p:cNvSpPr/>
          <p:nvPr/>
        </p:nvSpPr>
        <p:spPr>
          <a:xfrm>
            <a:off x="1383506" y="6237565"/>
            <a:ext cx="4034552" cy="283488"/>
          </a:xfrm>
          <a:prstGeom prst="rect">
            <a:avLst/>
          </a:prstGeom>
          <a:noFill/>
          <a:ln/>
        </p:spPr>
        <p:txBody>
          <a:bodyPr wrap="none" lIns="0" tIns="0" rIns="0" bIns="0" rtlCol="0" anchor="t"/>
          <a:lstStyle/>
          <a:p>
            <a:pPr marL="0" indent="0" algn="l">
              <a:lnSpc>
                <a:spcPts val="2200"/>
              </a:lnSpc>
              <a:buNone/>
            </a:pPr>
            <a:r>
              <a:rPr lang="en-US" sz="1750" dirty="0">
                <a:solidFill>
                  <a:srgbClr val="454240"/>
                </a:solidFill>
                <a:latin typeface="Libre Baskerville" pitchFamily="34" charset="0"/>
                <a:ea typeface="Libre Baskerville" pitchFamily="34" charset="-122"/>
                <a:cs typeface="Libre Baskerville" pitchFamily="34" charset="-120"/>
              </a:rPr>
              <a:t>National Quality &amp; Status Tracking</a:t>
            </a:r>
            <a:endParaRPr lang="en-US" sz="1750" dirty="0"/>
          </a:p>
        </p:txBody>
      </p:sp>
      <p:sp>
        <p:nvSpPr>
          <p:cNvPr id="14" name="Text 9"/>
          <p:cNvSpPr/>
          <p:nvPr/>
        </p:nvSpPr>
        <p:spPr>
          <a:xfrm>
            <a:off x="1383506" y="6702504"/>
            <a:ext cx="5710357" cy="580549"/>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A unified system to monitor the official recognition and quality standing of all institutions and their programs.</a:t>
            </a:r>
            <a:endParaRPr lang="en-US" sz="1400" dirty="0"/>
          </a:p>
        </p:txBody>
      </p:sp>
      <p:pic>
        <p:nvPicPr>
          <p:cNvPr id="23" name="Picture 22">
            <a:extLst>
              <a:ext uri="{FF2B5EF4-FFF2-40B4-BE49-F238E27FC236}">
                <a16:creationId xmlns:a16="http://schemas.microsoft.com/office/drawing/2014/main" id="{9346A574-7710-EBC3-4F1B-FFDDE0837DB7}"/>
              </a:ext>
            </a:extLst>
          </p:cNvPr>
          <p:cNvPicPr>
            <a:picLocks noChangeAspect="1"/>
          </p:cNvPicPr>
          <p:nvPr/>
        </p:nvPicPr>
        <p:blipFill>
          <a:blip r:embed="rId4"/>
          <a:stretch>
            <a:fillRect/>
          </a:stretch>
        </p:blipFill>
        <p:spPr>
          <a:xfrm>
            <a:off x="6885577" y="3216712"/>
            <a:ext cx="7417308" cy="28451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0569" y="592574"/>
            <a:ext cx="5625465" cy="528876"/>
          </a:xfrm>
          <a:prstGeom prst="rect">
            <a:avLst/>
          </a:prstGeom>
          <a:noFill/>
          <a:ln/>
        </p:spPr>
        <p:txBody>
          <a:bodyPr wrap="none" lIns="0" tIns="0" rIns="0" bIns="0" rtlCol="0" anchor="t"/>
          <a:lstStyle/>
          <a:p>
            <a:pPr marL="0" indent="0" algn="l">
              <a:lnSpc>
                <a:spcPts val="4150"/>
              </a:lnSpc>
              <a:buNone/>
            </a:pPr>
            <a:r>
              <a:rPr lang="en-US" sz="3300" dirty="0">
                <a:solidFill>
                  <a:srgbClr val="5C4E3D"/>
                </a:solidFill>
                <a:latin typeface="Libre Baskerville" pitchFamily="34" charset="0"/>
                <a:ea typeface="Libre Baskerville" pitchFamily="34" charset="-122"/>
                <a:cs typeface="Libre Baskerville" pitchFamily="34" charset="-120"/>
              </a:rPr>
              <a:t>4. Key Features &amp; Benefits</a:t>
            </a:r>
            <a:endParaRPr lang="en-US" sz="3300" dirty="0"/>
          </a:p>
        </p:txBody>
      </p:sp>
      <p:sp>
        <p:nvSpPr>
          <p:cNvPr id="3" name="Text 1"/>
          <p:cNvSpPr/>
          <p:nvPr/>
        </p:nvSpPr>
        <p:spPr>
          <a:xfrm>
            <a:off x="740569" y="1333024"/>
            <a:ext cx="6566535" cy="396716"/>
          </a:xfrm>
          <a:prstGeom prst="rect">
            <a:avLst/>
          </a:prstGeom>
          <a:noFill/>
          <a:ln/>
        </p:spPr>
        <p:txBody>
          <a:bodyPr wrap="none" lIns="0" tIns="0" rIns="0" bIns="0" rtlCol="0" anchor="t"/>
          <a:lstStyle/>
          <a:p>
            <a:pPr marL="0" indent="0" algn="l">
              <a:lnSpc>
                <a:spcPts val="3100"/>
              </a:lnSpc>
              <a:buNone/>
            </a:pPr>
            <a:r>
              <a:rPr lang="en-US" sz="2450" dirty="0">
                <a:solidFill>
                  <a:srgbClr val="5C4E3D"/>
                </a:solidFill>
                <a:latin typeface="Libre Baskerville" pitchFamily="34" charset="0"/>
                <a:ea typeface="Libre Baskerville" pitchFamily="34" charset="-122"/>
                <a:cs typeface="Libre Baskerville" pitchFamily="34" charset="-120"/>
              </a:rPr>
              <a:t>Complete Government Value Ecosystem</a:t>
            </a:r>
            <a:endParaRPr lang="en-US" sz="2450" dirty="0"/>
          </a:p>
        </p:txBody>
      </p:sp>
      <p:sp>
        <p:nvSpPr>
          <p:cNvPr id="4" name="Text 2"/>
          <p:cNvSpPr/>
          <p:nvPr/>
        </p:nvSpPr>
        <p:spPr>
          <a:xfrm>
            <a:off x="740569" y="2258616"/>
            <a:ext cx="5881211" cy="338138"/>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Libre Baskerville" pitchFamily="34" charset="0"/>
                <a:ea typeface="Libre Baskerville" pitchFamily="34" charset="-122"/>
                <a:cs typeface="Libre Baskerville" pitchFamily="34" charset="-120"/>
              </a:rPr>
              <a:t>👥</a:t>
            </a:r>
            <a:r>
              <a:rPr lang="en-US" sz="2050" dirty="0">
                <a:solidFill>
                  <a:srgbClr val="5C4E3D"/>
                </a:solidFill>
                <a:latin typeface="Libre Baskerville" pitchFamily="34" charset="0"/>
                <a:ea typeface="Libre Baskerville" pitchFamily="34" charset="-122"/>
                <a:cs typeface="Libre Baskerville" pitchFamily="34" charset="-120"/>
              </a:rPr>
              <a:t> National Staff Information Management</a:t>
            </a:r>
            <a:endParaRPr lang="en-US" sz="2050" dirty="0"/>
          </a:p>
        </p:txBody>
      </p:sp>
      <p:sp>
        <p:nvSpPr>
          <p:cNvPr id="5" name="Text 3"/>
          <p:cNvSpPr/>
          <p:nvPr/>
        </p:nvSpPr>
        <p:spPr>
          <a:xfrm>
            <a:off x="740569" y="2808327"/>
            <a:ext cx="6101477" cy="676989"/>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Centralized staff data supporting national human resource planning and quality assurance.</a:t>
            </a:r>
            <a:endParaRPr lang="en-US" sz="1650" dirty="0"/>
          </a:p>
        </p:txBody>
      </p:sp>
      <p:sp>
        <p:nvSpPr>
          <p:cNvPr id="6" name="Shape 4"/>
          <p:cNvSpPr/>
          <p:nvPr/>
        </p:nvSpPr>
        <p:spPr>
          <a:xfrm>
            <a:off x="740569" y="3838932"/>
            <a:ext cx="476012" cy="476012"/>
          </a:xfrm>
          <a:prstGeom prst="roundRect">
            <a:avLst>
              <a:gd name="adj" fmla="val 18669"/>
            </a:avLst>
          </a:prstGeom>
          <a:solidFill>
            <a:srgbClr val="F7EDD4"/>
          </a:solidFill>
          <a:ln w="7620">
            <a:solidFill>
              <a:srgbClr val="DDD3BA"/>
            </a:solidFill>
            <a:prstDash val="solid"/>
          </a:ln>
        </p:spPr>
      </p:sp>
      <p:sp>
        <p:nvSpPr>
          <p:cNvPr id="7" name="Text 5"/>
          <p:cNvSpPr/>
          <p:nvPr/>
        </p:nvSpPr>
        <p:spPr>
          <a:xfrm>
            <a:off x="1428155" y="3795951"/>
            <a:ext cx="3021687" cy="661035"/>
          </a:xfrm>
          <a:prstGeom prst="rect">
            <a:avLst/>
          </a:prstGeom>
          <a:noFill/>
          <a:ln/>
        </p:spPr>
        <p:txBody>
          <a:bodyPr wrap="squar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National Staff Database</a:t>
            </a:r>
            <a:endParaRPr lang="en-US" sz="2050" dirty="0"/>
          </a:p>
        </p:txBody>
      </p:sp>
      <p:sp>
        <p:nvSpPr>
          <p:cNvPr id="8" name="Text 6"/>
          <p:cNvSpPr/>
          <p:nvPr/>
        </p:nvSpPr>
        <p:spPr>
          <a:xfrm>
            <a:off x="1428155" y="4668560"/>
            <a:ext cx="4577534" cy="1015484"/>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A central database tracks all staff qualifications, positions, and academic rank.</a:t>
            </a:r>
            <a:endParaRPr lang="en-US" sz="1650" dirty="0"/>
          </a:p>
        </p:txBody>
      </p:sp>
      <p:sp>
        <p:nvSpPr>
          <p:cNvPr id="9" name="Shape 7"/>
          <p:cNvSpPr/>
          <p:nvPr/>
        </p:nvSpPr>
        <p:spPr>
          <a:xfrm>
            <a:off x="740569" y="6053700"/>
            <a:ext cx="476012" cy="476012"/>
          </a:xfrm>
          <a:prstGeom prst="roundRect">
            <a:avLst>
              <a:gd name="adj" fmla="val 18669"/>
            </a:avLst>
          </a:prstGeom>
          <a:solidFill>
            <a:srgbClr val="F7EDD4"/>
          </a:solidFill>
          <a:ln w="7620">
            <a:solidFill>
              <a:srgbClr val="DDD3BA"/>
            </a:solidFill>
            <a:prstDash val="solid"/>
          </a:ln>
        </p:spPr>
      </p:sp>
      <p:sp>
        <p:nvSpPr>
          <p:cNvPr id="10" name="Text 8"/>
          <p:cNvSpPr/>
          <p:nvPr/>
        </p:nvSpPr>
        <p:spPr>
          <a:xfrm>
            <a:off x="1428155" y="6014799"/>
            <a:ext cx="3021687" cy="661035"/>
          </a:xfrm>
          <a:prstGeom prst="rect">
            <a:avLst/>
          </a:prstGeom>
          <a:noFill/>
          <a:ln/>
        </p:spPr>
        <p:txBody>
          <a:bodyPr wrap="squar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Career Progression Tracking</a:t>
            </a:r>
            <a:endParaRPr lang="en-US" sz="2050" dirty="0"/>
          </a:p>
        </p:txBody>
      </p:sp>
      <p:sp>
        <p:nvSpPr>
          <p:cNvPr id="11" name="Text 9"/>
          <p:cNvSpPr/>
          <p:nvPr/>
        </p:nvSpPr>
        <p:spPr>
          <a:xfrm>
            <a:off x="1428155" y="6887408"/>
            <a:ext cx="4396912" cy="1015484"/>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Monitors the complete career history and advancement of all staff members.</a:t>
            </a:r>
            <a:endParaRPr lang="en-US" sz="1650" dirty="0"/>
          </a:p>
        </p:txBody>
      </p:sp>
      <p:sp>
        <p:nvSpPr>
          <p:cNvPr id="12" name="Shape 10"/>
          <p:cNvSpPr/>
          <p:nvPr/>
        </p:nvSpPr>
        <p:spPr>
          <a:xfrm>
            <a:off x="6366034" y="5942171"/>
            <a:ext cx="476012" cy="476012"/>
          </a:xfrm>
          <a:prstGeom prst="roundRect">
            <a:avLst>
              <a:gd name="adj" fmla="val 18669"/>
            </a:avLst>
          </a:prstGeom>
          <a:solidFill>
            <a:srgbClr val="F7EDD4"/>
          </a:solidFill>
          <a:ln w="7620">
            <a:solidFill>
              <a:srgbClr val="DDD3BA"/>
            </a:solidFill>
            <a:prstDash val="solid"/>
          </a:ln>
        </p:spPr>
      </p:sp>
      <p:sp>
        <p:nvSpPr>
          <p:cNvPr id="13" name="Text 11"/>
          <p:cNvSpPr/>
          <p:nvPr/>
        </p:nvSpPr>
        <p:spPr>
          <a:xfrm>
            <a:off x="7053620" y="6014799"/>
            <a:ext cx="3007281" cy="330517"/>
          </a:xfrm>
          <a:prstGeom prst="rect">
            <a:avLst/>
          </a:prstGeom>
          <a:noFill/>
          <a:ln/>
        </p:spPr>
        <p:txBody>
          <a:bodyPr wrap="non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Strategic HR Analytics</a:t>
            </a:r>
            <a:endParaRPr lang="en-US" sz="2050" dirty="0"/>
          </a:p>
        </p:txBody>
      </p:sp>
      <p:sp>
        <p:nvSpPr>
          <p:cNvPr id="14" name="Text 12"/>
          <p:cNvSpPr/>
          <p:nvPr/>
        </p:nvSpPr>
        <p:spPr>
          <a:xfrm>
            <a:off x="7053620" y="6896576"/>
            <a:ext cx="6995398" cy="676989"/>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Provides national workforce data to drive quality assurance and strategic planning.</a:t>
            </a:r>
            <a:endParaRPr lang="en-US" sz="1650" dirty="0"/>
          </a:p>
        </p:txBody>
      </p:sp>
      <p:pic>
        <p:nvPicPr>
          <p:cNvPr id="17" name="Picture 16">
            <a:extLst>
              <a:ext uri="{FF2B5EF4-FFF2-40B4-BE49-F238E27FC236}">
                <a16:creationId xmlns:a16="http://schemas.microsoft.com/office/drawing/2014/main" id="{68965AAF-E5DE-AB42-23FB-3AEAA6C9F79A}"/>
              </a:ext>
            </a:extLst>
          </p:cNvPr>
          <p:cNvPicPr>
            <a:picLocks noChangeAspect="1"/>
          </p:cNvPicPr>
          <p:nvPr/>
        </p:nvPicPr>
        <p:blipFill>
          <a:blip r:embed="rId3"/>
          <a:stretch>
            <a:fillRect/>
          </a:stretch>
        </p:blipFill>
        <p:spPr>
          <a:xfrm>
            <a:off x="7053620" y="2258616"/>
            <a:ext cx="6643107" cy="3382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42950" y="583763"/>
            <a:ext cx="5644515" cy="530662"/>
          </a:xfrm>
          <a:prstGeom prst="rect">
            <a:avLst/>
          </a:prstGeom>
          <a:noFill/>
          <a:ln/>
        </p:spPr>
        <p:txBody>
          <a:bodyPr wrap="none" lIns="0" tIns="0" rIns="0" bIns="0" rtlCol="0" anchor="t"/>
          <a:lstStyle/>
          <a:p>
            <a:pPr marL="0" indent="0" algn="l">
              <a:lnSpc>
                <a:spcPts val="4150"/>
              </a:lnSpc>
              <a:buNone/>
            </a:pPr>
            <a:r>
              <a:rPr lang="en-US" sz="3300" dirty="0">
                <a:solidFill>
                  <a:srgbClr val="5C4E3D"/>
                </a:solidFill>
                <a:latin typeface="Libre Baskerville" pitchFamily="34" charset="0"/>
                <a:ea typeface="Libre Baskerville" pitchFamily="34" charset="-122"/>
                <a:cs typeface="Libre Baskerville" pitchFamily="34" charset="-120"/>
              </a:rPr>
              <a:t>4. Key Features &amp; Benefits</a:t>
            </a:r>
            <a:endParaRPr lang="en-US" sz="3300" dirty="0"/>
          </a:p>
        </p:txBody>
      </p:sp>
      <p:sp>
        <p:nvSpPr>
          <p:cNvPr id="4" name="Text 1"/>
          <p:cNvSpPr/>
          <p:nvPr/>
        </p:nvSpPr>
        <p:spPr>
          <a:xfrm>
            <a:off x="742950" y="1326594"/>
            <a:ext cx="6586299" cy="397907"/>
          </a:xfrm>
          <a:prstGeom prst="rect">
            <a:avLst/>
          </a:prstGeom>
          <a:noFill/>
          <a:ln/>
        </p:spPr>
        <p:txBody>
          <a:bodyPr wrap="none" lIns="0" tIns="0" rIns="0" bIns="0" rtlCol="0" anchor="t"/>
          <a:lstStyle/>
          <a:p>
            <a:pPr marL="0" indent="0" algn="l">
              <a:lnSpc>
                <a:spcPts val="3100"/>
              </a:lnSpc>
              <a:buNone/>
            </a:pPr>
            <a:r>
              <a:rPr lang="en-US" sz="2500" dirty="0">
                <a:solidFill>
                  <a:srgbClr val="5C4E3D"/>
                </a:solidFill>
                <a:latin typeface="Libre Baskerville" pitchFamily="34" charset="0"/>
                <a:ea typeface="Libre Baskerville" pitchFamily="34" charset="-122"/>
                <a:cs typeface="Libre Baskerville" pitchFamily="34" charset="-120"/>
              </a:rPr>
              <a:t>Complete Government Value Ecosystem</a:t>
            </a:r>
            <a:endParaRPr lang="en-US" sz="2500" dirty="0"/>
          </a:p>
        </p:txBody>
      </p:sp>
      <p:sp>
        <p:nvSpPr>
          <p:cNvPr id="5" name="Text 2"/>
          <p:cNvSpPr/>
          <p:nvPr/>
        </p:nvSpPr>
        <p:spPr>
          <a:xfrm>
            <a:off x="742950" y="2042874"/>
            <a:ext cx="5519976" cy="339328"/>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Libre Baskerville" pitchFamily="34" charset="0"/>
                <a:ea typeface="Libre Baskerville" pitchFamily="34" charset="-122"/>
                <a:cs typeface="Libre Baskerville" pitchFamily="34" charset="-120"/>
              </a:rPr>
              <a:t>🎓</a:t>
            </a:r>
            <a:r>
              <a:rPr lang="en-US" sz="2050" dirty="0">
                <a:solidFill>
                  <a:srgbClr val="5C4E3D"/>
                </a:solidFill>
                <a:latin typeface="Libre Baskerville" pitchFamily="34" charset="0"/>
                <a:ea typeface="Libre Baskerville" pitchFamily="34" charset="-122"/>
                <a:cs typeface="Libre Baskerville" pitchFamily="34" charset="-120"/>
              </a:rPr>
              <a:t> National Student Information System</a:t>
            </a:r>
            <a:endParaRPr lang="en-US" sz="2050" dirty="0"/>
          </a:p>
        </p:txBody>
      </p:sp>
      <p:sp>
        <p:nvSpPr>
          <p:cNvPr id="6" name="Text 3"/>
          <p:cNvSpPr/>
          <p:nvPr/>
        </p:nvSpPr>
        <p:spPr>
          <a:xfrm>
            <a:off x="742950" y="2700576"/>
            <a:ext cx="6120694" cy="679133"/>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Centralized student data supporting national education planning and information management.</a:t>
            </a:r>
            <a:endParaRPr lang="en-US" sz="1650" dirty="0"/>
          </a:p>
        </p:txBody>
      </p:sp>
      <p:sp>
        <p:nvSpPr>
          <p:cNvPr id="7" name="Shape 4"/>
          <p:cNvSpPr/>
          <p:nvPr/>
        </p:nvSpPr>
        <p:spPr>
          <a:xfrm>
            <a:off x="742950" y="3618428"/>
            <a:ext cx="5928783" cy="2248972"/>
          </a:xfrm>
          <a:prstGeom prst="roundRect">
            <a:avLst>
              <a:gd name="adj" fmla="val 3964"/>
            </a:avLst>
          </a:prstGeom>
          <a:solidFill>
            <a:srgbClr val="F7EDD4"/>
          </a:solidFill>
          <a:ln w="7620">
            <a:solidFill>
              <a:srgbClr val="DDD3BA"/>
            </a:solidFill>
            <a:prstDash val="solid"/>
          </a:ln>
        </p:spPr>
      </p:sp>
      <p:sp>
        <p:nvSpPr>
          <p:cNvPr id="8" name="Text 5"/>
          <p:cNvSpPr/>
          <p:nvPr/>
        </p:nvSpPr>
        <p:spPr>
          <a:xfrm>
            <a:off x="962739" y="3838218"/>
            <a:ext cx="3283387" cy="663416"/>
          </a:xfrm>
          <a:prstGeom prst="rect">
            <a:avLst/>
          </a:prstGeom>
          <a:noFill/>
          <a:ln/>
        </p:spPr>
        <p:txBody>
          <a:bodyPr wrap="squar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National Student Database</a:t>
            </a:r>
            <a:endParaRPr lang="en-US" sz="2050" dirty="0"/>
          </a:p>
        </p:txBody>
      </p:sp>
      <p:sp>
        <p:nvSpPr>
          <p:cNvPr id="9" name="Text 6"/>
          <p:cNvSpPr/>
          <p:nvPr/>
        </p:nvSpPr>
        <p:spPr>
          <a:xfrm>
            <a:off x="962739" y="4628912"/>
            <a:ext cx="3283387" cy="1018699"/>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A central database tracks the complete academic lifecycle for every student.</a:t>
            </a:r>
            <a:endParaRPr lang="en-US" sz="1650" dirty="0"/>
          </a:p>
        </p:txBody>
      </p:sp>
      <p:sp>
        <p:nvSpPr>
          <p:cNvPr id="13" name="Shape 10"/>
          <p:cNvSpPr/>
          <p:nvPr/>
        </p:nvSpPr>
        <p:spPr>
          <a:xfrm>
            <a:off x="742950" y="6079569"/>
            <a:ext cx="5928783" cy="1577697"/>
          </a:xfrm>
          <a:prstGeom prst="roundRect">
            <a:avLst>
              <a:gd name="adj" fmla="val 5651"/>
            </a:avLst>
          </a:prstGeom>
          <a:solidFill>
            <a:srgbClr val="F7EDD4"/>
          </a:solidFill>
          <a:ln w="7620">
            <a:solidFill>
              <a:srgbClr val="DDD3BA"/>
            </a:solidFill>
            <a:prstDash val="solid"/>
          </a:ln>
        </p:spPr>
      </p:sp>
      <p:sp>
        <p:nvSpPr>
          <p:cNvPr id="14" name="Text 11"/>
          <p:cNvSpPr/>
          <p:nvPr/>
        </p:nvSpPr>
        <p:spPr>
          <a:xfrm>
            <a:off x="962739" y="6299359"/>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454240"/>
                </a:solidFill>
                <a:latin typeface="Libre Baskerville" pitchFamily="34" charset="0"/>
                <a:ea typeface="Libre Baskerville" pitchFamily="34" charset="-122"/>
                <a:cs typeface="Libre Baskerville" pitchFamily="34" charset="-120"/>
              </a:rPr>
              <a:t>Strategic Analytics</a:t>
            </a:r>
            <a:endParaRPr lang="en-US" sz="2050" dirty="0"/>
          </a:p>
        </p:txBody>
      </p:sp>
      <p:sp>
        <p:nvSpPr>
          <p:cNvPr id="15" name="Text 12"/>
          <p:cNvSpPr/>
          <p:nvPr/>
        </p:nvSpPr>
        <p:spPr>
          <a:xfrm>
            <a:off x="962740" y="6758345"/>
            <a:ext cx="5300186" cy="679133"/>
          </a:xfrm>
          <a:prstGeom prst="rect">
            <a:avLst/>
          </a:prstGeom>
          <a:noFill/>
          <a:ln/>
        </p:spPr>
        <p:txBody>
          <a:bodyPr wrap="square" lIns="0" tIns="0" rIns="0" bIns="0" rtlCol="0" anchor="t"/>
          <a:lstStyle/>
          <a:p>
            <a:pPr marL="0" indent="0" algn="l">
              <a:lnSpc>
                <a:spcPts val="2650"/>
              </a:lnSpc>
              <a:buNone/>
            </a:pPr>
            <a:r>
              <a:rPr lang="en-US" sz="1650" dirty="0">
                <a:solidFill>
                  <a:srgbClr val="454240"/>
                </a:solidFill>
                <a:latin typeface="DM Sans" pitchFamily="34" charset="0"/>
                <a:ea typeface="DM Sans" pitchFamily="34" charset="-122"/>
                <a:cs typeface="DM Sans" pitchFamily="34" charset="-120"/>
              </a:rPr>
              <a:t>Provides national data for evidence-based education policy and planning.</a:t>
            </a:r>
            <a:endParaRPr lang="en-US" sz="1650" dirty="0"/>
          </a:p>
        </p:txBody>
      </p:sp>
      <p:pic>
        <p:nvPicPr>
          <p:cNvPr id="17" name="Picture 16">
            <a:extLst>
              <a:ext uri="{FF2B5EF4-FFF2-40B4-BE49-F238E27FC236}">
                <a16:creationId xmlns:a16="http://schemas.microsoft.com/office/drawing/2014/main" id="{EA86BB2E-47BB-7373-C7F8-4842A682B697}"/>
              </a:ext>
            </a:extLst>
          </p:cNvPr>
          <p:cNvPicPr>
            <a:picLocks noChangeAspect="1"/>
          </p:cNvPicPr>
          <p:nvPr/>
        </p:nvPicPr>
        <p:blipFill>
          <a:blip r:embed="rId3"/>
          <a:stretch>
            <a:fillRect/>
          </a:stretch>
        </p:blipFill>
        <p:spPr>
          <a:xfrm>
            <a:off x="7008324" y="2090245"/>
            <a:ext cx="7065071" cy="3638085"/>
          </a:xfrm>
          <a:prstGeom prst="rect">
            <a:avLst/>
          </a:prstGeom>
        </p:spPr>
      </p:pic>
      <p:sp>
        <p:nvSpPr>
          <p:cNvPr id="18" name="Shape 10">
            <a:extLst>
              <a:ext uri="{FF2B5EF4-FFF2-40B4-BE49-F238E27FC236}">
                <a16:creationId xmlns:a16="http://schemas.microsoft.com/office/drawing/2014/main" id="{87648B69-A668-2E17-244E-12894C461327}"/>
              </a:ext>
            </a:extLst>
          </p:cNvPr>
          <p:cNvSpPr/>
          <p:nvPr/>
        </p:nvSpPr>
        <p:spPr>
          <a:xfrm>
            <a:off x="7008324" y="6079569"/>
            <a:ext cx="7065071" cy="1577697"/>
          </a:xfrm>
          <a:prstGeom prst="roundRect">
            <a:avLst>
              <a:gd name="adj" fmla="val 5651"/>
            </a:avLst>
          </a:prstGeom>
          <a:solidFill>
            <a:srgbClr val="F7EDD4"/>
          </a:solidFill>
          <a:ln w="7620">
            <a:solidFill>
              <a:srgbClr val="DDD3BA"/>
            </a:solidFill>
            <a:prstDash val="solid"/>
          </a:ln>
        </p:spPr>
      </p:sp>
      <p:sp>
        <p:nvSpPr>
          <p:cNvPr id="19" name="Text 11">
            <a:extLst>
              <a:ext uri="{FF2B5EF4-FFF2-40B4-BE49-F238E27FC236}">
                <a16:creationId xmlns:a16="http://schemas.microsoft.com/office/drawing/2014/main" id="{DA41264D-6B01-4425-4B68-0094C373654E}"/>
              </a:ext>
            </a:extLst>
          </p:cNvPr>
          <p:cNvSpPr/>
          <p:nvPr/>
        </p:nvSpPr>
        <p:spPr>
          <a:xfrm>
            <a:off x="7228113" y="6299359"/>
            <a:ext cx="2653427" cy="331708"/>
          </a:xfrm>
          <a:prstGeom prst="rect">
            <a:avLst/>
          </a:prstGeom>
          <a:noFill/>
          <a:ln/>
        </p:spPr>
        <p:txBody>
          <a:bodyPr wrap="none" lIns="0" tIns="0" rIns="0" bIns="0" rtlCol="0" anchor="t"/>
          <a:lstStyle/>
          <a:p>
            <a:pPr>
              <a:lnSpc>
                <a:spcPts val="2600"/>
              </a:lnSpc>
            </a:pPr>
            <a:r>
              <a:rPr lang="en-US" sz="2050" dirty="0">
                <a:solidFill>
                  <a:srgbClr val="454240"/>
                </a:solidFill>
                <a:latin typeface="Libre Baskerville" pitchFamily="34" charset="0"/>
                <a:ea typeface="Libre Baskerville" pitchFamily="34" charset="-122"/>
                <a:cs typeface="Libre Baskerville" pitchFamily="34" charset="-120"/>
              </a:rPr>
              <a:t>Centralized Student Oversight</a:t>
            </a:r>
            <a:endParaRPr lang="en-US" sz="2050" dirty="0"/>
          </a:p>
        </p:txBody>
      </p:sp>
      <p:sp>
        <p:nvSpPr>
          <p:cNvPr id="20" name="Text 12">
            <a:extLst>
              <a:ext uri="{FF2B5EF4-FFF2-40B4-BE49-F238E27FC236}">
                <a16:creationId xmlns:a16="http://schemas.microsoft.com/office/drawing/2014/main" id="{7F1CA3F9-2056-AF16-C529-A4C39FCD2830}"/>
              </a:ext>
            </a:extLst>
          </p:cNvPr>
          <p:cNvSpPr/>
          <p:nvPr/>
        </p:nvSpPr>
        <p:spPr>
          <a:xfrm>
            <a:off x="7228114" y="6758345"/>
            <a:ext cx="5810594" cy="679133"/>
          </a:xfrm>
          <a:prstGeom prst="rect">
            <a:avLst/>
          </a:prstGeom>
          <a:noFill/>
          <a:ln/>
        </p:spPr>
        <p:txBody>
          <a:bodyPr wrap="square" lIns="0" tIns="0" rIns="0" bIns="0" rtlCol="0" anchor="t"/>
          <a:lstStyle/>
          <a:p>
            <a:pPr>
              <a:lnSpc>
                <a:spcPts val="2650"/>
              </a:lnSpc>
            </a:pPr>
            <a:r>
              <a:rPr lang="en-US" sz="1650" dirty="0">
                <a:solidFill>
                  <a:srgbClr val="454240"/>
                </a:solidFill>
                <a:latin typeface="DM Sans" pitchFamily="34" charset="0"/>
                <a:ea typeface="DM Sans" pitchFamily="34" charset="-122"/>
                <a:cs typeface="DM Sans" pitchFamily="34" charset="-120"/>
              </a:rPr>
              <a:t>Manages student academic progression and status changes on a national scale.</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8669" y="611862"/>
            <a:ext cx="4436388" cy="417076"/>
          </a:xfrm>
          <a:prstGeom prst="rect">
            <a:avLst/>
          </a:prstGeom>
          <a:noFill/>
          <a:ln/>
        </p:spPr>
        <p:txBody>
          <a:bodyPr wrap="none" lIns="0" tIns="0" rIns="0" bIns="0" rtlCol="0" anchor="t"/>
          <a:lstStyle/>
          <a:p>
            <a:pPr marL="0" indent="0" algn="l">
              <a:lnSpc>
                <a:spcPts val="3250"/>
              </a:lnSpc>
              <a:buNone/>
            </a:pPr>
            <a:r>
              <a:rPr lang="en-US" sz="2600" dirty="0">
                <a:solidFill>
                  <a:srgbClr val="5C4E3D"/>
                </a:solidFill>
                <a:latin typeface="Libre Baskerville" pitchFamily="34" charset="0"/>
                <a:ea typeface="Libre Baskerville" pitchFamily="34" charset="-122"/>
                <a:cs typeface="Libre Baskerville" pitchFamily="34" charset="-120"/>
              </a:rPr>
              <a:t>4. Key Features &amp; Benefits</a:t>
            </a:r>
            <a:endParaRPr lang="en-US" sz="2600" dirty="0"/>
          </a:p>
        </p:txBody>
      </p:sp>
      <p:sp>
        <p:nvSpPr>
          <p:cNvPr id="3" name="Text 1"/>
          <p:cNvSpPr/>
          <p:nvPr/>
        </p:nvSpPr>
        <p:spPr>
          <a:xfrm>
            <a:off x="778669" y="1195745"/>
            <a:ext cx="5176838" cy="312777"/>
          </a:xfrm>
          <a:prstGeom prst="rect">
            <a:avLst/>
          </a:prstGeom>
          <a:noFill/>
          <a:ln/>
        </p:spPr>
        <p:txBody>
          <a:bodyPr wrap="none" lIns="0" tIns="0" rIns="0" bIns="0" rtlCol="0" anchor="t"/>
          <a:lstStyle/>
          <a:p>
            <a:pPr marL="0" indent="0" algn="l">
              <a:lnSpc>
                <a:spcPts val="2450"/>
              </a:lnSpc>
              <a:buNone/>
            </a:pPr>
            <a:r>
              <a:rPr lang="en-US" sz="1950" dirty="0">
                <a:solidFill>
                  <a:srgbClr val="5C4E3D"/>
                </a:solidFill>
                <a:latin typeface="Libre Baskerville" pitchFamily="34" charset="0"/>
                <a:ea typeface="Libre Baskerville" pitchFamily="34" charset="-122"/>
                <a:cs typeface="Libre Baskerville" pitchFamily="34" charset="-120"/>
              </a:rPr>
              <a:t>Complete Government Value Ecosystem</a:t>
            </a:r>
            <a:endParaRPr lang="en-US" sz="1950" dirty="0"/>
          </a:p>
        </p:txBody>
      </p:sp>
      <p:sp>
        <p:nvSpPr>
          <p:cNvPr id="5" name="Text 2"/>
          <p:cNvSpPr/>
          <p:nvPr/>
        </p:nvSpPr>
        <p:spPr>
          <a:xfrm>
            <a:off x="778669" y="2046497"/>
            <a:ext cx="5101471" cy="268367"/>
          </a:xfrm>
          <a:prstGeom prst="rect">
            <a:avLst/>
          </a:prstGeom>
          <a:noFill/>
          <a:ln/>
        </p:spPr>
        <p:txBody>
          <a:bodyPr wrap="none" lIns="0" tIns="0" rIns="0" bIns="0" rtlCol="0" anchor="t"/>
          <a:lstStyle/>
          <a:p>
            <a:pPr marL="0" indent="0" algn="l">
              <a:lnSpc>
                <a:spcPts val="2050"/>
              </a:lnSpc>
              <a:buNone/>
            </a:pPr>
            <a:r>
              <a:rPr lang="en-US" sz="1600" dirty="0">
                <a:solidFill>
                  <a:srgbClr val="000000"/>
                </a:solidFill>
                <a:latin typeface="Libre Baskerville" pitchFamily="34" charset="0"/>
                <a:ea typeface="Libre Baskerville" pitchFamily="34" charset="-122"/>
                <a:cs typeface="Libre Baskerville" pitchFamily="34" charset="-120"/>
              </a:rPr>
              <a:t>🔬</a:t>
            </a:r>
            <a:r>
              <a:rPr lang="en-US" sz="1600" dirty="0">
                <a:solidFill>
                  <a:srgbClr val="5C4E3D"/>
                </a:solidFill>
                <a:latin typeface="Libre Baskerville" pitchFamily="34" charset="0"/>
                <a:ea typeface="Libre Baskerville" pitchFamily="34" charset="-122"/>
                <a:cs typeface="Libre Baskerville" pitchFamily="34" charset="-120"/>
              </a:rPr>
              <a:t> National Research Information Management</a:t>
            </a:r>
            <a:endParaRPr lang="en-US" sz="1600" dirty="0"/>
          </a:p>
        </p:txBody>
      </p:sp>
      <p:sp>
        <p:nvSpPr>
          <p:cNvPr id="6" name="Text 3"/>
          <p:cNvSpPr/>
          <p:nvPr/>
        </p:nvSpPr>
        <p:spPr>
          <a:xfrm>
            <a:off x="778669" y="2481670"/>
            <a:ext cx="6333053" cy="534114"/>
          </a:xfrm>
          <a:prstGeom prst="rect">
            <a:avLst/>
          </a:prstGeom>
          <a:noFill/>
          <a:ln/>
        </p:spPr>
        <p:txBody>
          <a:bodyPr wrap="square" lIns="0" tIns="0" rIns="0" bIns="0" rtlCol="0" anchor="t"/>
          <a:lstStyle/>
          <a:p>
            <a:pPr marL="0" indent="0" algn="l">
              <a:lnSpc>
                <a:spcPts val="2100"/>
              </a:lnSpc>
              <a:buNone/>
            </a:pPr>
            <a:r>
              <a:rPr lang="en-US" sz="1600" dirty="0">
                <a:solidFill>
                  <a:srgbClr val="454240"/>
                </a:solidFill>
                <a:latin typeface="DM Sans" pitchFamily="34" charset="0"/>
                <a:ea typeface="DM Sans" pitchFamily="34" charset="-122"/>
                <a:cs typeface="DM Sans" pitchFamily="34" charset="-120"/>
              </a:rPr>
              <a:t>Centralized research data supporting national innovation planning and quality monitoring.</a:t>
            </a:r>
            <a:endParaRPr lang="en-US" sz="1600" dirty="0"/>
          </a:p>
        </p:txBody>
      </p:sp>
      <p:sp>
        <p:nvSpPr>
          <p:cNvPr id="7" name="Shape 4"/>
          <p:cNvSpPr/>
          <p:nvPr/>
        </p:nvSpPr>
        <p:spPr>
          <a:xfrm>
            <a:off x="7526298" y="3082528"/>
            <a:ext cx="6333053" cy="1341001"/>
          </a:xfrm>
          <a:prstGeom prst="roundRect">
            <a:avLst>
              <a:gd name="adj" fmla="val 5227"/>
            </a:avLst>
          </a:prstGeom>
          <a:solidFill>
            <a:srgbClr val="FFFDFA"/>
          </a:solidFill>
          <a:ln w="22860">
            <a:solidFill>
              <a:srgbClr val="DDD3BA"/>
            </a:solidFill>
            <a:prstDash val="solid"/>
          </a:ln>
        </p:spPr>
      </p:sp>
      <p:sp>
        <p:nvSpPr>
          <p:cNvPr id="8" name="Text 5"/>
          <p:cNvSpPr/>
          <p:nvPr/>
        </p:nvSpPr>
        <p:spPr>
          <a:xfrm>
            <a:off x="7715964" y="3272195"/>
            <a:ext cx="2951440" cy="260747"/>
          </a:xfrm>
          <a:prstGeom prst="rect">
            <a:avLst/>
          </a:prstGeom>
          <a:noFill/>
          <a:ln/>
        </p:spPr>
        <p:txBody>
          <a:bodyPr wrap="none" lIns="0" tIns="0" rIns="0" bIns="0" rtlCol="0" anchor="t"/>
          <a:lstStyle/>
          <a:p>
            <a:pPr marL="0" indent="0" algn="l">
              <a:lnSpc>
                <a:spcPts val="2050"/>
              </a:lnSpc>
              <a:buNone/>
            </a:pPr>
            <a:r>
              <a:rPr lang="en-US" sz="1600" dirty="0">
                <a:solidFill>
                  <a:srgbClr val="454240"/>
                </a:solidFill>
                <a:latin typeface="Libre Baskerville" pitchFamily="34" charset="0"/>
                <a:ea typeface="Libre Baskerville" pitchFamily="34" charset="-122"/>
                <a:cs typeface="Libre Baskerville" pitchFamily="34" charset="-120"/>
              </a:rPr>
              <a:t>National Research Database</a:t>
            </a:r>
            <a:endParaRPr lang="en-US" sz="1600" dirty="0"/>
          </a:p>
        </p:txBody>
      </p:sp>
      <p:sp>
        <p:nvSpPr>
          <p:cNvPr id="9" name="Text 6"/>
          <p:cNvSpPr/>
          <p:nvPr/>
        </p:nvSpPr>
        <p:spPr>
          <a:xfrm>
            <a:off x="7715964" y="3699748"/>
            <a:ext cx="5953720" cy="534114"/>
          </a:xfrm>
          <a:prstGeom prst="rect">
            <a:avLst/>
          </a:prstGeom>
          <a:noFill/>
          <a:ln/>
        </p:spPr>
        <p:txBody>
          <a:bodyPr wrap="square" lIns="0" tIns="0" rIns="0" bIns="0" rtlCol="0" anchor="t"/>
          <a:lstStyle/>
          <a:p>
            <a:pPr marL="0" indent="0" algn="l">
              <a:lnSpc>
                <a:spcPts val="2100"/>
              </a:lnSpc>
              <a:buNone/>
            </a:pPr>
            <a:r>
              <a:rPr lang="en-US" sz="1600" dirty="0">
                <a:solidFill>
                  <a:srgbClr val="454240"/>
                </a:solidFill>
                <a:latin typeface="DM Sans" pitchFamily="34" charset="0"/>
                <a:ea typeface="DM Sans" pitchFamily="34" charset="-122"/>
                <a:cs typeface="DM Sans" pitchFamily="34" charset="-120"/>
              </a:rPr>
              <a:t>A central registry of all research projects, publications, researchers, and infrastructure.</a:t>
            </a:r>
            <a:endParaRPr lang="en-US" sz="1600" dirty="0"/>
          </a:p>
        </p:txBody>
      </p:sp>
      <p:sp>
        <p:nvSpPr>
          <p:cNvPr id="10" name="Shape 7"/>
          <p:cNvSpPr/>
          <p:nvPr/>
        </p:nvSpPr>
        <p:spPr>
          <a:xfrm>
            <a:off x="7526298" y="4590336"/>
            <a:ext cx="6333053" cy="1341001"/>
          </a:xfrm>
          <a:prstGeom prst="roundRect">
            <a:avLst>
              <a:gd name="adj" fmla="val 5227"/>
            </a:avLst>
          </a:prstGeom>
          <a:solidFill>
            <a:srgbClr val="FFFDFA"/>
          </a:solidFill>
          <a:ln w="22860">
            <a:solidFill>
              <a:srgbClr val="DDD3BA"/>
            </a:solidFill>
            <a:prstDash val="solid"/>
          </a:ln>
        </p:spPr>
      </p:sp>
      <p:sp>
        <p:nvSpPr>
          <p:cNvPr id="11" name="Text 8"/>
          <p:cNvSpPr/>
          <p:nvPr/>
        </p:nvSpPr>
        <p:spPr>
          <a:xfrm>
            <a:off x="7715964" y="4780002"/>
            <a:ext cx="2899172" cy="260747"/>
          </a:xfrm>
          <a:prstGeom prst="rect">
            <a:avLst/>
          </a:prstGeom>
          <a:noFill/>
          <a:ln/>
        </p:spPr>
        <p:txBody>
          <a:bodyPr wrap="none" lIns="0" tIns="0" rIns="0" bIns="0" rtlCol="0" anchor="t"/>
          <a:lstStyle/>
          <a:p>
            <a:pPr marL="0" indent="0" algn="l">
              <a:lnSpc>
                <a:spcPts val="2050"/>
              </a:lnSpc>
              <a:buNone/>
            </a:pPr>
            <a:r>
              <a:rPr lang="en-US" sz="1600" dirty="0">
                <a:solidFill>
                  <a:srgbClr val="454240"/>
                </a:solidFill>
                <a:latin typeface="Libre Baskerville" pitchFamily="34" charset="0"/>
                <a:ea typeface="Libre Baskerville" pitchFamily="34" charset="-122"/>
                <a:cs typeface="Libre Baskerville" pitchFamily="34" charset="-120"/>
              </a:rPr>
              <a:t>Tracking Research Outputs</a:t>
            </a:r>
            <a:endParaRPr lang="en-US" sz="1600" dirty="0"/>
          </a:p>
        </p:txBody>
      </p:sp>
      <p:sp>
        <p:nvSpPr>
          <p:cNvPr id="12" name="Text 9"/>
          <p:cNvSpPr/>
          <p:nvPr/>
        </p:nvSpPr>
        <p:spPr>
          <a:xfrm>
            <a:off x="7715964" y="5207556"/>
            <a:ext cx="5953720" cy="534114"/>
          </a:xfrm>
          <a:prstGeom prst="rect">
            <a:avLst/>
          </a:prstGeom>
          <a:noFill/>
          <a:ln/>
        </p:spPr>
        <p:txBody>
          <a:bodyPr wrap="square" lIns="0" tIns="0" rIns="0" bIns="0" rtlCol="0" anchor="t"/>
          <a:lstStyle/>
          <a:p>
            <a:pPr marL="0" indent="0" algn="l">
              <a:lnSpc>
                <a:spcPts val="2100"/>
              </a:lnSpc>
              <a:buNone/>
            </a:pPr>
            <a:r>
              <a:rPr lang="en-US" sz="1600" dirty="0">
                <a:solidFill>
                  <a:srgbClr val="454240"/>
                </a:solidFill>
                <a:latin typeface="DM Sans" pitchFamily="34" charset="0"/>
                <a:ea typeface="DM Sans" pitchFamily="34" charset="-122"/>
                <a:cs typeface="DM Sans" pitchFamily="34" charset="-120"/>
              </a:rPr>
              <a:t>Monitors all key research results, including articles, books, conference papers, and research products.</a:t>
            </a:r>
            <a:endParaRPr lang="en-US" sz="1600" dirty="0"/>
          </a:p>
        </p:txBody>
      </p:sp>
      <p:sp>
        <p:nvSpPr>
          <p:cNvPr id="13" name="Shape 10"/>
          <p:cNvSpPr/>
          <p:nvPr/>
        </p:nvSpPr>
        <p:spPr>
          <a:xfrm>
            <a:off x="7526298" y="6098143"/>
            <a:ext cx="6333053" cy="1341001"/>
          </a:xfrm>
          <a:prstGeom prst="roundRect">
            <a:avLst>
              <a:gd name="adj" fmla="val 5227"/>
            </a:avLst>
          </a:prstGeom>
          <a:solidFill>
            <a:srgbClr val="FFFDFA"/>
          </a:solidFill>
          <a:ln w="22860">
            <a:solidFill>
              <a:srgbClr val="DDD3BA"/>
            </a:solidFill>
            <a:prstDash val="solid"/>
          </a:ln>
        </p:spPr>
      </p:sp>
      <p:sp>
        <p:nvSpPr>
          <p:cNvPr id="14" name="Text 11"/>
          <p:cNvSpPr/>
          <p:nvPr/>
        </p:nvSpPr>
        <p:spPr>
          <a:xfrm>
            <a:off x="7715964" y="6287810"/>
            <a:ext cx="3182660" cy="260747"/>
          </a:xfrm>
          <a:prstGeom prst="rect">
            <a:avLst/>
          </a:prstGeom>
          <a:noFill/>
          <a:ln/>
        </p:spPr>
        <p:txBody>
          <a:bodyPr wrap="none" lIns="0" tIns="0" rIns="0" bIns="0" rtlCol="0" anchor="t"/>
          <a:lstStyle/>
          <a:p>
            <a:pPr marL="0" indent="0" algn="l">
              <a:lnSpc>
                <a:spcPts val="2050"/>
              </a:lnSpc>
              <a:buNone/>
            </a:pPr>
            <a:r>
              <a:rPr lang="en-US" sz="1600" dirty="0">
                <a:solidFill>
                  <a:srgbClr val="454240"/>
                </a:solidFill>
                <a:latin typeface="Libre Baskerville" pitchFamily="34" charset="0"/>
                <a:ea typeface="Libre Baskerville" pitchFamily="34" charset="-122"/>
                <a:cs typeface="Libre Baskerville" pitchFamily="34" charset="-120"/>
              </a:rPr>
              <a:t>Strategic Innovation Planning</a:t>
            </a:r>
            <a:endParaRPr lang="en-US" sz="1600" dirty="0"/>
          </a:p>
        </p:txBody>
      </p:sp>
      <p:sp>
        <p:nvSpPr>
          <p:cNvPr id="15" name="Text 12"/>
          <p:cNvSpPr/>
          <p:nvPr/>
        </p:nvSpPr>
        <p:spPr>
          <a:xfrm>
            <a:off x="7715964" y="6715363"/>
            <a:ext cx="5953720" cy="534114"/>
          </a:xfrm>
          <a:prstGeom prst="rect">
            <a:avLst/>
          </a:prstGeom>
          <a:noFill/>
          <a:ln/>
        </p:spPr>
        <p:txBody>
          <a:bodyPr wrap="square" lIns="0" tIns="0" rIns="0" bIns="0" rtlCol="0" anchor="t"/>
          <a:lstStyle/>
          <a:p>
            <a:pPr marL="0" indent="0" algn="l">
              <a:lnSpc>
                <a:spcPts val="2100"/>
              </a:lnSpc>
              <a:buNone/>
            </a:pPr>
            <a:r>
              <a:rPr lang="en-US" sz="1600" dirty="0">
                <a:solidFill>
                  <a:srgbClr val="454240"/>
                </a:solidFill>
                <a:latin typeface="DM Sans" pitchFamily="34" charset="0"/>
                <a:ea typeface="DM Sans" pitchFamily="34" charset="-122"/>
                <a:cs typeface="DM Sans" pitchFamily="34" charset="-120"/>
              </a:rPr>
              <a:t>Provides national-level data to guide strategic funding allocation and foster innovation.</a:t>
            </a:r>
            <a:endParaRPr lang="en-US" sz="1600" dirty="0"/>
          </a:p>
        </p:txBody>
      </p:sp>
      <p:pic>
        <p:nvPicPr>
          <p:cNvPr id="17" name="Picture 16">
            <a:extLst>
              <a:ext uri="{FF2B5EF4-FFF2-40B4-BE49-F238E27FC236}">
                <a16:creationId xmlns:a16="http://schemas.microsoft.com/office/drawing/2014/main" id="{1E167111-DE6B-4B2C-5B3E-D95667C7EB32}"/>
              </a:ext>
            </a:extLst>
          </p:cNvPr>
          <p:cNvPicPr>
            <a:picLocks noChangeAspect="1"/>
          </p:cNvPicPr>
          <p:nvPr/>
        </p:nvPicPr>
        <p:blipFill>
          <a:blip r:embed="rId3"/>
          <a:stretch>
            <a:fillRect/>
          </a:stretch>
        </p:blipFill>
        <p:spPr>
          <a:xfrm>
            <a:off x="778670" y="3288012"/>
            <a:ext cx="6595376" cy="41511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91647" y="621983"/>
            <a:ext cx="5112544" cy="480655"/>
          </a:xfrm>
          <a:prstGeom prst="rect">
            <a:avLst/>
          </a:prstGeom>
          <a:noFill/>
          <a:ln/>
        </p:spPr>
        <p:txBody>
          <a:bodyPr wrap="none" lIns="0" tIns="0" rIns="0" bIns="0" rtlCol="0" anchor="t"/>
          <a:lstStyle/>
          <a:p>
            <a:pPr marL="0" indent="0" algn="l">
              <a:lnSpc>
                <a:spcPts val="3750"/>
              </a:lnSpc>
              <a:buNone/>
            </a:pPr>
            <a:r>
              <a:rPr lang="en-US" sz="3000" dirty="0">
                <a:solidFill>
                  <a:srgbClr val="5C4E3D"/>
                </a:solidFill>
                <a:latin typeface="Libre Baskerville" pitchFamily="34" charset="0"/>
                <a:ea typeface="Libre Baskerville" pitchFamily="34" charset="-122"/>
                <a:cs typeface="Libre Baskerville" pitchFamily="34" charset="-120"/>
              </a:rPr>
              <a:t>4. Key Features &amp; Benefits</a:t>
            </a:r>
            <a:endParaRPr lang="en-US" sz="3000" dirty="0"/>
          </a:p>
        </p:txBody>
      </p:sp>
      <p:sp>
        <p:nvSpPr>
          <p:cNvPr id="4" name="Text 1"/>
          <p:cNvSpPr/>
          <p:nvPr/>
        </p:nvSpPr>
        <p:spPr>
          <a:xfrm>
            <a:off x="791647" y="1294805"/>
            <a:ext cx="5965388" cy="360402"/>
          </a:xfrm>
          <a:prstGeom prst="rect">
            <a:avLst/>
          </a:prstGeom>
          <a:noFill/>
          <a:ln/>
        </p:spPr>
        <p:txBody>
          <a:bodyPr wrap="none" lIns="0" tIns="0" rIns="0" bIns="0" rtlCol="0" anchor="t"/>
          <a:lstStyle/>
          <a:p>
            <a:pPr marL="0" indent="0" algn="l">
              <a:lnSpc>
                <a:spcPts val="2800"/>
              </a:lnSpc>
              <a:buNone/>
            </a:pPr>
            <a:r>
              <a:rPr lang="en-US" sz="2250" dirty="0">
                <a:solidFill>
                  <a:srgbClr val="5C4E3D"/>
                </a:solidFill>
                <a:latin typeface="Libre Baskerville" pitchFamily="34" charset="0"/>
                <a:ea typeface="Libre Baskerville" pitchFamily="34" charset="-122"/>
                <a:cs typeface="Libre Baskerville" pitchFamily="34" charset="-120"/>
              </a:rPr>
              <a:t>Complete Government Value Ecosystem</a:t>
            </a:r>
            <a:endParaRPr lang="en-US" sz="2250" dirty="0"/>
          </a:p>
        </p:txBody>
      </p:sp>
      <p:sp>
        <p:nvSpPr>
          <p:cNvPr id="5" name="Text 2"/>
          <p:cNvSpPr/>
          <p:nvPr/>
        </p:nvSpPr>
        <p:spPr>
          <a:xfrm>
            <a:off x="791647" y="1943576"/>
            <a:ext cx="6450568" cy="300395"/>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Libre Baskerville" pitchFamily="34" charset="0"/>
                <a:ea typeface="Libre Baskerville" pitchFamily="34" charset="-122"/>
                <a:cs typeface="Libre Baskerville" pitchFamily="34" charset="-120"/>
              </a:rPr>
              <a:t>📊</a:t>
            </a:r>
            <a:r>
              <a:rPr lang="en-US" sz="1850" dirty="0">
                <a:solidFill>
                  <a:srgbClr val="5C4E3D"/>
                </a:solidFill>
                <a:latin typeface="Libre Baskerville" pitchFamily="34" charset="0"/>
                <a:ea typeface="Libre Baskerville" pitchFamily="34" charset="-122"/>
                <a:cs typeface="Libre Baskerville" pitchFamily="34" charset="-120"/>
              </a:rPr>
              <a:t> National Education Analytics &amp; Reporting Engine</a:t>
            </a:r>
            <a:endParaRPr lang="en-US" sz="1850" dirty="0"/>
          </a:p>
        </p:txBody>
      </p:sp>
      <p:sp>
        <p:nvSpPr>
          <p:cNvPr id="6" name="Text 3"/>
          <p:cNvSpPr/>
          <p:nvPr/>
        </p:nvSpPr>
        <p:spPr>
          <a:xfrm>
            <a:off x="791647" y="2532340"/>
            <a:ext cx="7560707" cy="615315"/>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Comprehensive analytics supporting evidence-based decision-making and sector planning.</a:t>
            </a:r>
            <a:endParaRPr lang="en-US" sz="1500" dirty="0"/>
          </a:p>
        </p:txBody>
      </p:sp>
      <p:pic>
        <p:nvPicPr>
          <p:cNvPr id="7" name="Image 1" descr="preencoded.png"/>
          <p:cNvPicPr>
            <a:picLocks noChangeAspect="1"/>
          </p:cNvPicPr>
          <p:nvPr/>
        </p:nvPicPr>
        <p:blipFill>
          <a:blip r:embed="rId3"/>
          <a:stretch>
            <a:fillRect/>
          </a:stretch>
        </p:blipFill>
        <p:spPr>
          <a:xfrm>
            <a:off x="791647" y="3363873"/>
            <a:ext cx="961311" cy="1415296"/>
          </a:xfrm>
          <a:prstGeom prst="rect">
            <a:avLst/>
          </a:prstGeom>
        </p:spPr>
      </p:pic>
      <p:sp>
        <p:nvSpPr>
          <p:cNvPr id="8" name="Text 4"/>
          <p:cNvSpPr/>
          <p:nvPr/>
        </p:nvSpPr>
        <p:spPr>
          <a:xfrm>
            <a:off x="1945124" y="3556040"/>
            <a:ext cx="3547110" cy="300395"/>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Real-Time Sector Dashboard</a:t>
            </a:r>
            <a:endParaRPr lang="en-US" sz="1850" dirty="0"/>
          </a:p>
        </p:txBody>
      </p:sp>
      <p:sp>
        <p:nvSpPr>
          <p:cNvPr id="9" name="Text 5"/>
          <p:cNvSpPr/>
          <p:nvPr/>
        </p:nvSpPr>
        <p:spPr>
          <a:xfrm>
            <a:off x="1945124" y="3971687"/>
            <a:ext cx="4811911" cy="615315"/>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Visualize key performance metrics for the entire education sector with interactive dashboards.</a:t>
            </a:r>
            <a:endParaRPr lang="en-US" sz="1500" dirty="0"/>
          </a:p>
        </p:txBody>
      </p:sp>
      <p:pic>
        <p:nvPicPr>
          <p:cNvPr id="10" name="Image 2" descr="preencoded.png"/>
          <p:cNvPicPr>
            <a:picLocks noChangeAspect="1"/>
          </p:cNvPicPr>
          <p:nvPr/>
        </p:nvPicPr>
        <p:blipFill>
          <a:blip r:embed="rId4"/>
          <a:stretch>
            <a:fillRect/>
          </a:stretch>
        </p:blipFill>
        <p:spPr>
          <a:xfrm>
            <a:off x="791647" y="4779169"/>
            <a:ext cx="961311" cy="1415296"/>
          </a:xfrm>
          <a:prstGeom prst="rect">
            <a:avLst/>
          </a:prstGeom>
        </p:spPr>
      </p:pic>
      <p:sp>
        <p:nvSpPr>
          <p:cNvPr id="11" name="Text 6"/>
          <p:cNvSpPr/>
          <p:nvPr/>
        </p:nvSpPr>
        <p:spPr>
          <a:xfrm>
            <a:off x="1945124" y="4971336"/>
            <a:ext cx="3269099" cy="300395"/>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Comprehensive Reporting</a:t>
            </a:r>
            <a:endParaRPr lang="en-US" sz="1850" dirty="0"/>
          </a:p>
        </p:txBody>
      </p:sp>
      <p:sp>
        <p:nvSpPr>
          <p:cNvPr id="12" name="Text 7"/>
          <p:cNvSpPr/>
          <p:nvPr/>
        </p:nvSpPr>
        <p:spPr>
          <a:xfrm>
            <a:off x="1945124" y="5386983"/>
            <a:ext cx="4811911" cy="615315"/>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A library of over 133 predefined reports covering students, staff, research, and quality assurance.</a:t>
            </a:r>
            <a:endParaRPr lang="en-US" sz="1500" dirty="0"/>
          </a:p>
        </p:txBody>
      </p:sp>
      <p:pic>
        <p:nvPicPr>
          <p:cNvPr id="13" name="Image 3" descr="preencoded.png"/>
          <p:cNvPicPr>
            <a:picLocks noChangeAspect="1"/>
          </p:cNvPicPr>
          <p:nvPr/>
        </p:nvPicPr>
        <p:blipFill>
          <a:blip r:embed="rId5"/>
          <a:stretch>
            <a:fillRect/>
          </a:stretch>
        </p:blipFill>
        <p:spPr>
          <a:xfrm>
            <a:off x="791647" y="6194465"/>
            <a:ext cx="961311" cy="1415296"/>
          </a:xfrm>
          <a:prstGeom prst="rect">
            <a:avLst/>
          </a:prstGeom>
        </p:spPr>
      </p:pic>
      <p:sp>
        <p:nvSpPr>
          <p:cNvPr id="14" name="Text 8"/>
          <p:cNvSpPr/>
          <p:nvPr/>
        </p:nvSpPr>
        <p:spPr>
          <a:xfrm>
            <a:off x="1945124" y="6386632"/>
            <a:ext cx="2988945" cy="300395"/>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Strategic Analytics Tools</a:t>
            </a:r>
            <a:endParaRPr lang="en-US" sz="1850" dirty="0"/>
          </a:p>
        </p:txBody>
      </p:sp>
      <p:sp>
        <p:nvSpPr>
          <p:cNvPr id="15" name="Text 9"/>
          <p:cNvSpPr/>
          <p:nvPr/>
        </p:nvSpPr>
        <p:spPr>
          <a:xfrm>
            <a:off x="1945125" y="6802279"/>
            <a:ext cx="5138582" cy="615315"/>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Utilize raw data exports, cross-institutional benchmarking, and predictive analytics for national planning.</a:t>
            </a:r>
            <a:endParaRPr lang="en-US" sz="1500" dirty="0"/>
          </a:p>
        </p:txBody>
      </p:sp>
      <p:pic>
        <p:nvPicPr>
          <p:cNvPr id="19" name="Picture 18">
            <a:extLst>
              <a:ext uri="{FF2B5EF4-FFF2-40B4-BE49-F238E27FC236}">
                <a16:creationId xmlns:a16="http://schemas.microsoft.com/office/drawing/2014/main" id="{30FC8978-5120-E7DC-59CC-EBC9A2682A99}"/>
              </a:ext>
            </a:extLst>
          </p:cNvPr>
          <p:cNvPicPr>
            <a:picLocks noChangeAspect="1"/>
          </p:cNvPicPr>
          <p:nvPr/>
        </p:nvPicPr>
        <p:blipFill>
          <a:blip r:embed="rId6"/>
          <a:stretch>
            <a:fillRect/>
          </a:stretch>
        </p:blipFill>
        <p:spPr>
          <a:xfrm>
            <a:off x="7315200" y="3149926"/>
            <a:ext cx="7074582" cy="452569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79490"/>
            <a:ext cx="7981831" cy="538758"/>
          </a:xfrm>
          <a:prstGeom prst="rect">
            <a:avLst/>
          </a:prstGeom>
          <a:noFill/>
          <a:ln/>
        </p:spPr>
        <p:txBody>
          <a:bodyPr wrap="none" lIns="0" tIns="0" rIns="0" bIns="0" rtlCol="0" anchor="t"/>
          <a:lstStyle/>
          <a:p>
            <a:pPr marL="0" indent="0" algn="l">
              <a:lnSpc>
                <a:spcPts val="4200"/>
              </a:lnSpc>
              <a:buNone/>
            </a:pPr>
            <a:r>
              <a:rPr lang="en-US" sz="3350" dirty="0">
                <a:solidFill>
                  <a:srgbClr val="5C4E3D"/>
                </a:solidFill>
                <a:latin typeface="Libre Baskerville" pitchFamily="34" charset="0"/>
                <a:ea typeface="Libre Baskerville" pitchFamily="34" charset="-122"/>
                <a:cs typeface="Libre Baskerville" pitchFamily="34" charset="-120"/>
              </a:rPr>
              <a:t>5. User Types &amp; Access Management</a:t>
            </a:r>
            <a:endParaRPr lang="en-US" sz="3350" dirty="0"/>
          </a:p>
        </p:txBody>
      </p:sp>
      <p:pic>
        <p:nvPicPr>
          <p:cNvPr id="3" name="Image 0" descr="preencoded.png"/>
          <p:cNvPicPr>
            <a:picLocks noChangeAspect="1"/>
          </p:cNvPicPr>
          <p:nvPr/>
        </p:nvPicPr>
        <p:blipFill>
          <a:blip r:embed="rId3"/>
          <a:stretch>
            <a:fillRect/>
          </a:stretch>
        </p:blipFill>
        <p:spPr>
          <a:xfrm>
            <a:off x="793790" y="2370831"/>
            <a:ext cx="4656415" cy="4656415"/>
          </a:xfrm>
          <a:prstGeom prst="rect">
            <a:avLst/>
          </a:prstGeom>
        </p:spPr>
      </p:pic>
      <p:sp>
        <p:nvSpPr>
          <p:cNvPr id="4" name="Text 1"/>
          <p:cNvSpPr/>
          <p:nvPr/>
        </p:nvSpPr>
        <p:spPr>
          <a:xfrm>
            <a:off x="6228755" y="1676043"/>
            <a:ext cx="3626287" cy="403979"/>
          </a:xfrm>
          <a:prstGeom prst="rect">
            <a:avLst/>
          </a:prstGeom>
          <a:noFill/>
          <a:ln/>
        </p:spPr>
        <p:txBody>
          <a:bodyPr wrap="none" lIns="0" tIns="0" rIns="0" bIns="0" rtlCol="0" anchor="t"/>
          <a:lstStyle/>
          <a:p>
            <a:pPr marL="0" indent="0" algn="l">
              <a:lnSpc>
                <a:spcPts val="3150"/>
              </a:lnSpc>
              <a:buNone/>
            </a:pPr>
            <a:r>
              <a:rPr lang="en-US" sz="2500" dirty="0">
                <a:solidFill>
                  <a:srgbClr val="B88E23"/>
                </a:solidFill>
                <a:latin typeface="Libre Baskerville" pitchFamily="34" charset="0"/>
                <a:ea typeface="Libre Baskerville" pitchFamily="34" charset="-122"/>
                <a:cs typeface="Libre Baskerville" pitchFamily="34" charset="-120"/>
              </a:rPr>
              <a:t>System Administrator</a:t>
            </a:r>
            <a:endParaRPr lang="en-US" sz="2500" dirty="0"/>
          </a:p>
        </p:txBody>
      </p:sp>
      <p:sp>
        <p:nvSpPr>
          <p:cNvPr id="5" name="Text 2"/>
          <p:cNvSpPr/>
          <p:nvPr/>
        </p:nvSpPr>
        <p:spPr>
          <a:xfrm>
            <a:off x="6228755" y="2295406"/>
            <a:ext cx="6330910" cy="336590"/>
          </a:xfrm>
          <a:prstGeom prst="rect">
            <a:avLst/>
          </a:prstGeom>
          <a:noFill/>
          <a:ln/>
        </p:spPr>
        <p:txBody>
          <a:bodyPr wrap="none" lIns="0" tIns="0" rIns="0" bIns="0" rtlCol="0" anchor="t"/>
          <a:lstStyle/>
          <a:p>
            <a:pPr marL="0" indent="0" algn="l">
              <a:lnSpc>
                <a:spcPts val="2650"/>
              </a:lnSpc>
              <a:buNone/>
            </a:pPr>
            <a:r>
              <a:rPr lang="en-US" sz="2100" dirty="0">
                <a:solidFill>
                  <a:srgbClr val="5C4E3D"/>
                </a:solidFill>
                <a:latin typeface="Libre Baskerville" pitchFamily="34" charset="0"/>
                <a:ea typeface="Libre Baskerville" pitchFamily="34" charset="-122"/>
                <a:cs typeface="Libre Baskerville" pitchFamily="34" charset="-120"/>
              </a:rPr>
              <a:t>National Oversight &amp; Total System Control </a:t>
            </a:r>
            <a:r>
              <a:rPr lang="en-US" sz="2100" dirty="0">
                <a:solidFill>
                  <a:srgbClr val="000000"/>
                </a:solidFill>
                <a:latin typeface="Libre Baskerville" pitchFamily="34" charset="0"/>
                <a:ea typeface="Libre Baskerville" pitchFamily="34" charset="-122"/>
                <a:cs typeface="Libre Baskerville" pitchFamily="34" charset="-120"/>
              </a:rPr>
              <a:t>🌐</a:t>
            </a:r>
            <a:endParaRPr lang="en-US" sz="2100" dirty="0"/>
          </a:p>
        </p:txBody>
      </p:sp>
      <p:sp>
        <p:nvSpPr>
          <p:cNvPr id="6" name="Shape 3"/>
          <p:cNvSpPr/>
          <p:nvPr/>
        </p:nvSpPr>
        <p:spPr>
          <a:xfrm>
            <a:off x="6228755" y="2874407"/>
            <a:ext cx="484823" cy="484823"/>
          </a:xfrm>
          <a:prstGeom prst="roundRect">
            <a:avLst>
              <a:gd name="adj" fmla="val 18667"/>
            </a:avLst>
          </a:prstGeom>
          <a:solidFill>
            <a:srgbClr val="F7EDD4"/>
          </a:solidFill>
          <a:ln w="7620">
            <a:solidFill>
              <a:srgbClr val="DDD3BA"/>
            </a:solidFill>
            <a:prstDash val="solid"/>
          </a:ln>
        </p:spPr>
      </p:sp>
      <p:sp>
        <p:nvSpPr>
          <p:cNvPr id="7" name="Text 4"/>
          <p:cNvSpPr/>
          <p:nvPr/>
        </p:nvSpPr>
        <p:spPr>
          <a:xfrm>
            <a:off x="6928961" y="2948464"/>
            <a:ext cx="2972753" cy="673179"/>
          </a:xfrm>
          <a:prstGeom prst="rect">
            <a:avLst/>
          </a:prstGeom>
          <a:noFill/>
          <a:ln/>
        </p:spPr>
        <p:txBody>
          <a:bodyPr wrap="squar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Total System Authority</a:t>
            </a:r>
            <a:endParaRPr lang="en-US" sz="2100" dirty="0"/>
          </a:p>
        </p:txBody>
      </p:sp>
      <p:sp>
        <p:nvSpPr>
          <p:cNvPr id="8" name="Text 5"/>
          <p:cNvSpPr/>
          <p:nvPr/>
        </p:nvSpPr>
        <p:spPr>
          <a:xfrm>
            <a:off x="6928961" y="3837027"/>
            <a:ext cx="2972753" cy="1379220"/>
          </a:xfrm>
          <a:prstGeom prst="rect">
            <a:avLst/>
          </a:prstGeom>
          <a:noFill/>
          <a:ln/>
        </p:spPr>
        <p:txBody>
          <a:bodyPr wrap="square" lIns="0" tIns="0" rIns="0" bIns="0" rtlCol="0" anchor="t"/>
          <a:lstStyle/>
          <a:p>
            <a:pPr marL="0" indent="0" algn="l">
              <a:lnSpc>
                <a:spcPts val="2700"/>
              </a:lnSpc>
              <a:buNone/>
            </a:pPr>
            <a:r>
              <a:rPr lang="en-US" sz="1650" dirty="0">
                <a:solidFill>
                  <a:srgbClr val="454240"/>
                </a:solidFill>
                <a:latin typeface="DM Sans" pitchFamily="34" charset="0"/>
                <a:ea typeface="DM Sans" pitchFamily="34" charset="-122"/>
                <a:cs typeface="DM Sans" pitchFamily="34" charset="-120"/>
              </a:rPr>
              <a:t>Possesses the highest-level access to view and manage data from all institutions across the entire system.</a:t>
            </a:r>
            <a:endParaRPr lang="en-US" sz="1650" dirty="0"/>
          </a:p>
        </p:txBody>
      </p:sp>
      <p:sp>
        <p:nvSpPr>
          <p:cNvPr id="9" name="Shape 6"/>
          <p:cNvSpPr/>
          <p:nvPr/>
        </p:nvSpPr>
        <p:spPr>
          <a:xfrm>
            <a:off x="10171033" y="2874407"/>
            <a:ext cx="484823" cy="484823"/>
          </a:xfrm>
          <a:prstGeom prst="roundRect">
            <a:avLst>
              <a:gd name="adj" fmla="val 18667"/>
            </a:avLst>
          </a:prstGeom>
          <a:solidFill>
            <a:srgbClr val="F7EDD4"/>
          </a:solidFill>
          <a:ln w="7620">
            <a:solidFill>
              <a:srgbClr val="DDD3BA"/>
            </a:solidFill>
            <a:prstDash val="solid"/>
          </a:ln>
        </p:spPr>
      </p:sp>
      <p:sp>
        <p:nvSpPr>
          <p:cNvPr id="10" name="Text 7"/>
          <p:cNvSpPr/>
          <p:nvPr/>
        </p:nvSpPr>
        <p:spPr>
          <a:xfrm>
            <a:off x="10871240" y="2948464"/>
            <a:ext cx="2972872" cy="673179"/>
          </a:xfrm>
          <a:prstGeom prst="rect">
            <a:avLst/>
          </a:prstGeom>
          <a:noFill/>
          <a:ln/>
        </p:spPr>
        <p:txBody>
          <a:bodyPr wrap="squar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Centralized Administration</a:t>
            </a:r>
            <a:endParaRPr lang="en-US" sz="2100" dirty="0"/>
          </a:p>
        </p:txBody>
      </p:sp>
      <p:sp>
        <p:nvSpPr>
          <p:cNvPr id="11" name="Text 8"/>
          <p:cNvSpPr/>
          <p:nvPr/>
        </p:nvSpPr>
        <p:spPr>
          <a:xfrm>
            <a:off x="10871240" y="3837027"/>
            <a:ext cx="2972872" cy="1724025"/>
          </a:xfrm>
          <a:prstGeom prst="rect">
            <a:avLst/>
          </a:prstGeom>
          <a:noFill/>
          <a:ln/>
        </p:spPr>
        <p:txBody>
          <a:bodyPr wrap="square" lIns="0" tIns="0" rIns="0" bIns="0" rtlCol="0" anchor="t"/>
          <a:lstStyle/>
          <a:p>
            <a:pPr marL="0" indent="0" algn="l">
              <a:lnSpc>
                <a:spcPts val="2700"/>
              </a:lnSpc>
              <a:buNone/>
            </a:pPr>
            <a:r>
              <a:rPr lang="en-US" sz="1650" dirty="0">
                <a:solidFill>
                  <a:srgbClr val="454240"/>
                </a:solidFill>
                <a:latin typeface="DM Sans" pitchFamily="34" charset="0"/>
                <a:ea typeface="DM Sans" pitchFamily="34" charset="-122"/>
                <a:cs typeface="DM Sans" pitchFamily="34" charset="-120"/>
              </a:rPr>
              <a:t>Manages all high-level user accounts and sets the global system configuration, including national standards and reporting rules.</a:t>
            </a:r>
            <a:endParaRPr lang="en-US" sz="1650" dirty="0"/>
          </a:p>
        </p:txBody>
      </p:sp>
      <p:sp>
        <p:nvSpPr>
          <p:cNvPr id="12" name="Shape 9"/>
          <p:cNvSpPr/>
          <p:nvPr/>
        </p:nvSpPr>
        <p:spPr>
          <a:xfrm>
            <a:off x="6228755" y="5991939"/>
            <a:ext cx="484823" cy="484823"/>
          </a:xfrm>
          <a:prstGeom prst="roundRect">
            <a:avLst>
              <a:gd name="adj" fmla="val 18667"/>
            </a:avLst>
          </a:prstGeom>
          <a:solidFill>
            <a:srgbClr val="F7EDD4"/>
          </a:solidFill>
          <a:ln w="7620">
            <a:solidFill>
              <a:srgbClr val="DDD3BA"/>
            </a:solidFill>
            <a:prstDash val="solid"/>
          </a:ln>
        </p:spPr>
      </p:sp>
      <p:sp>
        <p:nvSpPr>
          <p:cNvPr id="13" name="Text 10"/>
          <p:cNvSpPr/>
          <p:nvPr/>
        </p:nvSpPr>
        <p:spPr>
          <a:xfrm>
            <a:off x="6928961" y="6065996"/>
            <a:ext cx="4266843" cy="336590"/>
          </a:xfrm>
          <a:prstGeom prst="rect">
            <a:avLst/>
          </a:prstGeom>
          <a:noFill/>
          <a:ln/>
        </p:spPr>
        <p:txBody>
          <a:bodyPr wrap="non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Sector-Wide Quality Oversight</a:t>
            </a:r>
            <a:endParaRPr lang="en-US" sz="2100" dirty="0"/>
          </a:p>
        </p:txBody>
      </p:sp>
      <p:sp>
        <p:nvSpPr>
          <p:cNvPr id="14" name="Text 11"/>
          <p:cNvSpPr/>
          <p:nvPr/>
        </p:nvSpPr>
        <p:spPr>
          <a:xfrm>
            <a:off x="6928961" y="6617970"/>
            <a:ext cx="6915150" cy="689610"/>
          </a:xfrm>
          <a:prstGeom prst="rect">
            <a:avLst/>
          </a:prstGeom>
          <a:noFill/>
          <a:ln/>
        </p:spPr>
        <p:txBody>
          <a:bodyPr wrap="square" lIns="0" tIns="0" rIns="0" bIns="0" rtlCol="0" anchor="t"/>
          <a:lstStyle/>
          <a:p>
            <a:pPr marL="0" indent="0" algn="l">
              <a:lnSpc>
                <a:spcPts val="2700"/>
              </a:lnSpc>
              <a:buNone/>
            </a:pPr>
            <a:r>
              <a:rPr lang="en-US" sz="1650" dirty="0">
                <a:solidFill>
                  <a:srgbClr val="454240"/>
                </a:solidFill>
                <a:latin typeface="DM Sans" pitchFamily="34" charset="0"/>
                <a:ea typeface="DM Sans" pitchFamily="34" charset="-122"/>
                <a:cs typeface="DM Sans" pitchFamily="34" charset="-120"/>
              </a:rPr>
              <a:t>Monitors, analyzes, and compares performance data across all institutions to ensure national standards are met.</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6047" y="847606"/>
            <a:ext cx="7602498" cy="512921"/>
          </a:xfrm>
          <a:prstGeom prst="rect">
            <a:avLst/>
          </a:prstGeom>
          <a:noFill/>
          <a:ln/>
        </p:spPr>
        <p:txBody>
          <a:bodyPr wrap="none" lIns="0" tIns="0" rIns="0" bIns="0" rtlCol="0" anchor="t"/>
          <a:lstStyle/>
          <a:p>
            <a:pPr marL="0" indent="0" algn="l">
              <a:lnSpc>
                <a:spcPts val="4000"/>
              </a:lnSpc>
              <a:buNone/>
            </a:pPr>
            <a:r>
              <a:rPr lang="en-US" sz="3200" dirty="0">
                <a:solidFill>
                  <a:srgbClr val="5C4E3D"/>
                </a:solidFill>
                <a:latin typeface="Libre Baskerville" pitchFamily="34" charset="0"/>
                <a:ea typeface="Libre Baskerville" pitchFamily="34" charset="-122"/>
                <a:cs typeface="Libre Baskerville" pitchFamily="34" charset="-120"/>
              </a:rPr>
              <a:t>5. User Types &amp; Access Management</a:t>
            </a:r>
            <a:endParaRPr lang="en-US" sz="3200" dirty="0"/>
          </a:p>
        </p:txBody>
      </p:sp>
      <p:sp>
        <p:nvSpPr>
          <p:cNvPr id="4" name="Text 1"/>
          <p:cNvSpPr/>
          <p:nvPr/>
        </p:nvSpPr>
        <p:spPr>
          <a:xfrm>
            <a:off x="756047" y="1565672"/>
            <a:ext cx="4086939" cy="384810"/>
          </a:xfrm>
          <a:prstGeom prst="rect">
            <a:avLst/>
          </a:prstGeom>
          <a:noFill/>
          <a:ln/>
        </p:spPr>
        <p:txBody>
          <a:bodyPr wrap="none" lIns="0" tIns="0" rIns="0" bIns="0" rtlCol="0" anchor="t"/>
          <a:lstStyle/>
          <a:p>
            <a:pPr marL="0" indent="0" algn="l">
              <a:lnSpc>
                <a:spcPts val="3000"/>
              </a:lnSpc>
              <a:buNone/>
            </a:pPr>
            <a:r>
              <a:rPr lang="en-US" sz="2400" dirty="0">
                <a:solidFill>
                  <a:srgbClr val="B88E23"/>
                </a:solidFill>
                <a:latin typeface="Libre Baskerville" pitchFamily="34" charset="0"/>
                <a:ea typeface="Libre Baskerville" pitchFamily="34" charset="-122"/>
                <a:cs typeface="Libre Baskerville" pitchFamily="34" charset="-120"/>
              </a:rPr>
              <a:t>Report Viewer / Executive</a:t>
            </a:r>
            <a:endParaRPr lang="en-US" sz="2400" dirty="0"/>
          </a:p>
        </p:txBody>
      </p:sp>
      <p:sp>
        <p:nvSpPr>
          <p:cNvPr id="5" name="Text 2"/>
          <p:cNvSpPr/>
          <p:nvPr/>
        </p:nvSpPr>
        <p:spPr>
          <a:xfrm>
            <a:off x="756047" y="2258258"/>
            <a:ext cx="5907881" cy="328255"/>
          </a:xfrm>
          <a:prstGeom prst="rect">
            <a:avLst/>
          </a:prstGeom>
          <a:noFill/>
          <a:ln/>
        </p:spPr>
        <p:txBody>
          <a:bodyPr wrap="none" lIns="0" tIns="0" rIns="0" bIns="0" rtlCol="0" anchor="t"/>
          <a:lstStyle/>
          <a:p>
            <a:pPr marL="0" indent="0" algn="l">
              <a:lnSpc>
                <a:spcPts val="2500"/>
              </a:lnSpc>
              <a:buNone/>
            </a:pPr>
            <a:r>
              <a:rPr lang="en-US" sz="2000" dirty="0">
                <a:solidFill>
                  <a:srgbClr val="5C4E3D"/>
                </a:solidFill>
                <a:latin typeface="Libre Baskerville" pitchFamily="34" charset="0"/>
                <a:ea typeface="Libre Baskerville" pitchFamily="34" charset="-122"/>
                <a:cs typeface="Libre Baskerville" pitchFamily="34" charset="-120"/>
              </a:rPr>
              <a:t>Strategic Intelligence for Decision-Makers </a:t>
            </a:r>
            <a:r>
              <a:rPr lang="en-US" sz="2000" dirty="0">
                <a:solidFill>
                  <a:srgbClr val="000000"/>
                </a:solidFill>
                <a:latin typeface="Libre Baskerville" pitchFamily="34" charset="0"/>
                <a:ea typeface="Libre Baskerville" pitchFamily="34" charset="-122"/>
                <a:cs typeface="Libre Baskerville" pitchFamily="34" charset="-120"/>
              </a:rPr>
              <a:t>📈</a:t>
            </a:r>
            <a:endParaRPr lang="en-US" sz="2000" dirty="0"/>
          </a:p>
        </p:txBody>
      </p:sp>
      <p:pic>
        <p:nvPicPr>
          <p:cNvPr id="6" name="Image 1" descr="preencoded.png"/>
          <p:cNvPicPr>
            <a:picLocks noChangeAspect="1"/>
          </p:cNvPicPr>
          <p:nvPr/>
        </p:nvPicPr>
        <p:blipFill>
          <a:blip r:embed="rId4"/>
          <a:stretch>
            <a:fillRect/>
          </a:stretch>
        </p:blipFill>
        <p:spPr>
          <a:xfrm>
            <a:off x="756047" y="2894290"/>
            <a:ext cx="513040" cy="513040"/>
          </a:xfrm>
          <a:prstGeom prst="rect">
            <a:avLst/>
          </a:prstGeom>
        </p:spPr>
      </p:pic>
      <p:sp>
        <p:nvSpPr>
          <p:cNvPr id="7" name="Text 3"/>
          <p:cNvSpPr/>
          <p:nvPr/>
        </p:nvSpPr>
        <p:spPr>
          <a:xfrm>
            <a:off x="1525548" y="3016091"/>
            <a:ext cx="3886200" cy="320635"/>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National Analytics Dashboard</a:t>
            </a:r>
            <a:endParaRPr lang="en-US" sz="2000" dirty="0"/>
          </a:p>
        </p:txBody>
      </p:sp>
      <p:sp>
        <p:nvSpPr>
          <p:cNvPr id="8" name="Text 4"/>
          <p:cNvSpPr/>
          <p:nvPr/>
        </p:nvSpPr>
        <p:spPr>
          <a:xfrm>
            <a:off x="1525548" y="3459837"/>
            <a:ext cx="6862405" cy="656749"/>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Views real-time dashboards that visualize key performance metrics and trends for the entire sector.</a:t>
            </a:r>
            <a:endParaRPr lang="en-US" sz="1600" dirty="0"/>
          </a:p>
        </p:txBody>
      </p:sp>
      <p:pic>
        <p:nvPicPr>
          <p:cNvPr id="9" name="Image 2" descr="preencoded.png"/>
          <p:cNvPicPr>
            <a:picLocks noChangeAspect="1"/>
          </p:cNvPicPr>
          <p:nvPr/>
        </p:nvPicPr>
        <p:blipFill>
          <a:blip r:embed="rId5"/>
          <a:stretch>
            <a:fillRect/>
          </a:stretch>
        </p:blipFill>
        <p:spPr>
          <a:xfrm>
            <a:off x="756047" y="4526994"/>
            <a:ext cx="513040" cy="513040"/>
          </a:xfrm>
          <a:prstGeom prst="rect">
            <a:avLst/>
          </a:prstGeom>
        </p:spPr>
      </p:pic>
      <p:sp>
        <p:nvSpPr>
          <p:cNvPr id="10" name="Text 5"/>
          <p:cNvSpPr/>
          <p:nvPr/>
        </p:nvSpPr>
        <p:spPr>
          <a:xfrm>
            <a:off x="1525548" y="4648795"/>
            <a:ext cx="3995976" cy="320635"/>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On-Demand Strategic Reports</a:t>
            </a:r>
            <a:endParaRPr lang="en-US" sz="2000" dirty="0"/>
          </a:p>
        </p:txBody>
      </p:sp>
      <p:sp>
        <p:nvSpPr>
          <p:cNvPr id="11" name="Text 6"/>
          <p:cNvSpPr/>
          <p:nvPr/>
        </p:nvSpPr>
        <p:spPr>
          <a:xfrm>
            <a:off x="1525548" y="5092541"/>
            <a:ext cx="6862405" cy="656749"/>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Generates detailed insights on demand from an extensive library of over 133 predefined reports.</a:t>
            </a:r>
            <a:endParaRPr lang="en-US" sz="1600" dirty="0"/>
          </a:p>
        </p:txBody>
      </p:sp>
      <p:pic>
        <p:nvPicPr>
          <p:cNvPr id="12" name="Image 3" descr="preencoded.png"/>
          <p:cNvPicPr>
            <a:picLocks noChangeAspect="1"/>
          </p:cNvPicPr>
          <p:nvPr/>
        </p:nvPicPr>
        <p:blipFill>
          <a:blip r:embed="rId6"/>
          <a:stretch>
            <a:fillRect/>
          </a:stretch>
        </p:blipFill>
        <p:spPr>
          <a:xfrm>
            <a:off x="756047" y="6159698"/>
            <a:ext cx="513040" cy="513040"/>
          </a:xfrm>
          <a:prstGeom prst="rect">
            <a:avLst/>
          </a:prstGeom>
        </p:spPr>
      </p:pic>
      <p:sp>
        <p:nvSpPr>
          <p:cNvPr id="13" name="Text 7"/>
          <p:cNvSpPr/>
          <p:nvPr/>
        </p:nvSpPr>
        <p:spPr>
          <a:xfrm>
            <a:off x="1525548" y="6281499"/>
            <a:ext cx="3840837" cy="320635"/>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Data-Driven Strategic Insight</a:t>
            </a:r>
            <a:endParaRPr lang="en-US" sz="2000" dirty="0"/>
          </a:p>
        </p:txBody>
      </p:sp>
      <p:sp>
        <p:nvSpPr>
          <p:cNvPr id="14" name="Text 8"/>
          <p:cNvSpPr/>
          <p:nvPr/>
        </p:nvSpPr>
        <p:spPr>
          <a:xfrm>
            <a:off x="1525548" y="6725245"/>
            <a:ext cx="6862405" cy="656749"/>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Uses cross-institutional benchmarking and direct data access to inform high-level, evidence-based planning.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25924"/>
            <a:ext cx="6720245" cy="453628"/>
          </a:xfrm>
          <a:prstGeom prst="rect">
            <a:avLst/>
          </a:prstGeom>
          <a:noFill/>
          <a:ln/>
        </p:spPr>
        <p:txBody>
          <a:bodyPr wrap="none" lIns="0" tIns="0" rIns="0" bIns="0" rtlCol="0" anchor="t"/>
          <a:lstStyle/>
          <a:p>
            <a:pPr marL="0" indent="0" algn="l">
              <a:lnSpc>
                <a:spcPts val="3550"/>
              </a:lnSpc>
              <a:buNone/>
            </a:pPr>
            <a:r>
              <a:rPr lang="en-US" sz="2850" dirty="0">
                <a:solidFill>
                  <a:srgbClr val="5C4E3D"/>
                </a:solidFill>
                <a:latin typeface="Libre Baskerville" pitchFamily="34" charset="0"/>
                <a:ea typeface="Libre Baskerville" pitchFamily="34" charset="-122"/>
                <a:cs typeface="Libre Baskerville" pitchFamily="34" charset="-120"/>
              </a:rPr>
              <a:t>5. User Types &amp; Access Management</a:t>
            </a:r>
            <a:endParaRPr lang="en-US" sz="2850" dirty="0"/>
          </a:p>
        </p:txBody>
      </p:sp>
      <p:sp>
        <p:nvSpPr>
          <p:cNvPr id="3" name="Text 1"/>
          <p:cNvSpPr/>
          <p:nvPr/>
        </p:nvSpPr>
        <p:spPr>
          <a:xfrm>
            <a:off x="793790" y="1565077"/>
            <a:ext cx="3745230" cy="340162"/>
          </a:xfrm>
          <a:prstGeom prst="rect">
            <a:avLst/>
          </a:prstGeom>
          <a:noFill/>
          <a:ln/>
        </p:spPr>
        <p:txBody>
          <a:bodyPr wrap="none" lIns="0" tIns="0" rIns="0" bIns="0" rtlCol="0" anchor="t"/>
          <a:lstStyle/>
          <a:p>
            <a:pPr marL="0" indent="0" algn="l">
              <a:lnSpc>
                <a:spcPts val="2650"/>
              </a:lnSpc>
              <a:buNone/>
            </a:pPr>
            <a:r>
              <a:rPr lang="en-US" sz="2100" dirty="0">
                <a:solidFill>
                  <a:srgbClr val="B88E23"/>
                </a:solidFill>
                <a:latin typeface="Libre Baskerville" pitchFamily="34" charset="0"/>
                <a:ea typeface="Libre Baskerville" pitchFamily="34" charset="-122"/>
                <a:cs typeface="Libre Baskerville" pitchFamily="34" charset="-120"/>
              </a:rPr>
              <a:t>Institutional Administrator</a:t>
            </a:r>
            <a:endParaRPr lang="en-US" sz="2100" dirty="0"/>
          </a:p>
        </p:txBody>
      </p:sp>
      <p:sp>
        <p:nvSpPr>
          <p:cNvPr id="4" name="Text 2"/>
          <p:cNvSpPr/>
          <p:nvPr/>
        </p:nvSpPr>
        <p:spPr>
          <a:xfrm>
            <a:off x="793790" y="2086689"/>
            <a:ext cx="4592479" cy="283488"/>
          </a:xfrm>
          <a:prstGeom prst="rect">
            <a:avLst/>
          </a:prstGeom>
          <a:noFill/>
          <a:ln/>
        </p:spPr>
        <p:txBody>
          <a:bodyPr wrap="none" lIns="0" tIns="0" rIns="0" bIns="0" rtlCol="0" anchor="t"/>
          <a:lstStyle/>
          <a:p>
            <a:pPr marL="0" indent="0" algn="l">
              <a:lnSpc>
                <a:spcPts val="2200"/>
              </a:lnSpc>
              <a:buNone/>
            </a:pPr>
            <a:r>
              <a:rPr lang="en-US" sz="1750" dirty="0">
                <a:solidFill>
                  <a:srgbClr val="5C4E3D"/>
                </a:solidFill>
                <a:latin typeface="Libre Baskerville" pitchFamily="34" charset="0"/>
                <a:ea typeface="Libre Baskerville" pitchFamily="34" charset="-122"/>
                <a:cs typeface="Libre Baskerville" pitchFamily="34" charset="-120"/>
              </a:rPr>
              <a:t>Day-to-Day Institution Management </a:t>
            </a:r>
            <a:r>
              <a:rPr lang="en-US" sz="1750" dirty="0">
                <a:solidFill>
                  <a:srgbClr val="000000"/>
                </a:solidFill>
                <a:latin typeface="Libre Baskerville" pitchFamily="34" charset="0"/>
                <a:ea typeface="Libre Baskerville" pitchFamily="34" charset="-122"/>
                <a:cs typeface="Libre Baskerville" pitchFamily="34" charset="-120"/>
              </a:rPr>
              <a:t>🏛️</a:t>
            </a:r>
            <a:endParaRPr lang="en-US" sz="1750" dirty="0"/>
          </a:p>
        </p:txBody>
      </p:sp>
      <p:sp>
        <p:nvSpPr>
          <p:cNvPr id="5" name="Shape 3"/>
          <p:cNvSpPr/>
          <p:nvPr/>
        </p:nvSpPr>
        <p:spPr>
          <a:xfrm>
            <a:off x="793790" y="2574250"/>
            <a:ext cx="6300073" cy="1454110"/>
          </a:xfrm>
          <a:prstGeom prst="roundRect">
            <a:avLst>
              <a:gd name="adj" fmla="val 5241"/>
            </a:avLst>
          </a:prstGeom>
          <a:solidFill>
            <a:srgbClr val="FFFDFA"/>
          </a:solidFill>
          <a:ln w="22860">
            <a:solidFill>
              <a:srgbClr val="DDD3BA"/>
            </a:solidFill>
            <a:prstDash val="solid"/>
          </a:ln>
        </p:spPr>
      </p:sp>
      <p:sp>
        <p:nvSpPr>
          <p:cNvPr id="6" name="Shape 4"/>
          <p:cNvSpPr/>
          <p:nvPr/>
        </p:nvSpPr>
        <p:spPr>
          <a:xfrm>
            <a:off x="793790" y="2574250"/>
            <a:ext cx="91440" cy="1454110"/>
          </a:xfrm>
          <a:prstGeom prst="roundRect">
            <a:avLst>
              <a:gd name="adj" fmla="val 83349"/>
            </a:avLst>
          </a:prstGeom>
          <a:solidFill>
            <a:srgbClr val="B88E23"/>
          </a:solidFill>
          <a:ln/>
        </p:spPr>
      </p:sp>
      <p:sp>
        <p:nvSpPr>
          <p:cNvPr id="7" name="Text 5"/>
          <p:cNvSpPr/>
          <p:nvPr/>
        </p:nvSpPr>
        <p:spPr>
          <a:xfrm>
            <a:off x="1089541" y="2778562"/>
            <a:ext cx="2901315" cy="283488"/>
          </a:xfrm>
          <a:prstGeom prst="rect">
            <a:avLst/>
          </a:prstGeom>
          <a:noFill/>
          <a:ln/>
        </p:spPr>
        <p:txBody>
          <a:bodyPr wrap="none" lIns="0" tIns="0" rIns="0" bIns="0" rtlCol="0" anchor="t"/>
          <a:lstStyle/>
          <a:p>
            <a:pPr marL="0" indent="0" algn="l">
              <a:lnSpc>
                <a:spcPts val="2200"/>
              </a:lnSpc>
              <a:buNone/>
            </a:pPr>
            <a:r>
              <a:rPr lang="en-US" sz="1750" dirty="0">
                <a:solidFill>
                  <a:srgbClr val="454240"/>
                </a:solidFill>
                <a:latin typeface="Libre Baskerville" pitchFamily="34" charset="0"/>
                <a:ea typeface="Libre Baskerville" pitchFamily="34" charset="-122"/>
                <a:cs typeface="Libre Baskerville" pitchFamily="34" charset="-120"/>
              </a:rPr>
              <a:t>Full Institutional Control</a:t>
            </a:r>
            <a:endParaRPr lang="en-US" sz="1750" dirty="0"/>
          </a:p>
        </p:txBody>
      </p:sp>
      <p:sp>
        <p:nvSpPr>
          <p:cNvPr id="8" name="Text 6"/>
          <p:cNvSpPr/>
          <p:nvPr/>
        </p:nvSpPr>
        <p:spPr>
          <a:xfrm>
            <a:off x="1089541" y="3243501"/>
            <a:ext cx="5800011" cy="580549"/>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Manages all data and workflows with authority strictly limited to their own institution.</a:t>
            </a:r>
            <a:endParaRPr lang="en-US" sz="1400" dirty="0"/>
          </a:p>
        </p:txBody>
      </p:sp>
      <p:sp>
        <p:nvSpPr>
          <p:cNvPr id="9" name="Shape 7"/>
          <p:cNvSpPr/>
          <p:nvPr/>
        </p:nvSpPr>
        <p:spPr>
          <a:xfrm>
            <a:off x="793790" y="4209812"/>
            <a:ext cx="6300073" cy="1454110"/>
          </a:xfrm>
          <a:prstGeom prst="roundRect">
            <a:avLst>
              <a:gd name="adj" fmla="val 5241"/>
            </a:avLst>
          </a:prstGeom>
          <a:solidFill>
            <a:srgbClr val="FFFDFA"/>
          </a:solidFill>
          <a:ln w="22860">
            <a:solidFill>
              <a:srgbClr val="DDD3BA"/>
            </a:solidFill>
            <a:prstDash val="solid"/>
          </a:ln>
        </p:spPr>
      </p:sp>
      <p:sp>
        <p:nvSpPr>
          <p:cNvPr id="10" name="Shape 8"/>
          <p:cNvSpPr/>
          <p:nvPr/>
        </p:nvSpPr>
        <p:spPr>
          <a:xfrm>
            <a:off x="793790" y="4209812"/>
            <a:ext cx="91440" cy="1454110"/>
          </a:xfrm>
          <a:prstGeom prst="roundRect">
            <a:avLst>
              <a:gd name="adj" fmla="val 83349"/>
            </a:avLst>
          </a:prstGeom>
          <a:solidFill>
            <a:srgbClr val="B88E23"/>
          </a:solidFill>
          <a:ln/>
        </p:spPr>
      </p:sp>
      <p:sp>
        <p:nvSpPr>
          <p:cNvPr id="11" name="Text 9"/>
          <p:cNvSpPr/>
          <p:nvPr/>
        </p:nvSpPr>
        <p:spPr>
          <a:xfrm>
            <a:off x="1089541" y="4414123"/>
            <a:ext cx="3532227" cy="283488"/>
          </a:xfrm>
          <a:prstGeom prst="rect">
            <a:avLst/>
          </a:prstGeom>
          <a:noFill/>
          <a:ln/>
        </p:spPr>
        <p:txBody>
          <a:bodyPr wrap="none" lIns="0" tIns="0" rIns="0" bIns="0" rtlCol="0" anchor="t"/>
          <a:lstStyle/>
          <a:p>
            <a:pPr marL="0" indent="0" algn="l">
              <a:lnSpc>
                <a:spcPts val="2200"/>
              </a:lnSpc>
              <a:buNone/>
            </a:pPr>
            <a:r>
              <a:rPr lang="en-US" sz="1750" dirty="0">
                <a:solidFill>
                  <a:srgbClr val="454240"/>
                </a:solidFill>
                <a:latin typeface="Libre Baskerville" pitchFamily="34" charset="0"/>
                <a:ea typeface="Libre Baskerville" pitchFamily="34" charset="-122"/>
                <a:cs typeface="Libre Baskerville" pitchFamily="34" charset="-120"/>
              </a:rPr>
              <a:t>Core Operations Management</a:t>
            </a:r>
            <a:endParaRPr lang="en-US" sz="1750" dirty="0"/>
          </a:p>
        </p:txBody>
      </p:sp>
      <p:sp>
        <p:nvSpPr>
          <p:cNvPr id="12" name="Text 10"/>
          <p:cNvSpPr/>
          <p:nvPr/>
        </p:nvSpPr>
        <p:spPr>
          <a:xfrm>
            <a:off x="1089541" y="4879062"/>
            <a:ext cx="5800011" cy="580549"/>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Handles the complete student lifecycle and all day-to-day staff administration.</a:t>
            </a:r>
            <a:endParaRPr lang="en-US" sz="1400" dirty="0"/>
          </a:p>
        </p:txBody>
      </p:sp>
      <p:sp>
        <p:nvSpPr>
          <p:cNvPr id="13" name="Shape 11"/>
          <p:cNvSpPr/>
          <p:nvPr/>
        </p:nvSpPr>
        <p:spPr>
          <a:xfrm>
            <a:off x="793790" y="5845373"/>
            <a:ext cx="6300073" cy="1454110"/>
          </a:xfrm>
          <a:prstGeom prst="roundRect">
            <a:avLst>
              <a:gd name="adj" fmla="val 5241"/>
            </a:avLst>
          </a:prstGeom>
          <a:solidFill>
            <a:srgbClr val="FFFDFA"/>
          </a:solidFill>
          <a:ln w="22860">
            <a:solidFill>
              <a:srgbClr val="DDD3BA"/>
            </a:solidFill>
            <a:prstDash val="solid"/>
          </a:ln>
        </p:spPr>
      </p:sp>
      <p:sp>
        <p:nvSpPr>
          <p:cNvPr id="14" name="Shape 12"/>
          <p:cNvSpPr/>
          <p:nvPr/>
        </p:nvSpPr>
        <p:spPr>
          <a:xfrm>
            <a:off x="793790" y="5845373"/>
            <a:ext cx="91440" cy="1454110"/>
          </a:xfrm>
          <a:prstGeom prst="roundRect">
            <a:avLst>
              <a:gd name="adj" fmla="val 83349"/>
            </a:avLst>
          </a:prstGeom>
          <a:solidFill>
            <a:srgbClr val="B88E23"/>
          </a:solidFill>
          <a:ln/>
        </p:spPr>
      </p:sp>
      <p:sp>
        <p:nvSpPr>
          <p:cNvPr id="15" name="Text 13"/>
          <p:cNvSpPr/>
          <p:nvPr/>
        </p:nvSpPr>
        <p:spPr>
          <a:xfrm>
            <a:off x="1089541" y="6049685"/>
            <a:ext cx="3853458" cy="283488"/>
          </a:xfrm>
          <a:prstGeom prst="rect">
            <a:avLst/>
          </a:prstGeom>
          <a:noFill/>
          <a:ln/>
        </p:spPr>
        <p:txBody>
          <a:bodyPr wrap="none" lIns="0" tIns="0" rIns="0" bIns="0" rtlCol="0" anchor="t"/>
          <a:lstStyle/>
          <a:p>
            <a:pPr marL="0" indent="0" algn="l">
              <a:lnSpc>
                <a:spcPts val="2200"/>
              </a:lnSpc>
              <a:buNone/>
            </a:pPr>
            <a:r>
              <a:rPr lang="en-US" sz="1750" dirty="0">
                <a:solidFill>
                  <a:srgbClr val="454240"/>
                </a:solidFill>
                <a:latin typeface="Libre Baskerville" pitchFamily="34" charset="0"/>
                <a:ea typeface="Libre Baskerville" pitchFamily="34" charset="-122"/>
                <a:cs typeface="Libre Baskerville" pitchFamily="34" charset="-120"/>
              </a:rPr>
              <a:t>Academic Oversight &amp; Reporting</a:t>
            </a:r>
            <a:endParaRPr lang="en-US" sz="1750" dirty="0"/>
          </a:p>
        </p:txBody>
      </p:sp>
      <p:sp>
        <p:nvSpPr>
          <p:cNvPr id="16" name="Text 14"/>
          <p:cNvSpPr/>
          <p:nvPr/>
        </p:nvSpPr>
        <p:spPr>
          <a:xfrm>
            <a:off x="1089541" y="6514624"/>
            <a:ext cx="5800011" cy="580549"/>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Oversees academic programs, manages internal quality, and generates official reports for the ministry.</a:t>
            </a:r>
            <a:endParaRPr lang="en-US" sz="1400" dirty="0"/>
          </a:p>
        </p:txBody>
      </p:sp>
      <p:pic>
        <p:nvPicPr>
          <p:cNvPr id="17" name="Image 0" descr="preencoded.png"/>
          <p:cNvPicPr>
            <a:picLocks noChangeAspect="1"/>
          </p:cNvPicPr>
          <p:nvPr/>
        </p:nvPicPr>
        <p:blipFill>
          <a:blip r:embed="rId3"/>
          <a:stretch>
            <a:fillRect/>
          </a:stretch>
        </p:blipFill>
        <p:spPr>
          <a:xfrm>
            <a:off x="8614551" y="2574251"/>
            <a:ext cx="4613108" cy="461310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46321"/>
            <a:ext cx="7556421" cy="1417558"/>
          </a:xfrm>
          <a:prstGeom prst="rect">
            <a:avLst/>
          </a:prstGeom>
          <a:noFill/>
          <a:ln/>
        </p:spPr>
        <p:txBody>
          <a:bodyPr wrap="square" lIns="0" tIns="0" rIns="0" bIns="0" rtlCol="0" anchor="t"/>
          <a:lstStyle/>
          <a:p>
            <a:pPr marL="0" indent="0" algn="l">
              <a:lnSpc>
                <a:spcPts val="5550"/>
              </a:lnSpc>
              <a:buNone/>
            </a:pPr>
            <a:r>
              <a:rPr lang="en-US" sz="4000" dirty="0">
                <a:solidFill>
                  <a:srgbClr val="5C4E3D"/>
                </a:solidFill>
                <a:latin typeface="Libre Baskerville" pitchFamily="34" charset="0"/>
                <a:ea typeface="Libre Baskerville" pitchFamily="34" charset="-122"/>
                <a:cs typeface="Libre Baskerville" pitchFamily="34" charset="-120"/>
              </a:rPr>
              <a:t>5. User Types &amp; Access Management</a:t>
            </a:r>
            <a:endParaRPr lang="en-US" sz="4000" dirty="0"/>
          </a:p>
        </p:txBody>
      </p:sp>
      <p:sp>
        <p:nvSpPr>
          <p:cNvPr id="4" name="Text 1"/>
          <p:cNvSpPr/>
          <p:nvPr/>
        </p:nvSpPr>
        <p:spPr>
          <a:xfrm>
            <a:off x="6280190" y="2804041"/>
            <a:ext cx="6947416"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Departmental Manager / Staff</a:t>
            </a:r>
            <a:endParaRPr lang="en-US" sz="3550" dirty="0"/>
          </a:p>
        </p:txBody>
      </p:sp>
      <p:sp>
        <p:nvSpPr>
          <p:cNvPr id="5" name="Text 2"/>
          <p:cNvSpPr/>
          <p:nvPr/>
        </p:nvSpPr>
        <p:spPr>
          <a:xfrm>
            <a:off x="6280190" y="3711178"/>
            <a:ext cx="6871811" cy="432911"/>
          </a:xfrm>
          <a:prstGeom prst="rect">
            <a:avLst/>
          </a:prstGeom>
          <a:noFill/>
          <a:ln/>
        </p:spPr>
        <p:txBody>
          <a:bodyPr wrap="non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Focused Departmental Management </a:t>
            </a:r>
            <a:r>
              <a:rPr lang="en-US" sz="2650" dirty="0">
                <a:solidFill>
                  <a:srgbClr val="000000"/>
                </a:solidFill>
                <a:latin typeface="Libre Baskerville" pitchFamily="34" charset="0"/>
                <a:ea typeface="Libre Baskerville" pitchFamily="34" charset="-122"/>
                <a:cs typeface="Libre Baskerville" pitchFamily="34" charset="-120"/>
              </a:rPr>
              <a:t>📋</a:t>
            </a:r>
            <a:endParaRPr lang="en-US" sz="2650" dirty="0"/>
          </a:p>
        </p:txBody>
      </p:sp>
      <p:sp>
        <p:nvSpPr>
          <p:cNvPr id="6" name="Text 3"/>
          <p:cNvSpPr/>
          <p:nvPr/>
        </p:nvSpPr>
        <p:spPr>
          <a:xfrm>
            <a:off x="6280190" y="4484251"/>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54240"/>
                </a:solidFill>
                <a:latin typeface="DM Sans" pitchFamily="34" charset="0"/>
                <a:ea typeface="DM Sans" pitchFamily="34" charset="-122"/>
                <a:cs typeface="DM Sans" pitchFamily="34" charset="-120"/>
              </a:rPr>
              <a:t>Scoped Departmental Access</a:t>
            </a:r>
            <a:r>
              <a:rPr lang="en-US" sz="1750" dirty="0">
                <a:solidFill>
                  <a:srgbClr val="454240"/>
                </a:solidFill>
                <a:latin typeface="DM Sans" pitchFamily="34" charset="0"/>
                <a:ea typeface="DM Sans" pitchFamily="34" charset="-122"/>
                <a:cs typeface="DM Sans" pitchFamily="34" charset="-120"/>
              </a:rPr>
              <a:t>: Permissions are strictly limited to managing data only within their assigned department.</a:t>
            </a:r>
            <a:endParaRPr lang="en-US" sz="1750" dirty="0"/>
          </a:p>
        </p:txBody>
      </p:sp>
      <p:sp>
        <p:nvSpPr>
          <p:cNvPr id="7" name="Text 4"/>
          <p:cNvSpPr/>
          <p:nvPr/>
        </p:nvSpPr>
        <p:spPr>
          <a:xfrm>
            <a:off x="6280190" y="5289352"/>
            <a:ext cx="75564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54240"/>
                </a:solidFill>
                <a:latin typeface="DM Sans" pitchFamily="34" charset="0"/>
                <a:ea typeface="DM Sans" pitchFamily="34" charset="-122"/>
                <a:cs typeface="DM Sans" pitchFamily="34" charset="-120"/>
              </a:rPr>
              <a:t>Student &amp; Program Administration:</a:t>
            </a:r>
            <a:r>
              <a:rPr lang="en-US" sz="1750" dirty="0">
                <a:solidFill>
                  <a:srgbClr val="454240"/>
                </a:solidFill>
                <a:latin typeface="DM Sans" pitchFamily="34" charset="0"/>
                <a:ea typeface="DM Sans" pitchFamily="34" charset="-122"/>
                <a:cs typeface="DM Sans" pitchFamily="34" charset="-120"/>
              </a:rPr>
              <a:t> Manages students within its department and oversees the administration of courses and academic activities.</a:t>
            </a:r>
            <a:endParaRPr lang="en-US" sz="1750" dirty="0"/>
          </a:p>
        </p:txBody>
      </p:sp>
      <p:sp>
        <p:nvSpPr>
          <p:cNvPr id="8" name="Text 5"/>
          <p:cNvSpPr/>
          <p:nvPr/>
        </p:nvSpPr>
        <p:spPr>
          <a:xfrm>
            <a:off x="6280190" y="6457355"/>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54240"/>
                </a:solidFill>
                <a:latin typeface="DM Sans" pitchFamily="34" charset="0"/>
                <a:ea typeface="DM Sans" pitchFamily="34" charset="-122"/>
                <a:cs typeface="DM Sans" pitchFamily="34" charset="-120"/>
              </a:rPr>
              <a:t>Data Integrity</a:t>
            </a:r>
            <a:r>
              <a:rPr lang="en-US" sz="1750" dirty="0">
                <a:solidFill>
                  <a:srgbClr val="454240"/>
                </a:solidFill>
                <a:latin typeface="DM Sans" pitchFamily="34" charset="0"/>
                <a:ea typeface="DM Sans" pitchFamily="34" charset="-122"/>
                <a:cs typeface="DM Sans" pitchFamily="34" charset="-120"/>
              </a:rPr>
              <a:t>: Responsible for ensuring the accuracy of all departmental data for institutional reporting.</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69156"/>
            <a:ext cx="9906833" cy="708779"/>
          </a:xfrm>
          <a:prstGeom prst="rect">
            <a:avLst/>
          </a:prstGeom>
          <a:noFill/>
          <a:ln/>
        </p:spPr>
        <p:txBody>
          <a:bodyPr wrap="non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6. Government &amp; National Impact</a:t>
            </a:r>
            <a:endParaRPr lang="en-US" sz="4450" dirty="0"/>
          </a:p>
        </p:txBody>
      </p:sp>
      <p:sp>
        <p:nvSpPr>
          <p:cNvPr id="3" name="Text 1"/>
          <p:cNvSpPr/>
          <p:nvPr/>
        </p:nvSpPr>
        <p:spPr>
          <a:xfrm>
            <a:off x="793790" y="1918097"/>
            <a:ext cx="9604891"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Government Impact: Immediate Benefits</a:t>
            </a:r>
            <a:endParaRPr lang="en-US" sz="3550" dirty="0"/>
          </a:p>
        </p:txBody>
      </p:sp>
      <p:sp>
        <p:nvSpPr>
          <p:cNvPr id="4" name="Text 2"/>
          <p:cNvSpPr/>
          <p:nvPr/>
        </p:nvSpPr>
        <p:spPr>
          <a:xfrm>
            <a:off x="793790" y="282523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HEMIS delivers dramatic and immediate improvements for the Department of Higher Education.</a:t>
            </a:r>
            <a:endParaRPr lang="en-US" sz="1750" dirty="0"/>
          </a:p>
        </p:txBody>
      </p:sp>
      <p:sp>
        <p:nvSpPr>
          <p:cNvPr id="5" name="Shape 3"/>
          <p:cNvSpPr/>
          <p:nvPr/>
        </p:nvSpPr>
        <p:spPr>
          <a:xfrm>
            <a:off x="793790" y="3443288"/>
            <a:ext cx="13042821" cy="3917156"/>
          </a:xfrm>
          <a:prstGeom prst="roundRect">
            <a:avLst>
              <a:gd name="adj" fmla="val 2432"/>
            </a:avLst>
          </a:prstGeom>
          <a:noFill/>
          <a:ln w="7620">
            <a:solidFill>
              <a:srgbClr val="000000">
                <a:alpha val="8000"/>
              </a:srgbClr>
            </a:solidFill>
            <a:prstDash val="solid"/>
          </a:ln>
        </p:spPr>
      </p:sp>
      <p:sp>
        <p:nvSpPr>
          <p:cNvPr id="6" name="Shape 4"/>
          <p:cNvSpPr/>
          <p:nvPr/>
        </p:nvSpPr>
        <p:spPr>
          <a:xfrm>
            <a:off x="801410" y="3450908"/>
            <a:ext cx="13027581" cy="650319"/>
          </a:xfrm>
          <a:prstGeom prst="rect">
            <a:avLst/>
          </a:prstGeom>
          <a:solidFill>
            <a:srgbClr val="FFFFFF">
              <a:alpha val="4000"/>
            </a:srgbClr>
          </a:solidFill>
          <a:ln/>
        </p:spPr>
      </p:sp>
      <p:sp>
        <p:nvSpPr>
          <p:cNvPr id="7" name="Text 5"/>
          <p:cNvSpPr/>
          <p:nvPr/>
        </p:nvSpPr>
        <p:spPr>
          <a:xfrm>
            <a:off x="1028462" y="3594616"/>
            <a:ext cx="3841552"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Impact Category</a:t>
            </a:r>
            <a:endParaRPr lang="en-US" sz="1750" dirty="0"/>
          </a:p>
        </p:txBody>
      </p:sp>
      <p:sp>
        <p:nvSpPr>
          <p:cNvPr id="8" name="Text 6"/>
          <p:cNvSpPr/>
          <p:nvPr/>
        </p:nvSpPr>
        <p:spPr>
          <a:xfrm>
            <a:off x="5331262" y="3594616"/>
            <a:ext cx="3837742"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Government Benefit</a:t>
            </a:r>
            <a:endParaRPr lang="en-US" sz="1750" dirty="0"/>
          </a:p>
        </p:txBody>
      </p:sp>
      <p:sp>
        <p:nvSpPr>
          <p:cNvPr id="9" name="Text 7"/>
          <p:cNvSpPr/>
          <p:nvPr/>
        </p:nvSpPr>
        <p:spPr>
          <a:xfrm>
            <a:off x="9630251" y="3594616"/>
            <a:ext cx="3971925"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National Value</a:t>
            </a:r>
            <a:endParaRPr lang="en-US" sz="1750" dirty="0"/>
          </a:p>
        </p:txBody>
      </p:sp>
      <p:sp>
        <p:nvSpPr>
          <p:cNvPr id="10" name="Shape 8"/>
          <p:cNvSpPr/>
          <p:nvPr/>
        </p:nvSpPr>
        <p:spPr>
          <a:xfrm>
            <a:off x="801410" y="4101227"/>
            <a:ext cx="13027581" cy="650319"/>
          </a:xfrm>
          <a:prstGeom prst="rect">
            <a:avLst/>
          </a:prstGeom>
          <a:solidFill>
            <a:srgbClr val="000000">
              <a:alpha val="4000"/>
            </a:srgbClr>
          </a:solidFill>
          <a:ln/>
        </p:spPr>
      </p:sp>
      <p:sp>
        <p:nvSpPr>
          <p:cNvPr id="11" name="Text 9"/>
          <p:cNvSpPr/>
          <p:nvPr/>
        </p:nvSpPr>
        <p:spPr>
          <a:xfrm>
            <a:off x="1028462" y="4244935"/>
            <a:ext cx="384155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Data Centralization</a:t>
            </a:r>
            <a:endParaRPr lang="en-US" sz="1750" dirty="0"/>
          </a:p>
        </p:txBody>
      </p:sp>
      <p:sp>
        <p:nvSpPr>
          <p:cNvPr id="12" name="Text 10"/>
          <p:cNvSpPr/>
          <p:nvPr/>
        </p:nvSpPr>
        <p:spPr>
          <a:xfrm>
            <a:off x="5331262" y="4244935"/>
            <a:ext cx="383774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Unified national database</a:t>
            </a:r>
            <a:endParaRPr lang="en-US" sz="1750" dirty="0"/>
          </a:p>
        </p:txBody>
      </p:sp>
      <p:sp>
        <p:nvSpPr>
          <p:cNvPr id="13" name="Text 11"/>
          <p:cNvSpPr/>
          <p:nvPr/>
        </p:nvSpPr>
        <p:spPr>
          <a:xfrm>
            <a:off x="9630251" y="4244935"/>
            <a:ext cx="397192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Complete sector oversight</a:t>
            </a:r>
            <a:endParaRPr lang="en-US" sz="1750" dirty="0"/>
          </a:p>
        </p:txBody>
      </p:sp>
      <p:sp>
        <p:nvSpPr>
          <p:cNvPr id="14" name="Shape 12"/>
          <p:cNvSpPr/>
          <p:nvPr/>
        </p:nvSpPr>
        <p:spPr>
          <a:xfrm>
            <a:off x="801410" y="4751546"/>
            <a:ext cx="13027581" cy="650319"/>
          </a:xfrm>
          <a:prstGeom prst="rect">
            <a:avLst/>
          </a:prstGeom>
          <a:solidFill>
            <a:srgbClr val="FFFFFF">
              <a:alpha val="4000"/>
            </a:srgbClr>
          </a:solidFill>
          <a:ln/>
        </p:spPr>
      </p:sp>
      <p:sp>
        <p:nvSpPr>
          <p:cNvPr id="15" name="Text 13"/>
          <p:cNvSpPr/>
          <p:nvPr/>
        </p:nvSpPr>
        <p:spPr>
          <a:xfrm>
            <a:off x="1028462" y="4895255"/>
            <a:ext cx="384155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Quality Assurance</a:t>
            </a:r>
            <a:endParaRPr lang="en-US" sz="1750" dirty="0"/>
          </a:p>
        </p:txBody>
      </p:sp>
      <p:sp>
        <p:nvSpPr>
          <p:cNvPr id="16" name="Text 14"/>
          <p:cNvSpPr/>
          <p:nvPr/>
        </p:nvSpPr>
        <p:spPr>
          <a:xfrm>
            <a:off x="5331262" y="4895255"/>
            <a:ext cx="383774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Quality Auditing</a:t>
            </a:r>
            <a:endParaRPr lang="en-US" sz="1750" dirty="0"/>
          </a:p>
        </p:txBody>
      </p:sp>
      <p:sp>
        <p:nvSpPr>
          <p:cNvPr id="17" name="Text 15"/>
          <p:cNvSpPr/>
          <p:nvPr/>
        </p:nvSpPr>
        <p:spPr>
          <a:xfrm>
            <a:off x="9630251" y="4895255"/>
            <a:ext cx="397192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Enhanced education quality</a:t>
            </a:r>
            <a:endParaRPr lang="en-US" sz="1750" dirty="0"/>
          </a:p>
        </p:txBody>
      </p:sp>
      <p:sp>
        <p:nvSpPr>
          <p:cNvPr id="18" name="Shape 16"/>
          <p:cNvSpPr/>
          <p:nvPr/>
        </p:nvSpPr>
        <p:spPr>
          <a:xfrm>
            <a:off x="801410" y="5401866"/>
            <a:ext cx="13027581" cy="650319"/>
          </a:xfrm>
          <a:prstGeom prst="rect">
            <a:avLst/>
          </a:prstGeom>
          <a:solidFill>
            <a:srgbClr val="000000">
              <a:alpha val="4000"/>
            </a:srgbClr>
          </a:solidFill>
          <a:ln/>
        </p:spPr>
      </p:sp>
      <p:sp>
        <p:nvSpPr>
          <p:cNvPr id="19" name="Text 17"/>
          <p:cNvSpPr/>
          <p:nvPr/>
        </p:nvSpPr>
        <p:spPr>
          <a:xfrm>
            <a:off x="1028462" y="5545574"/>
            <a:ext cx="384155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Resource Planning</a:t>
            </a:r>
            <a:endParaRPr lang="en-US" sz="1750" dirty="0"/>
          </a:p>
        </p:txBody>
      </p:sp>
      <p:sp>
        <p:nvSpPr>
          <p:cNvPr id="20" name="Text 18"/>
          <p:cNvSpPr/>
          <p:nvPr/>
        </p:nvSpPr>
        <p:spPr>
          <a:xfrm>
            <a:off x="5331262" y="5545574"/>
            <a:ext cx="383774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Evidence-based allocation</a:t>
            </a:r>
            <a:endParaRPr lang="en-US" sz="1750" dirty="0"/>
          </a:p>
        </p:txBody>
      </p:sp>
      <p:sp>
        <p:nvSpPr>
          <p:cNvPr id="21" name="Text 19"/>
          <p:cNvSpPr/>
          <p:nvPr/>
        </p:nvSpPr>
        <p:spPr>
          <a:xfrm>
            <a:off x="9630251" y="5545574"/>
            <a:ext cx="397192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Optimized public investment</a:t>
            </a:r>
            <a:endParaRPr lang="en-US" sz="1750" dirty="0"/>
          </a:p>
        </p:txBody>
      </p:sp>
      <p:sp>
        <p:nvSpPr>
          <p:cNvPr id="22" name="Shape 20"/>
          <p:cNvSpPr/>
          <p:nvPr/>
        </p:nvSpPr>
        <p:spPr>
          <a:xfrm>
            <a:off x="801410" y="6052185"/>
            <a:ext cx="13027581" cy="650319"/>
          </a:xfrm>
          <a:prstGeom prst="rect">
            <a:avLst/>
          </a:prstGeom>
          <a:solidFill>
            <a:srgbClr val="FFFFFF">
              <a:alpha val="4000"/>
            </a:srgbClr>
          </a:solidFill>
          <a:ln/>
        </p:spPr>
      </p:sp>
      <p:sp>
        <p:nvSpPr>
          <p:cNvPr id="23" name="Text 21"/>
          <p:cNvSpPr/>
          <p:nvPr/>
        </p:nvSpPr>
        <p:spPr>
          <a:xfrm>
            <a:off x="1028462" y="6195893"/>
            <a:ext cx="384155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Admin. Efficiency</a:t>
            </a:r>
            <a:endParaRPr lang="en-US" sz="1750" dirty="0"/>
          </a:p>
        </p:txBody>
      </p:sp>
      <p:sp>
        <p:nvSpPr>
          <p:cNvPr id="24" name="Text 22"/>
          <p:cNvSpPr/>
          <p:nvPr/>
        </p:nvSpPr>
        <p:spPr>
          <a:xfrm>
            <a:off x="5331262" y="6195893"/>
            <a:ext cx="383774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Streamlined operations</a:t>
            </a:r>
            <a:endParaRPr lang="en-US" sz="1750" dirty="0"/>
          </a:p>
        </p:txBody>
      </p:sp>
      <p:sp>
        <p:nvSpPr>
          <p:cNvPr id="25" name="Text 23"/>
          <p:cNvSpPr/>
          <p:nvPr/>
        </p:nvSpPr>
        <p:spPr>
          <a:xfrm>
            <a:off x="9630251" y="6195893"/>
            <a:ext cx="397192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Better government service</a:t>
            </a:r>
            <a:endParaRPr lang="en-US" sz="1750" dirty="0"/>
          </a:p>
        </p:txBody>
      </p:sp>
      <p:sp>
        <p:nvSpPr>
          <p:cNvPr id="26" name="Shape 24"/>
          <p:cNvSpPr/>
          <p:nvPr/>
        </p:nvSpPr>
        <p:spPr>
          <a:xfrm>
            <a:off x="801410" y="6702504"/>
            <a:ext cx="13027581" cy="650319"/>
          </a:xfrm>
          <a:prstGeom prst="rect">
            <a:avLst/>
          </a:prstGeom>
          <a:solidFill>
            <a:srgbClr val="000000">
              <a:alpha val="4000"/>
            </a:srgbClr>
          </a:solidFill>
          <a:ln/>
        </p:spPr>
      </p:sp>
      <p:sp>
        <p:nvSpPr>
          <p:cNvPr id="27" name="Text 25"/>
          <p:cNvSpPr/>
          <p:nvPr/>
        </p:nvSpPr>
        <p:spPr>
          <a:xfrm>
            <a:off x="1028462" y="6846213"/>
            <a:ext cx="384155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Statistical Intel.</a:t>
            </a:r>
            <a:endParaRPr lang="en-US" sz="1750" dirty="0"/>
          </a:p>
        </p:txBody>
      </p:sp>
      <p:sp>
        <p:nvSpPr>
          <p:cNvPr id="28" name="Text 26"/>
          <p:cNvSpPr/>
          <p:nvPr/>
        </p:nvSpPr>
        <p:spPr>
          <a:xfrm>
            <a:off x="5331262" y="6846213"/>
            <a:ext cx="383774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Comprehensive analytics</a:t>
            </a:r>
            <a:endParaRPr lang="en-US" sz="1750" dirty="0"/>
          </a:p>
        </p:txBody>
      </p:sp>
      <p:sp>
        <p:nvSpPr>
          <p:cNvPr id="29" name="Text 27"/>
          <p:cNvSpPr/>
          <p:nvPr/>
        </p:nvSpPr>
        <p:spPr>
          <a:xfrm>
            <a:off x="9630251" y="6846213"/>
            <a:ext cx="397192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Data-driven governance</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93790" y="800695"/>
            <a:ext cx="6933962" cy="496133"/>
          </a:xfrm>
          <a:prstGeom prst="rect">
            <a:avLst/>
          </a:prstGeom>
          <a:noFill/>
          <a:ln/>
        </p:spPr>
        <p:txBody>
          <a:bodyPr wrap="none" lIns="0" tIns="0" rIns="0" bIns="0" rtlCol="0" anchor="t"/>
          <a:lstStyle/>
          <a:p>
            <a:pPr marL="0" indent="0" algn="l">
              <a:lnSpc>
                <a:spcPts val="3900"/>
              </a:lnSpc>
              <a:buNone/>
            </a:pPr>
            <a:r>
              <a:rPr lang="en-US" sz="3100" dirty="0">
                <a:solidFill>
                  <a:srgbClr val="5C4E3D"/>
                </a:solidFill>
                <a:latin typeface="Libre Baskerville" pitchFamily="34" charset="0"/>
                <a:ea typeface="Libre Baskerville" pitchFamily="34" charset="-122"/>
                <a:cs typeface="Libre Baskerville" pitchFamily="34" charset="-120"/>
              </a:rPr>
              <a:t>6. Government &amp; National Impact</a:t>
            </a:r>
            <a:endParaRPr lang="en-US" sz="3100" dirty="0"/>
          </a:p>
        </p:txBody>
      </p:sp>
      <p:sp>
        <p:nvSpPr>
          <p:cNvPr id="4" name="Text 1"/>
          <p:cNvSpPr/>
          <p:nvPr/>
        </p:nvSpPr>
        <p:spPr>
          <a:xfrm>
            <a:off x="793790" y="1534954"/>
            <a:ext cx="5483185" cy="396835"/>
          </a:xfrm>
          <a:prstGeom prst="rect">
            <a:avLst/>
          </a:prstGeom>
          <a:noFill/>
          <a:ln/>
        </p:spPr>
        <p:txBody>
          <a:bodyPr wrap="none" lIns="0" tIns="0" rIns="0" bIns="0" rtlCol="0" anchor="t"/>
          <a:lstStyle/>
          <a:p>
            <a:pPr marL="0" indent="0" algn="l">
              <a:lnSpc>
                <a:spcPts val="3100"/>
              </a:lnSpc>
              <a:buNone/>
            </a:pPr>
            <a:r>
              <a:rPr lang="en-US" sz="2500" dirty="0">
                <a:solidFill>
                  <a:srgbClr val="5C4E3D"/>
                </a:solidFill>
                <a:latin typeface="Libre Baskerville" pitchFamily="34" charset="0"/>
                <a:ea typeface="Libre Baskerville" pitchFamily="34" charset="-122"/>
                <a:cs typeface="Libre Baskerville" pitchFamily="34" charset="-120"/>
              </a:rPr>
              <a:t>National Benefits &amp; Development</a:t>
            </a:r>
            <a:endParaRPr lang="en-US" sz="2500" dirty="0"/>
          </a:p>
        </p:txBody>
      </p:sp>
      <p:sp>
        <p:nvSpPr>
          <p:cNvPr id="5" name="Text 2"/>
          <p:cNvSpPr/>
          <p:nvPr/>
        </p:nvSpPr>
        <p:spPr>
          <a:xfrm>
            <a:off x="793790" y="2169914"/>
            <a:ext cx="7556421" cy="254079"/>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HEMIS is a catalyst for national development and excellence.</a:t>
            </a:r>
            <a:endParaRPr lang="en-US" sz="1600" dirty="0"/>
          </a:p>
        </p:txBody>
      </p:sp>
      <p:sp>
        <p:nvSpPr>
          <p:cNvPr id="6" name="Shape 3"/>
          <p:cNvSpPr/>
          <p:nvPr/>
        </p:nvSpPr>
        <p:spPr>
          <a:xfrm>
            <a:off x="793790" y="2900243"/>
            <a:ext cx="11386921" cy="1214557"/>
          </a:xfrm>
          <a:prstGeom prst="roundRect">
            <a:avLst>
              <a:gd name="adj" fmla="val 5491"/>
            </a:avLst>
          </a:prstGeom>
          <a:solidFill>
            <a:srgbClr val="FFFDFA"/>
          </a:solidFill>
          <a:ln w="22860">
            <a:solidFill>
              <a:srgbClr val="B88E23"/>
            </a:solidFill>
            <a:prstDash val="solid"/>
          </a:ln>
        </p:spPr>
      </p:sp>
      <p:sp>
        <p:nvSpPr>
          <p:cNvPr id="7" name="Shape 4"/>
          <p:cNvSpPr/>
          <p:nvPr/>
        </p:nvSpPr>
        <p:spPr>
          <a:xfrm>
            <a:off x="793790" y="2900243"/>
            <a:ext cx="91440" cy="1214557"/>
          </a:xfrm>
          <a:prstGeom prst="roundRect">
            <a:avLst>
              <a:gd name="adj" fmla="val 72930"/>
            </a:avLst>
          </a:prstGeom>
          <a:solidFill>
            <a:srgbClr val="B88E23"/>
          </a:solidFill>
          <a:ln/>
        </p:spPr>
      </p:sp>
      <p:sp>
        <p:nvSpPr>
          <p:cNvPr id="8" name="Text 5"/>
          <p:cNvSpPr/>
          <p:nvPr/>
        </p:nvSpPr>
        <p:spPr>
          <a:xfrm>
            <a:off x="1066800" y="3081814"/>
            <a:ext cx="2996803" cy="248007"/>
          </a:xfrm>
          <a:prstGeom prst="rect">
            <a:avLst/>
          </a:prstGeom>
          <a:noFill/>
          <a:ln/>
        </p:spPr>
        <p:txBody>
          <a:bodyPr wrap="none" lIns="0" tIns="0" rIns="0" bIns="0" rtlCol="0" anchor="t"/>
          <a:lstStyle/>
          <a:p>
            <a:pPr marL="0" indent="0" algn="l">
              <a:lnSpc>
                <a:spcPts val="1950"/>
              </a:lnSpc>
              <a:buNone/>
            </a:pPr>
            <a:r>
              <a:rPr lang="en-US" sz="1600" dirty="0">
                <a:solidFill>
                  <a:srgbClr val="454240"/>
                </a:solidFill>
                <a:latin typeface="Libre Baskerville" pitchFamily="34" charset="0"/>
                <a:ea typeface="Libre Baskerville" pitchFamily="34" charset="-122"/>
                <a:cs typeface="Libre Baskerville" pitchFamily="34" charset="-120"/>
              </a:rPr>
              <a:t>Enhanced National Oversight</a:t>
            </a:r>
            <a:endParaRPr lang="en-US" sz="1600" dirty="0"/>
          </a:p>
        </p:txBody>
      </p:sp>
      <p:sp>
        <p:nvSpPr>
          <p:cNvPr id="9" name="Text 6"/>
          <p:cNvSpPr/>
          <p:nvPr/>
        </p:nvSpPr>
        <p:spPr>
          <a:xfrm>
            <a:off x="1066800" y="3425071"/>
            <a:ext cx="10830560" cy="508159"/>
          </a:xfrm>
          <a:prstGeom prst="rect">
            <a:avLst/>
          </a:prstGeom>
          <a:noFill/>
          <a:ln/>
        </p:spPr>
        <p:txBody>
          <a:bodyPr wrap="squar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Provides complete, real-time visibility into the performance of the entire higher education sector.</a:t>
            </a:r>
            <a:endParaRPr lang="en-US" sz="1600" dirty="0"/>
          </a:p>
        </p:txBody>
      </p:sp>
      <p:sp>
        <p:nvSpPr>
          <p:cNvPr id="10" name="Shape 7"/>
          <p:cNvSpPr/>
          <p:nvPr/>
        </p:nvSpPr>
        <p:spPr>
          <a:xfrm>
            <a:off x="793790" y="4273510"/>
            <a:ext cx="11386921" cy="960477"/>
          </a:xfrm>
          <a:prstGeom prst="roundRect">
            <a:avLst>
              <a:gd name="adj" fmla="val 6943"/>
            </a:avLst>
          </a:prstGeom>
          <a:solidFill>
            <a:srgbClr val="FFFDFA"/>
          </a:solidFill>
          <a:ln w="22860">
            <a:solidFill>
              <a:srgbClr val="B88E23"/>
            </a:solidFill>
            <a:prstDash val="solid"/>
          </a:ln>
        </p:spPr>
      </p:sp>
      <p:sp>
        <p:nvSpPr>
          <p:cNvPr id="11" name="Shape 8"/>
          <p:cNvSpPr/>
          <p:nvPr/>
        </p:nvSpPr>
        <p:spPr>
          <a:xfrm>
            <a:off x="793790" y="4273510"/>
            <a:ext cx="91440" cy="960477"/>
          </a:xfrm>
          <a:prstGeom prst="roundRect">
            <a:avLst>
              <a:gd name="adj" fmla="val 72930"/>
            </a:avLst>
          </a:prstGeom>
          <a:solidFill>
            <a:srgbClr val="B88E23"/>
          </a:solidFill>
          <a:ln/>
        </p:spPr>
      </p:sp>
      <p:sp>
        <p:nvSpPr>
          <p:cNvPr id="12" name="Text 9"/>
          <p:cNvSpPr/>
          <p:nvPr/>
        </p:nvSpPr>
        <p:spPr>
          <a:xfrm>
            <a:off x="1066800" y="4455080"/>
            <a:ext cx="2926794" cy="248007"/>
          </a:xfrm>
          <a:prstGeom prst="rect">
            <a:avLst/>
          </a:prstGeom>
          <a:noFill/>
          <a:ln/>
        </p:spPr>
        <p:txBody>
          <a:bodyPr wrap="none" lIns="0" tIns="0" rIns="0" bIns="0" rtlCol="0" anchor="t"/>
          <a:lstStyle/>
          <a:p>
            <a:pPr marL="0" indent="0" algn="l">
              <a:lnSpc>
                <a:spcPts val="1950"/>
              </a:lnSpc>
              <a:buNone/>
            </a:pPr>
            <a:r>
              <a:rPr lang="en-US" sz="1600" dirty="0">
                <a:solidFill>
                  <a:srgbClr val="454240"/>
                </a:solidFill>
                <a:latin typeface="Libre Baskerville" pitchFamily="34" charset="0"/>
                <a:ea typeface="Libre Baskerville" pitchFamily="34" charset="-122"/>
                <a:cs typeface="Libre Baskerville" pitchFamily="34" charset="-120"/>
              </a:rPr>
              <a:t>Improved Education Quality</a:t>
            </a:r>
            <a:endParaRPr lang="en-US" sz="1600" dirty="0"/>
          </a:p>
        </p:txBody>
      </p:sp>
      <p:sp>
        <p:nvSpPr>
          <p:cNvPr id="13" name="Text 10"/>
          <p:cNvSpPr/>
          <p:nvPr/>
        </p:nvSpPr>
        <p:spPr>
          <a:xfrm>
            <a:off x="1066800" y="4798338"/>
            <a:ext cx="7101840" cy="254079"/>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Enables better monitoring and targeted support to elevate institutional standards nationwide.</a:t>
            </a:r>
            <a:endParaRPr lang="en-US" sz="1600" dirty="0"/>
          </a:p>
        </p:txBody>
      </p:sp>
      <p:sp>
        <p:nvSpPr>
          <p:cNvPr id="14" name="Shape 11"/>
          <p:cNvSpPr/>
          <p:nvPr/>
        </p:nvSpPr>
        <p:spPr>
          <a:xfrm>
            <a:off x="793790" y="5392698"/>
            <a:ext cx="11386921" cy="960477"/>
          </a:xfrm>
          <a:prstGeom prst="roundRect">
            <a:avLst>
              <a:gd name="adj" fmla="val 6943"/>
            </a:avLst>
          </a:prstGeom>
          <a:solidFill>
            <a:srgbClr val="FFFDFA"/>
          </a:solidFill>
          <a:ln w="22860">
            <a:solidFill>
              <a:srgbClr val="B88E23"/>
            </a:solidFill>
            <a:prstDash val="solid"/>
          </a:ln>
        </p:spPr>
      </p:sp>
      <p:sp>
        <p:nvSpPr>
          <p:cNvPr id="15" name="Shape 12"/>
          <p:cNvSpPr/>
          <p:nvPr/>
        </p:nvSpPr>
        <p:spPr>
          <a:xfrm>
            <a:off x="793790" y="5392698"/>
            <a:ext cx="91440" cy="960477"/>
          </a:xfrm>
          <a:prstGeom prst="roundRect">
            <a:avLst>
              <a:gd name="adj" fmla="val 72930"/>
            </a:avLst>
          </a:prstGeom>
          <a:solidFill>
            <a:srgbClr val="B88E23"/>
          </a:solidFill>
          <a:ln/>
        </p:spPr>
      </p:sp>
      <p:sp>
        <p:nvSpPr>
          <p:cNvPr id="16" name="Text 13"/>
          <p:cNvSpPr/>
          <p:nvPr/>
        </p:nvSpPr>
        <p:spPr>
          <a:xfrm>
            <a:off x="1066800" y="5574268"/>
            <a:ext cx="1995726" cy="248007"/>
          </a:xfrm>
          <a:prstGeom prst="rect">
            <a:avLst/>
          </a:prstGeom>
          <a:noFill/>
          <a:ln/>
        </p:spPr>
        <p:txBody>
          <a:bodyPr wrap="none" lIns="0" tIns="0" rIns="0" bIns="0" rtlCol="0" anchor="t"/>
          <a:lstStyle/>
          <a:p>
            <a:pPr marL="0" indent="0" algn="l">
              <a:lnSpc>
                <a:spcPts val="1950"/>
              </a:lnSpc>
              <a:buNone/>
            </a:pPr>
            <a:r>
              <a:rPr lang="en-US" sz="1600" dirty="0">
                <a:solidFill>
                  <a:srgbClr val="454240"/>
                </a:solidFill>
                <a:latin typeface="Libre Baskerville" pitchFamily="34" charset="0"/>
                <a:ea typeface="Libre Baskerville" pitchFamily="34" charset="-122"/>
                <a:cs typeface="Libre Baskerville" pitchFamily="34" charset="-120"/>
              </a:rPr>
              <a:t>Digital Acceleration</a:t>
            </a:r>
            <a:endParaRPr lang="en-US" sz="1600" dirty="0"/>
          </a:p>
        </p:txBody>
      </p:sp>
      <p:sp>
        <p:nvSpPr>
          <p:cNvPr id="17" name="Text 14"/>
          <p:cNvSpPr/>
          <p:nvPr/>
        </p:nvSpPr>
        <p:spPr>
          <a:xfrm>
            <a:off x="1066800" y="5917525"/>
            <a:ext cx="7101840" cy="254079"/>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Accelerates the adoption of modern educational technology across the entire sector.</a:t>
            </a:r>
            <a:endParaRPr lang="en-US" sz="1600" dirty="0"/>
          </a:p>
        </p:txBody>
      </p:sp>
      <p:sp>
        <p:nvSpPr>
          <p:cNvPr id="18" name="Shape 15"/>
          <p:cNvSpPr/>
          <p:nvPr/>
        </p:nvSpPr>
        <p:spPr>
          <a:xfrm>
            <a:off x="793790" y="6511885"/>
            <a:ext cx="11386921" cy="1214557"/>
          </a:xfrm>
          <a:prstGeom prst="roundRect">
            <a:avLst>
              <a:gd name="adj" fmla="val 5491"/>
            </a:avLst>
          </a:prstGeom>
          <a:solidFill>
            <a:srgbClr val="FFFDFA"/>
          </a:solidFill>
          <a:ln w="22860">
            <a:solidFill>
              <a:srgbClr val="B88E23"/>
            </a:solidFill>
            <a:prstDash val="solid"/>
          </a:ln>
        </p:spPr>
      </p:sp>
      <p:sp>
        <p:nvSpPr>
          <p:cNvPr id="19" name="Shape 16"/>
          <p:cNvSpPr/>
          <p:nvPr/>
        </p:nvSpPr>
        <p:spPr>
          <a:xfrm>
            <a:off x="793790" y="6511885"/>
            <a:ext cx="91440" cy="1214557"/>
          </a:xfrm>
          <a:prstGeom prst="roundRect">
            <a:avLst>
              <a:gd name="adj" fmla="val 72930"/>
            </a:avLst>
          </a:prstGeom>
          <a:solidFill>
            <a:srgbClr val="B88E23"/>
          </a:solidFill>
          <a:ln/>
        </p:spPr>
      </p:sp>
      <p:sp>
        <p:nvSpPr>
          <p:cNvPr id="20" name="Text 17"/>
          <p:cNvSpPr/>
          <p:nvPr/>
        </p:nvSpPr>
        <p:spPr>
          <a:xfrm>
            <a:off x="1066800" y="6693455"/>
            <a:ext cx="2990493" cy="248007"/>
          </a:xfrm>
          <a:prstGeom prst="rect">
            <a:avLst/>
          </a:prstGeom>
          <a:noFill/>
          <a:ln/>
        </p:spPr>
        <p:txBody>
          <a:bodyPr wrap="none" lIns="0" tIns="0" rIns="0" bIns="0" rtlCol="0" anchor="t"/>
          <a:lstStyle/>
          <a:p>
            <a:pPr marL="0" indent="0" algn="l">
              <a:lnSpc>
                <a:spcPts val="1950"/>
              </a:lnSpc>
              <a:buNone/>
            </a:pPr>
            <a:r>
              <a:rPr lang="en-US" sz="1600" dirty="0">
                <a:solidFill>
                  <a:srgbClr val="454240"/>
                </a:solidFill>
                <a:latin typeface="Libre Baskerville" pitchFamily="34" charset="0"/>
                <a:ea typeface="Libre Baskerville" pitchFamily="34" charset="-122"/>
                <a:cs typeface="Libre Baskerville" pitchFamily="34" charset="-120"/>
              </a:rPr>
              <a:t>Stronger National Reputation</a:t>
            </a:r>
            <a:endParaRPr lang="en-US" sz="1600" dirty="0"/>
          </a:p>
        </p:txBody>
      </p:sp>
      <p:sp>
        <p:nvSpPr>
          <p:cNvPr id="21" name="Text 18"/>
          <p:cNvSpPr/>
          <p:nvPr/>
        </p:nvSpPr>
        <p:spPr>
          <a:xfrm>
            <a:off x="1066800" y="7036713"/>
            <a:ext cx="10820400" cy="508159"/>
          </a:xfrm>
          <a:prstGeom prst="rect">
            <a:avLst/>
          </a:prstGeom>
          <a:noFill/>
          <a:ln/>
        </p:spPr>
        <p:txBody>
          <a:bodyPr wrap="squar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The digital transformation of the education sector enhances the nation's international brand and prestige.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8293" y="493633"/>
            <a:ext cx="6574036" cy="504944"/>
          </a:xfrm>
          <a:prstGeom prst="rect">
            <a:avLst/>
          </a:prstGeom>
          <a:noFill/>
          <a:ln/>
        </p:spPr>
        <p:txBody>
          <a:bodyPr wrap="none" lIns="0" tIns="0" rIns="0" bIns="0" rtlCol="0" anchor="t"/>
          <a:lstStyle/>
          <a:p>
            <a:pPr marL="0" indent="0" algn="l">
              <a:lnSpc>
                <a:spcPts val="3950"/>
              </a:lnSpc>
              <a:buNone/>
            </a:pPr>
            <a:r>
              <a:rPr lang="en-US" sz="3150" dirty="0">
                <a:solidFill>
                  <a:srgbClr val="5C4E3D"/>
                </a:solidFill>
                <a:latin typeface="Libre Baskerville" pitchFamily="34" charset="0"/>
                <a:ea typeface="Libre Baskerville" pitchFamily="34" charset="-122"/>
                <a:cs typeface="Libre Baskerville" pitchFamily="34" charset="-120"/>
              </a:rPr>
              <a:t>6. Government &amp; National Impact</a:t>
            </a:r>
            <a:endParaRPr lang="en-US" sz="3150" dirty="0"/>
          </a:p>
        </p:txBody>
      </p:sp>
      <p:sp>
        <p:nvSpPr>
          <p:cNvPr id="3" name="Text 1"/>
          <p:cNvSpPr/>
          <p:nvPr/>
        </p:nvSpPr>
        <p:spPr>
          <a:xfrm>
            <a:off x="628293" y="1240869"/>
            <a:ext cx="5599390" cy="403860"/>
          </a:xfrm>
          <a:prstGeom prst="rect">
            <a:avLst/>
          </a:prstGeom>
          <a:noFill/>
          <a:ln/>
        </p:spPr>
        <p:txBody>
          <a:bodyPr wrap="none" lIns="0" tIns="0" rIns="0" bIns="0" rtlCol="0" anchor="t"/>
          <a:lstStyle/>
          <a:p>
            <a:pPr marL="0" indent="0" algn="l">
              <a:lnSpc>
                <a:spcPts val="3150"/>
              </a:lnSpc>
              <a:buNone/>
            </a:pPr>
            <a:r>
              <a:rPr lang="en-US" sz="2500" dirty="0">
                <a:solidFill>
                  <a:srgbClr val="5C4E3D"/>
                </a:solidFill>
                <a:latin typeface="Libre Baskerville" pitchFamily="34" charset="0"/>
                <a:ea typeface="Libre Baskerville" pitchFamily="34" charset="-122"/>
                <a:cs typeface="Libre Baskerville" pitchFamily="34" charset="-120"/>
              </a:rPr>
              <a:t>System Sustainability and Growth</a:t>
            </a:r>
            <a:endParaRPr lang="en-US" sz="2500" dirty="0"/>
          </a:p>
        </p:txBody>
      </p:sp>
      <p:sp>
        <p:nvSpPr>
          <p:cNvPr id="4" name="Text 2"/>
          <p:cNvSpPr/>
          <p:nvPr/>
        </p:nvSpPr>
        <p:spPr>
          <a:xfrm>
            <a:off x="628293" y="2254719"/>
            <a:ext cx="13373814" cy="258485"/>
          </a:xfrm>
          <a:prstGeom prst="rect">
            <a:avLst/>
          </a:prstGeom>
          <a:noFill/>
          <a:ln/>
        </p:spPr>
        <p:txBody>
          <a:bodyPr wrap="none" lIns="0" tIns="0" rIns="0" bIns="0" rtlCol="0" anchor="t"/>
          <a:lstStyle/>
          <a:p>
            <a:pPr marL="0" indent="0" algn="l">
              <a:lnSpc>
                <a:spcPts val="2000"/>
              </a:lnSpc>
              <a:buNone/>
            </a:pPr>
            <a:r>
              <a:rPr lang="en-US" sz="2000" dirty="0">
                <a:solidFill>
                  <a:srgbClr val="454240"/>
                </a:solidFill>
                <a:latin typeface="DM Sans" pitchFamily="34" charset="0"/>
                <a:ea typeface="DM Sans" pitchFamily="34" charset="-122"/>
                <a:cs typeface="DM Sans" pitchFamily="34" charset="-120"/>
              </a:rPr>
              <a:t>HEMIS is a </a:t>
            </a:r>
            <a:r>
              <a:rPr lang="en-US" sz="2000" dirty="0">
                <a:solidFill>
                  <a:srgbClr val="B88E23"/>
                </a:solidFill>
                <a:latin typeface="DM Sans" pitchFamily="34" charset="0"/>
                <a:ea typeface="DM Sans" pitchFamily="34" charset="-122"/>
                <a:cs typeface="DM Sans" pitchFamily="34" charset="-120"/>
              </a:rPr>
              <a:t>long-term solution built for the future</a:t>
            </a:r>
            <a:r>
              <a:rPr lang="en-US" sz="2000" dirty="0">
                <a:solidFill>
                  <a:srgbClr val="454240"/>
                </a:solidFill>
                <a:latin typeface="DM Sans" pitchFamily="34" charset="0"/>
                <a:ea typeface="DM Sans" pitchFamily="34" charset="-122"/>
                <a:cs typeface="DM Sans" pitchFamily="34" charset="-120"/>
              </a:rPr>
              <a:t>.</a:t>
            </a:r>
            <a:endParaRPr lang="en-US" sz="2000" dirty="0"/>
          </a:p>
        </p:txBody>
      </p:sp>
      <p:pic>
        <p:nvPicPr>
          <p:cNvPr id="6" name="Image 1" descr="preencoded.png"/>
          <p:cNvPicPr>
            <a:picLocks noChangeAspect="1"/>
          </p:cNvPicPr>
          <p:nvPr/>
        </p:nvPicPr>
        <p:blipFill>
          <a:blip r:embed="rId3"/>
          <a:stretch>
            <a:fillRect/>
          </a:stretch>
        </p:blipFill>
        <p:spPr>
          <a:xfrm>
            <a:off x="2540041" y="3530376"/>
            <a:ext cx="807839" cy="995601"/>
          </a:xfrm>
          <a:prstGeom prst="rect">
            <a:avLst/>
          </a:prstGeom>
        </p:spPr>
      </p:pic>
      <p:sp>
        <p:nvSpPr>
          <p:cNvPr id="7" name="Text 3"/>
          <p:cNvSpPr/>
          <p:nvPr/>
        </p:nvSpPr>
        <p:spPr>
          <a:xfrm>
            <a:off x="1436132" y="4932468"/>
            <a:ext cx="2338149" cy="252413"/>
          </a:xfrm>
          <a:prstGeom prst="rect">
            <a:avLst/>
          </a:prstGeom>
          <a:noFill/>
          <a:ln/>
        </p:spPr>
        <p:txBody>
          <a:bodyPr wrap="none" lIns="0" tIns="0" rIns="0" bIns="0" rtlCol="0" anchor="t"/>
          <a:lstStyle/>
          <a:p>
            <a:pPr marL="0" indent="0" algn="l">
              <a:lnSpc>
                <a:spcPts val="1950"/>
              </a:lnSpc>
              <a:buNone/>
            </a:pPr>
            <a:r>
              <a:rPr lang="en-US" sz="2000" dirty="0">
                <a:solidFill>
                  <a:srgbClr val="454240"/>
                </a:solidFill>
                <a:latin typeface="Libre Baskerville" pitchFamily="34" charset="0"/>
                <a:ea typeface="Libre Baskerville" pitchFamily="34" charset="-122"/>
                <a:cs typeface="Libre Baskerville" pitchFamily="34" charset="-120"/>
              </a:rPr>
              <a:t>Continuous Operation</a:t>
            </a:r>
            <a:endParaRPr lang="en-US" sz="2000" dirty="0"/>
          </a:p>
        </p:txBody>
      </p:sp>
      <p:sp>
        <p:nvSpPr>
          <p:cNvPr id="8" name="Text 4"/>
          <p:cNvSpPr/>
          <p:nvPr/>
        </p:nvSpPr>
        <p:spPr>
          <a:xfrm>
            <a:off x="1436131" y="5346448"/>
            <a:ext cx="3823499" cy="512485"/>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Designed for ongoing ministry use </a:t>
            </a:r>
          </a:p>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and long-term sustainability.</a:t>
            </a:r>
            <a:endParaRPr lang="en-US" sz="1600" dirty="0"/>
          </a:p>
        </p:txBody>
      </p:sp>
      <p:pic>
        <p:nvPicPr>
          <p:cNvPr id="9" name="Image 2" descr="preencoded.png"/>
          <p:cNvPicPr>
            <a:picLocks noChangeAspect="1"/>
          </p:cNvPicPr>
          <p:nvPr/>
        </p:nvPicPr>
        <p:blipFill>
          <a:blip r:embed="rId4"/>
          <a:stretch>
            <a:fillRect/>
          </a:stretch>
        </p:blipFill>
        <p:spPr>
          <a:xfrm>
            <a:off x="6791405" y="3530375"/>
            <a:ext cx="807839" cy="995601"/>
          </a:xfrm>
          <a:prstGeom prst="rect">
            <a:avLst/>
          </a:prstGeom>
        </p:spPr>
      </p:pic>
      <p:sp>
        <p:nvSpPr>
          <p:cNvPr id="10" name="Text 5"/>
          <p:cNvSpPr/>
          <p:nvPr/>
        </p:nvSpPr>
        <p:spPr>
          <a:xfrm>
            <a:off x="5701983" y="4932467"/>
            <a:ext cx="2178844" cy="252413"/>
          </a:xfrm>
          <a:prstGeom prst="rect">
            <a:avLst/>
          </a:prstGeom>
          <a:noFill/>
          <a:ln/>
        </p:spPr>
        <p:txBody>
          <a:bodyPr wrap="none" lIns="0" tIns="0" rIns="0" bIns="0" rtlCol="0" anchor="t"/>
          <a:lstStyle/>
          <a:p>
            <a:pPr marL="0" indent="0" algn="l">
              <a:lnSpc>
                <a:spcPts val="1950"/>
              </a:lnSpc>
              <a:buNone/>
            </a:pPr>
            <a:r>
              <a:rPr lang="en-US" sz="2000" dirty="0">
                <a:solidFill>
                  <a:srgbClr val="454240"/>
                </a:solidFill>
                <a:latin typeface="Libre Baskerville" pitchFamily="34" charset="0"/>
                <a:ea typeface="Libre Baskerville" pitchFamily="34" charset="-122"/>
                <a:cs typeface="Libre Baskerville" pitchFamily="34" charset="-120"/>
              </a:rPr>
              <a:t>Scalable Architecture</a:t>
            </a:r>
            <a:endParaRPr lang="en-US" sz="2000" dirty="0"/>
          </a:p>
        </p:txBody>
      </p:sp>
      <p:sp>
        <p:nvSpPr>
          <p:cNvPr id="11" name="Text 6"/>
          <p:cNvSpPr/>
          <p:nvPr/>
        </p:nvSpPr>
        <p:spPr>
          <a:xfrm>
            <a:off x="5701983" y="5346448"/>
            <a:ext cx="3500363" cy="581619"/>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Capacity grows with the </a:t>
            </a:r>
          </a:p>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expanding higher education sector.</a:t>
            </a:r>
            <a:endParaRPr lang="en-US" sz="1600" dirty="0"/>
          </a:p>
        </p:txBody>
      </p:sp>
      <p:pic>
        <p:nvPicPr>
          <p:cNvPr id="12" name="Image 3" descr="preencoded.png"/>
          <p:cNvPicPr>
            <a:picLocks noChangeAspect="1"/>
          </p:cNvPicPr>
          <p:nvPr/>
        </p:nvPicPr>
        <p:blipFill>
          <a:blip r:embed="rId5"/>
          <a:stretch>
            <a:fillRect/>
          </a:stretch>
        </p:blipFill>
        <p:spPr>
          <a:xfrm>
            <a:off x="11006178" y="3616999"/>
            <a:ext cx="807839" cy="995601"/>
          </a:xfrm>
          <a:prstGeom prst="rect">
            <a:avLst/>
          </a:prstGeom>
        </p:spPr>
      </p:pic>
      <p:sp>
        <p:nvSpPr>
          <p:cNvPr id="13" name="Text 7"/>
          <p:cNvSpPr/>
          <p:nvPr/>
        </p:nvSpPr>
        <p:spPr>
          <a:xfrm>
            <a:off x="9808529" y="4932468"/>
            <a:ext cx="2395299" cy="252413"/>
          </a:xfrm>
          <a:prstGeom prst="rect">
            <a:avLst/>
          </a:prstGeom>
          <a:noFill/>
          <a:ln/>
        </p:spPr>
        <p:txBody>
          <a:bodyPr wrap="none" lIns="0" tIns="0" rIns="0" bIns="0" rtlCol="0" anchor="t"/>
          <a:lstStyle/>
          <a:p>
            <a:pPr marL="0" indent="0" algn="l">
              <a:lnSpc>
                <a:spcPts val="1950"/>
              </a:lnSpc>
              <a:buNone/>
            </a:pPr>
            <a:r>
              <a:rPr lang="en-US" sz="2000" dirty="0">
                <a:solidFill>
                  <a:srgbClr val="454240"/>
                </a:solidFill>
                <a:latin typeface="Libre Baskerville" pitchFamily="34" charset="0"/>
                <a:ea typeface="Libre Baskerville" pitchFamily="34" charset="-122"/>
                <a:cs typeface="Libre Baskerville" pitchFamily="34" charset="-120"/>
              </a:rPr>
              <a:t>Regular Enhancements</a:t>
            </a:r>
            <a:endParaRPr lang="en-US" sz="2000" dirty="0"/>
          </a:p>
        </p:txBody>
      </p:sp>
      <p:sp>
        <p:nvSpPr>
          <p:cNvPr id="14" name="Text 8"/>
          <p:cNvSpPr/>
          <p:nvPr/>
        </p:nvSpPr>
        <p:spPr>
          <a:xfrm>
            <a:off x="9808529" y="5346448"/>
            <a:ext cx="3360101" cy="767564"/>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System improves over time to </a:t>
            </a:r>
          </a:p>
          <a:p>
            <a:pPr marL="0" indent="0" algn="l">
              <a:lnSpc>
                <a:spcPts val="2000"/>
              </a:lnSpc>
              <a:buNone/>
            </a:pPr>
            <a:r>
              <a:rPr lang="en-US" sz="1600" dirty="0">
                <a:solidFill>
                  <a:srgbClr val="454240"/>
                </a:solidFill>
                <a:latin typeface="DM Sans" pitchFamily="34" charset="0"/>
                <a:ea typeface="DM Sans" pitchFamily="34" charset="-122"/>
                <a:cs typeface="DM Sans" pitchFamily="34" charset="-120"/>
              </a:rPr>
              <a:t>meet evolving needs.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69156"/>
            <a:ext cx="6797516" cy="708779"/>
          </a:xfrm>
          <a:prstGeom prst="rect">
            <a:avLst/>
          </a:prstGeom>
          <a:noFill/>
          <a:ln/>
        </p:spPr>
        <p:txBody>
          <a:bodyPr wrap="none" lIns="0" tIns="0" rIns="0" bIns="0" rtlCol="0" anchor="t"/>
          <a:lstStyle/>
          <a:p>
            <a:pPr marL="0" indent="0" algn="l">
              <a:lnSpc>
                <a:spcPts val="5550"/>
              </a:lnSpc>
              <a:buNone/>
            </a:pPr>
            <a:r>
              <a:rPr lang="en-US" sz="4000" dirty="0">
                <a:solidFill>
                  <a:srgbClr val="5C4E3D"/>
                </a:solidFill>
                <a:latin typeface="Libre Baskerville" pitchFamily="34" charset="0"/>
                <a:ea typeface="Libre Baskerville" pitchFamily="34" charset="-122"/>
                <a:cs typeface="Libre Baskerville" pitchFamily="34" charset="-120"/>
              </a:rPr>
              <a:t>7. Competitive Advantage</a:t>
            </a:r>
            <a:endParaRPr lang="en-US" sz="4000" dirty="0"/>
          </a:p>
        </p:txBody>
      </p:sp>
      <p:sp>
        <p:nvSpPr>
          <p:cNvPr id="3" name="Text 1"/>
          <p:cNvSpPr/>
          <p:nvPr/>
        </p:nvSpPr>
        <p:spPr>
          <a:xfrm>
            <a:off x="793790" y="1918097"/>
            <a:ext cx="12211288" cy="566976"/>
          </a:xfrm>
          <a:prstGeom prst="rect">
            <a:avLst/>
          </a:prstGeom>
          <a:noFill/>
          <a:ln/>
        </p:spPr>
        <p:txBody>
          <a:bodyPr wrap="none" lIns="0" tIns="0" rIns="0" bIns="0" rtlCol="0" anchor="t"/>
          <a:lstStyle/>
          <a:p>
            <a:pPr marL="0" indent="0" algn="l">
              <a:lnSpc>
                <a:spcPts val="4450"/>
              </a:lnSpc>
              <a:buNone/>
            </a:pPr>
            <a:r>
              <a:rPr lang="en-US" sz="3200" dirty="0">
                <a:solidFill>
                  <a:srgbClr val="5C4E3D"/>
                </a:solidFill>
                <a:latin typeface="Libre Baskerville" pitchFamily="34" charset="0"/>
                <a:ea typeface="Libre Baskerville" pitchFamily="34" charset="-122"/>
                <a:cs typeface="Libre Baskerville" pitchFamily="34" charset="-120"/>
              </a:rPr>
              <a:t>Implementation Success: An Operational Revolution</a:t>
            </a:r>
            <a:endParaRPr lang="en-US" sz="3200" dirty="0"/>
          </a:p>
        </p:txBody>
      </p:sp>
      <p:sp>
        <p:nvSpPr>
          <p:cNvPr id="4" name="Text 2"/>
          <p:cNvSpPr/>
          <p:nvPr/>
        </p:nvSpPr>
        <p:spPr>
          <a:xfrm>
            <a:off x="793790" y="282523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HEMIS has successfully delivered immediate, tangible benefits.</a:t>
            </a:r>
            <a:endParaRPr lang="en-US" sz="1750" dirty="0"/>
          </a:p>
        </p:txBody>
      </p:sp>
      <p:sp>
        <p:nvSpPr>
          <p:cNvPr id="5" name="Shape 3"/>
          <p:cNvSpPr/>
          <p:nvPr/>
        </p:nvSpPr>
        <p:spPr>
          <a:xfrm>
            <a:off x="793790" y="3443288"/>
            <a:ext cx="13042821" cy="3917156"/>
          </a:xfrm>
          <a:prstGeom prst="roundRect">
            <a:avLst>
              <a:gd name="adj" fmla="val 2432"/>
            </a:avLst>
          </a:prstGeom>
          <a:noFill/>
          <a:ln w="7620">
            <a:solidFill>
              <a:srgbClr val="000000">
                <a:alpha val="8000"/>
              </a:srgbClr>
            </a:solidFill>
            <a:prstDash val="solid"/>
          </a:ln>
        </p:spPr>
      </p:sp>
      <p:sp>
        <p:nvSpPr>
          <p:cNvPr id="6" name="Shape 4"/>
          <p:cNvSpPr/>
          <p:nvPr/>
        </p:nvSpPr>
        <p:spPr>
          <a:xfrm>
            <a:off x="801410" y="3450908"/>
            <a:ext cx="13026271" cy="650319"/>
          </a:xfrm>
          <a:prstGeom prst="rect">
            <a:avLst/>
          </a:prstGeom>
          <a:solidFill>
            <a:srgbClr val="FFFFFF">
              <a:alpha val="4000"/>
            </a:srgbClr>
          </a:solidFill>
          <a:ln/>
        </p:spPr>
      </p:sp>
      <p:sp>
        <p:nvSpPr>
          <p:cNvPr id="7" name="Text 5"/>
          <p:cNvSpPr/>
          <p:nvPr/>
        </p:nvSpPr>
        <p:spPr>
          <a:xfrm>
            <a:off x="1029653" y="3594616"/>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Before HEMIS (Manual)</a:t>
            </a:r>
            <a:endParaRPr lang="en-US" sz="1750" dirty="0"/>
          </a:p>
        </p:txBody>
      </p:sp>
      <p:sp>
        <p:nvSpPr>
          <p:cNvPr id="8" name="Text 6"/>
          <p:cNvSpPr/>
          <p:nvPr/>
        </p:nvSpPr>
        <p:spPr>
          <a:xfrm>
            <a:off x="5375077" y="3594616"/>
            <a:ext cx="388036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After HEMIS (Digital Solution)</a:t>
            </a:r>
            <a:endParaRPr lang="en-US" sz="1750" dirty="0"/>
          </a:p>
        </p:txBody>
      </p:sp>
      <p:sp>
        <p:nvSpPr>
          <p:cNvPr id="9" name="Text 7"/>
          <p:cNvSpPr/>
          <p:nvPr/>
        </p:nvSpPr>
        <p:spPr>
          <a:xfrm>
            <a:off x="9716691" y="3594616"/>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Strategic Advantage</a:t>
            </a:r>
            <a:endParaRPr lang="en-US" sz="1750" dirty="0"/>
          </a:p>
        </p:txBody>
      </p:sp>
      <p:sp>
        <p:nvSpPr>
          <p:cNvPr id="10" name="Shape 8"/>
          <p:cNvSpPr/>
          <p:nvPr/>
        </p:nvSpPr>
        <p:spPr>
          <a:xfrm>
            <a:off x="801410" y="4101227"/>
            <a:ext cx="13026271" cy="650319"/>
          </a:xfrm>
          <a:prstGeom prst="rect">
            <a:avLst/>
          </a:prstGeom>
          <a:solidFill>
            <a:srgbClr val="000000">
              <a:alpha val="4000"/>
            </a:srgbClr>
          </a:solidFill>
          <a:ln/>
        </p:spPr>
      </p:sp>
      <p:sp>
        <p:nvSpPr>
          <p:cNvPr id="11" name="Text 9"/>
          <p:cNvSpPr/>
          <p:nvPr/>
        </p:nvSpPr>
        <p:spPr>
          <a:xfrm>
            <a:off x="1029653" y="424493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Manual data collection</a:t>
            </a:r>
            <a:endParaRPr lang="en-US" sz="1750" dirty="0"/>
          </a:p>
        </p:txBody>
      </p:sp>
      <p:sp>
        <p:nvSpPr>
          <p:cNvPr id="12" name="Text 10"/>
          <p:cNvSpPr/>
          <p:nvPr/>
        </p:nvSpPr>
        <p:spPr>
          <a:xfrm>
            <a:off x="5375077" y="4244935"/>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rPr>
              <a:t>Instant, real-time data</a:t>
            </a:r>
          </a:p>
        </p:txBody>
      </p:sp>
      <p:sp>
        <p:nvSpPr>
          <p:cNvPr id="13" name="Text 11"/>
          <p:cNvSpPr/>
          <p:nvPr/>
        </p:nvSpPr>
        <p:spPr>
          <a:xfrm>
            <a:off x="9716691" y="424493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Faster, informed decisions</a:t>
            </a:r>
            <a:endParaRPr lang="en-US" sz="1750" dirty="0"/>
          </a:p>
        </p:txBody>
      </p:sp>
      <p:sp>
        <p:nvSpPr>
          <p:cNvPr id="14" name="Shape 12"/>
          <p:cNvSpPr/>
          <p:nvPr/>
        </p:nvSpPr>
        <p:spPr>
          <a:xfrm>
            <a:off x="801410" y="4751546"/>
            <a:ext cx="13026271" cy="650319"/>
          </a:xfrm>
          <a:prstGeom prst="rect">
            <a:avLst/>
          </a:prstGeom>
          <a:solidFill>
            <a:srgbClr val="FFFFFF">
              <a:alpha val="4000"/>
            </a:srgbClr>
          </a:solidFill>
          <a:ln/>
        </p:spPr>
      </p:sp>
      <p:sp>
        <p:nvSpPr>
          <p:cNvPr id="15" name="Text 13"/>
          <p:cNvSpPr/>
          <p:nvPr/>
        </p:nvSpPr>
        <p:spPr>
          <a:xfrm>
            <a:off x="1029653" y="489525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High error rate</a:t>
            </a:r>
            <a:endParaRPr lang="en-US" sz="1750" dirty="0"/>
          </a:p>
        </p:txBody>
      </p:sp>
      <p:sp>
        <p:nvSpPr>
          <p:cNvPr id="16" name="Text 14"/>
          <p:cNvSpPr/>
          <p:nvPr/>
        </p:nvSpPr>
        <p:spPr>
          <a:xfrm>
            <a:off x="5375077" y="4895255"/>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Error-free validation</a:t>
            </a:r>
            <a:endParaRPr lang="en-US" sz="1750" dirty="0"/>
          </a:p>
        </p:txBody>
      </p:sp>
      <p:sp>
        <p:nvSpPr>
          <p:cNvPr id="17" name="Text 15"/>
          <p:cNvSpPr/>
          <p:nvPr/>
        </p:nvSpPr>
        <p:spPr>
          <a:xfrm>
            <a:off x="9716691" y="4895255"/>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Reliable intelligence</a:t>
            </a:r>
            <a:endParaRPr lang="en-US" sz="1750" dirty="0"/>
          </a:p>
        </p:txBody>
      </p:sp>
      <p:sp>
        <p:nvSpPr>
          <p:cNvPr id="18" name="Shape 16"/>
          <p:cNvSpPr/>
          <p:nvPr/>
        </p:nvSpPr>
        <p:spPr>
          <a:xfrm>
            <a:off x="801410" y="5401866"/>
            <a:ext cx="13026271" cy="650319"/>
          </a:xfrm>
          <a:prstGeom prst="rect">
            <a:avLst/>
          </a:prstGeom>
          <a:solidFill>
            <a:srgbClr val="000000">
              <a:alpha val="4000"/>
            </a:srgbClr>
          </a:solidFill>
          <a:ln/>
        </p:spPr>
      </p:sp>
      <p:sp>
        <p:nvSpPr>
          <p:cNvPr id="19" name="Text 17"/>
          <p:cNvSpPr/>
          <p:nvPr/>
        </p:nvSpPr>
        <p:spPr>
          <a:xfrm>
            <a:off x="1029653" y="5545574"/>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Focus on paperwork</a:t>
            </a:r>
            <a:endParaRPr lang="en-US" sz="1750" dirty="0"/>
          </a:p>
        </p:txBody>
      </p:sp>
      <p:sp>
        <p:nvSpPr>
          <p:cNvPr id="20" name="Text 18"/>
          <p:cNvSpPr/>
          <p:nvPr/>
        </p:nvSpPr>
        <p:spPr>
          <a:xfrm>
            <a:off x="5375077" y="5545574"/>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Focus on education</a:t>
            </a:r>
            <a:endParaRPr lang="en-US" sz="1750" dirty="0"/>
          </a:p>
        </p:txBody>
      </p:sp>
      <p:sp>
        <p:nvSpPr>
          <p:cNvPr id="21" name="Text 19"/>
          <p:cNvSpPr/>
          <p:nvPr/>
        </p:nvSpPr>
        <p:spPr>
          <a:xfrm>
            <a:off x="9716691" y="5545574"/>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Maximized staff value</a:t>
            </a:r>
            <a:endParaRPr lang="en-US" sz="1750" dirty="0"/>
          </a:p>
        </p:txBody>
      </p:sp>
      <p:sp>
        <p:nvSpPr>
          <p:cNvPr id="22" name="Shape 20"/>
          <p:cNvSpPr/>
          <p:nvPr/>
        </p:nvSpPr>
        <p:spPr>
          <a:xfrm>
            <a:off x="801410" y="6052185"/>
            <a:ext cx="13026271" cy="650319"/>
          </a:xfrm>
          <a:prstGeom prst="rect">
            <a:avLst/>
          </a:prstGeom>
          <a:solidFill>
            <a:srgbClr val="FFFFFF">
              <a:alpha val="4000"/>
            </a:srgbClr>
          </a:solidFill>
          <a:ln/>
        </p:spPr>
      </p:sp>
      <p:sp>
        <p:nvSpPr>
          <p:cNvPr id="23" name="Text 21"/>
          <p:cNvSpPr/>
          <p:nvPr/>
        </p:nvSpPr>
        <p:spPr>
          <a:xfrm>
            <a:off x="1029653" y="619589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Outdated information</a:t>
            </a:r>
            <a:endParaRPr lang="en-US" sz="1750" dirty="0"/>
          </a:p>
        </p:txBody>
      </p:sp>
      <p:sp>
        <p:nvSpPr>
          <p:cNvPr id="24" name="Text 22"/>
          <p:cNvSpPr/>
          <p:nvPr/>
        </p:nvSpPr>
        <p:spPr>
          <a:xfrm>
            <a:off x="5375077" y="6195893"/>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Current intelligence</a:t>
            </a:r>
            <a:endParaRPr lang="en-US" sz="1750" dirty="0"/>
          </a:p>
        </p:txBody>
      </p:sp>
      <p:sp>
        <p:nvSpPr>
          <p:cNvPr id="25" name="Text 23"/>
          <p:cNvSpPr/>
          <p:nvPr/>
        </p:nvSpPr>
        <p:spPr>
          <a:xfrm>
            <a:off x="9716691" y="619589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Responsive governance</a:t>
            </a:r>
            <a:endParaRPr lang="en-US" sz="1750" dirty="0"/>
          </a:p>
        </p:txBody>
      </p:sp>
      <p:sp>
        <p:nvSpPr>
          <p:cNvPr id="26" name="Shape 24"/>
          <p:cNvSpPr/>
          <p:nvPr/>
        </p:nvSpPr>
        <p:spPr>
          <a:xfrm>
            <a:off x="801410" y="6702504"/>
            <a:ext cx="13026271" cy="650319"/>
          </a:xfrm>
          <a:prstGeom prst="rect">
            <a:avLst/>
          </a:prstGeom>
          <a:solidFill>
            <a:srgbClr val="000000">
              <a:alpha val="4000"/>
            </a:srgbClr>
          </a:solidFill>
          <a:ln/>
        </p:spPr>
      </p:sp>
      <p:sp>
        <p:nvSpPr>
          <p:cNvPr id="27" name="Text 25"/>
          <p:cNvSpPr/>
          <p:nvPr/>
        </p:nvSpPr>
        <p:spPr>
          <a:xfrm>
            <a:off x="1029653" y="684621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Reactive quality assurance</a:t>
            </a:r>
            <a:endParaRPr lang="en-US" sz="1750" dirty="0"/>
          </a:p>
        </p:txBody>
      </p:sp>
      <p:sp>
        <p:nvSpPr>
          <p:cNvPr id="28" name="Text 26"/>
          <p:cNvSpPr/>
          <p:nvPr/>
        </p:nvSpPr>
        <p:spPr>
          <a:xfrm>
            <a:off x="5375077" y="6846213"/>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Proactive monitoring</a:t>
            </a:r>
            <a:endParaRPr lang="en-US" sz="1750" dirty="0"/>
          </a:p>
        </p:txBody>
      </p:sp>
      <p:sp>
        <p:nvSpPr>
          <p:cNvPr id="29" name="Text 27"/>
          <p:cNvSpPr/>
          <p:nvPr/>
        </p:nvSpPr>
        <p:spPr>
          <a:xfrm>
            <a:off x="9716691" y="6846213"/>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Consistent standards</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59512"/>
            <a:ext cx="4252913" cy="531614"/>
          </a:xfrm>
          <a:prstGeom prst="rect">
            <a:avLst/>
          </a:prstGeom>
          <a:noFill/>
          <a:ln/>
        </p:spPr>
        <p:txBody>
          <a:bodyPr wrap="none" lIns="0" tIns="0" rIns="0" bIns="0" rtlCol="0" anchor="t"/>
          <a:lstStyle/>
          <a:p>
            <a:pPr marL="0" indent="0" algn="l">
              <a:lnSpc>
                <a:spcPts val="4150"/>
              </a:lnSpc>
              <a:buNone/>
            </a:pPr>
            <a:r>
              <a:rPr lang="en-US" sz="3300" dirty="0">
                <a:solidFill>
                  <a:srgbClr val="5C4E3D"/>
                </a:solidFill>
                <a:latin typeface="Libre Baskerville" pitchFamily="34" charset="0"/>
                <a:ea typeface="Libre Baskerville" pitchFamily="34" charset="-122"/>
                <a:cs typeface="Libre Baskerville" pitchFamily="34" charset="-120"/>
              </a:rPr>
              <a:t>8. Success &amp; Results</a:t>
            </a:r>
            <a:endParaRPr lang="en-US" sz="3300" dirty="0"/>
          </a:p>
        </p:txBody>
      </p:sp>
      <p:sp>
        <p:nvSpPr>
          <p:cNvPr id="4" name="Text 1"/>
          <p:cNvSpPr/>
          <p:nvPr/>
        </p:nvSpPr>
        <p:spPr>
          <a:xfrm>
            <a:off x="6280190" y="1646277"/>
            <a:ext cx="7556421" cy="850583"/>
          </a:xfrm>
          <a:prstGeom prst="rect">
            <a:avLst/>
          </a:prstGeom>
          <a:noFill/>
          <a:ln/>
        </p:spPr>
        <p:txBody>
          <a:bodyPr wrap="squar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Implementation Success: An Operational Revolution</a:t>
            </a:r>
            <a:endParaRPr lang="en-US" sz="2650" dirty="0"/>
          </a:p>
        </p:txBody>
      </p:sp>
      <p:sp>
        <p:nvSpPr>
          <p:cNvPr id="5" name="Text 2"/>
          <p:cNvSpPr/>
          <p:nvPr/>
        </p:nvSpPr>
        <p:spPr>
          <a:xfrm>
            <a:off x="6280190" y="2752011"/>
            <a:ext cx="7556421" cy="272177"/>
          </a:xfrm>
          <a:prstGeom prst="rect">
            <a:avLst/>
          </a:prstGeom>
          <a:noFill/>
          <a:ln/>
        </p:spPr>
        <p:txBody>
          <a:bodyPr wrap="none" lIns="0" tIns="0" rIns="0" bIns="0" rtlCol="0" anchor="t"/>
          <a:lstStyle/>
          <a:p>
            <a:pPr marL="0" indent="0" algn="l">
              <a:lnSpc>
                <a:spcPts val="2100"/>
              </a:lnSpc>
              <a:buNone/>
            </a:pPr>
            <a:r>
              <a:rPr lang="en-US" sz="1600" dirty="0">
                <a:solidFill>
                  <a:srgbClr val="454240"/>
                </a:solidFill>
                <a:latin typeface="DM Sans" pitchFamily="34" charset="0"/>
                <a:ea typeface="DM Sans" pitchFamily="34" charset="-122"/>
                <a:cs typeface="DM Sans" pitchFamily="34" charset="-120"/>
              </a:rPr>
              <a:t>HEMIS has successfully delivered </a:t>
            </a:r>
            <a:r>
              <a:rPr lang="en-US" sz="1600" dirty="0">
                <a:solidFill>
                  <a:srgbClr val="B88E23"/>
                </a:solidFill>
                <a:latin typeface="DM Sans" pitchFamily="34" charset="0"/>
                <a:ea typeface="DM Sans" pitchFamily="34" charset="-122"/>
                <a:cs typeface="DM Sans" pitchFamily="34" charset="-120"/>
              </a:rPr>
              <a:t>immediate, tangible benefits</a:t>
            </a:r>
            <a:r>
              <a:rPr lang="en-US" sz="1600" dirty="0">
                <a:solidFill>
                  <a:srgbClr val="454240"/>
                </a:solidFill>
                <a:latin typeface="DM Sans" pitchFamily="34" charset="0"/>
                <a:ea typeface="DM Sans" pitchFamily="34" charset="-122"/>
                <a:cs typeface="DM Sans" pitchFamily="34" charset="-120"/>
              </a:rPr>
              <a:t>.</a:t>
            </a:r>
            <a:endParaRPr lang="en-US" sz="1600" dirty="0"/>
          </a:p>
        </p:txBody>
      </p:sp>
      <p:sp>
        <p:nvSpPr>
          <p:cNvPr id="6" name="Text 3"/>
          <p:cNvSpPr/>
          <p:nvPr/>
        </p:nvSpPr>
        <p:spPr>
          <a:xfrm>
            <a:off x="6286024" y="3579139"/>
            <a:ext cx="2376964" cy="561380"/>
          </a:xfrm>
          <a:prstGeom prst="rect">
            <a:avLst/>
          </a:prstGeom>
          <a:noFill/>
          <a:ln/>
        </p:spPr>
        <p:txBody>
          <a:bodyPr wrap="none" lIns="0" tIns="0" rIns="0" bIns="0" rtlCol="0" anchor="t"/>
          <a:lstStyle/>
          <a:p>
            <a:pPr marL="0" indent="0" algn="ctr">
              <a:lnSpc>
                <a:spcPts val="4400"/>
              </a:lnSpc>
              <a:buNone/>
            </a:pPr>
            <a:r>
              <a:rPr lang="en-US" sz="4400" dirty="0">
                <a:solidFill>
                  <a:srgbClr val="454240"/>
                </a:solidFill>
                <a:latin typeface="Libre Baskerville" pitchFamily="34" charset="0"/>
                <a:ea typeface="Libre Baskerville" pitchFamily="34" charset="-122"/>
                <a:cs typeface="Libre Baskerville" pitchFamily="34" charset="-120"/>
              </a:rPr>
              <a:t>100%</a:t>
            </a:r>
            <a:endParaRPr lang="en-US" sz="4400" dirty="0"/>
          </a:p>
        </p:txBody>
      </p:sp>
      <p:sp>
        <p:nvSpPr>
          <p:cNvPr id="7" name="Text 4"/>
          <p:cNvSpPr/>
          <p:nvPr/>
        </p:nvSpPr>
        <p:spPr>
          <a:xfrm>
            <a:off x="6286024" y="4353045"/>
            <a:ext cx="2376964" cy="531495"/>
          </a:xfrm>
          <a:prstGeom prst="rect">
            <a:avLst/>
          </a:prstGeom>
          <a:noFill/>
          <a:ln/>
        </p:spPr>
        <p:txBody>
          <a:bodyPr wrap="square" lIns="0" tIns="0" rIns="0" bIns="0" rtlCol="0" anchor="t"/>
          <a:lstStyle/>
          <a:p>
            <a:pPr marL="0" indent="0" algn="ctr">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Reporting Time Reduced</a:t>
            </a:r>
            <a:endParaRPr lang="en-US" sz="1650" dirty="0"/>
          </a:p>
        </p:txBody>
      </p:sp>
      <p:sp>
        <p:nvSpPr>
          <p:cNvPr id="8" name="Text 5"/>
          <p:cNvSpPr/>
          <p:nvPr/>
        </p:nvSpPr>
        <p:spPr>
          <a:xfrm>
            <a:off x="6286024" y="4986576"/>
            <a:ext cx="2376964" cy="544354"/>
          </a:xfrm>
          <a:prstGeom prst="rect">
            <a:avLst/>
          </a:prstGeom>
          <a:noFill/>
          <a:ln/>
        </p:spPr>
        <p:txBody>
          <a:bodyPr wrap="square" lIns="0" tIns="0" rIns="0" bIns="0" rtlCol="0" anchor="t"/>
          <a:lstStyle/>
          <a:p>
            <a:pPr marL="0" indent="0" algn="ctr">
              <a:lnSpc>
                <a:spcPts val="2100"/>
              </a:lnSpc>
              <a:buNone/>
            </a:pPr>
            <a:r>
              <a:rPr lang="en-US" sz="1300" dirty="0">
                <a:solidFill>
                  <a:srgbClr val="454240"/>
                </a:solidFill>
                <a:latin typeface="DM Sans" pitchFamily="34" charset="0"/>
                <a:ea typeface="DM Sans" pitchFamily="34" charset="-122"/>
                <a:cs typeface="DM Sans" pitchFamily="34" charset="-120"/>
              </a:rPr>
              <a:t>From weeks of manual work to instant automated reports.</a:t>
            </a:r>
            <a:endParaRPr lang="en-US" sz="1300" dirty="0"/>
          </a:p>
        </p:txBody>
      </p:sp>
      <p:sp>
        <p:nvSpPr>
          <p:cNvPr id="9" name="Text 6"/>
          <p:cNvSpPr/>
          <p:nvPr/>
        </p:nvSpPr>
        <p:spPr>
          <a:xfrm>
            <a:off x="8875633" y="3579139"/>
            <a:ext cx="2377083" cy="561380"/>
          </a:xfrm>
          <a:prstGeom prst="rect">
            <a:avLst/>
          </a:prstGeom>
          <a:noFill/>
          <a:ln/>
        </p:spPr>
        <p:txBody>
          <a:bodyPr wrap="none" lIns="0" tIns="0" rIns="0" bIns="0" rtlCol="0" anchor="t"/>
          <a:lstStyle/>
          <a:p>
            <a:pPr marL="0" indent="0" algn="ctr">
              <a:lnSpc>
                <a:spcPts val="4400"/>
              </a:lnSpc>
              <a:buNone/>
            </a:pPr>
            <a:r>
              <a:rPr lang="en-US" sz="4400" dirty="0">
                <a:solidFill>
                  <a:srgbClr val="454240"/>
                </a:solidFill>
                <a:latin typeface="Libre Baskerville" pitchFamily="34" charset="0"/>
                <a:ea typeface="Libre Baskerville" pitchFamily="34" charset="-122"/>
                <a:cs typeface="Libre Baskerville" pitchFamily="34" charset="-120"/>
              </a:rPr>
              <a:t>↑</a:t>
            </a:r>
            <a:endParaRPr lang="en-US" sz="4400" dirty="0"/>
          </a:p>
        </p:txBody>
      </p:sp>
      <p:sp>
        <p:nvSpPr>
          <p:cNvPr id="10" name="Text 7"/>
          <p:cNvSpPr/>
          <p:nvPr/>
        </p:nvSpPr>
        <p:spPr>
          <a:xfrm>
            <a:off x="8875633" y="4353045"/>
            <a:ext cx="2377083" cy="531495"/>
          </a:xfrm>
          <a:prstGeom prst="rect">
            <a:avLst/>
          </a:prstGeom>
          <a:noFill/>
          <a:ln/>
        </p:spPr>
        <p:txBody>
          <a:bodyPr wrap="square" lIns="0" tIns="0" rIns="0" bIns="0" rtlCol="0" anchor="t"/>
          <a:lstStyle/>
          <a:p>
            <a:pPr marL="0" indent="0" algn="ctr">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Productivity Increased</a:t>
            </a:r>
            <a:endParaRPr lang="en-US" sz="1650" dirty="0"/>
          </a:p>
        </p:txBody>
      </p:sp>
      <p:sp>
        <p:nvSpPr>
          <p:cNvPr id="11" name="Text 8"/>
          <p:cNvSpPr/>
          <p:nvPr/>
        </p:nvSpPr>
        <p:spPr>
          <a:xfrm>
            <a:off x="8875633" y="4986576"/>
            <a:ext cx="2377083" cy="544354"/>
          </a:xfrm>
          <a:prstGeom prst="rect">
            <a:avLst/>
          </a:prstGeom>
          <a:noFill/>
          <a:ln/>
        </p:spPr>
        <p:txBody>
          <a:bodyPr wrap="square" lIns="0" tIns="0" rIns="0" bIns="0" rtlCol="0" anchor="t"/>
          <a:lstStyle/>
          <a:p>
            <a:pPr marL="0" indent="0" algn="ctr">
              <a:lnSpc>
                <a:spcPts val="2100"/>
              </a:lnSpc>
              <a:buNone/>
            </a:pPr>
            <a:r>
              <a:rPr lang="en-US" sz="1300" dirty="0">
                <a:solidFill>
                  <a:srgbClr val="454240"/>
                </a:solidFill>
                <a:latin typeface="DM Sans" pitchFamily="34" charset="0"/>
                <a:ea typeface="DM Sans" pitchFamily="34" charset="-122"/>
                <a:cs typeface="DM Sans" pitchFamily="34" charset="-120"/>
              </a:rPr>
              <a:t>Staff shift from data entry to strategic initiatives.</a:t>
            </a:r>
            <a:endParaRPr lang="en-US" sz="1300" dirty="0"/>
          </a:p>
        </p:txBody>
      </p:sp>
      <p:sp>
        <p:nvSpPr>
          <p:cNvPr id="12" name="Text 9"/>
          <p:cNvSpPr/>
          <p:nvPr/>
        </p:nvSpPr>
        <p:spPr>
          <a:xfrm>
            <a:off x="11465362" y="3579139"/>
            <a:ext cx="2376964" cy="561380"/>
          </a:xfrm>
          <a:prstGeom prst="rect">
            <a:avLst/>
          </a:prstGeom>
          <a:noFill/>
          <a:ln/>
        </p:spPr>
        <p:txBody>
          <a:bodyPr wrap="none" lIns="0" tIns="0" rIns="0" bIns="0" rtlCol="0" anchor="t"/>
          <a:lstStyle/>
          <a:p>
            <a:pPr marL="0" indent="0" algn="ctr">
              <a:lnSpc>
                <a:spcPts val="4400"/>
              </a:lnSpc>
              <a:buNone/>
            </a:pPr>
            <a:r>
              <a:rPr lang="en-US" sz="4400" dirty="0">
                <a:solidFill>
                  <a:srgbClr val="454240"/>
                </a:solidFill>
                <a:latin typeface="Libre Baskerville" pitchFamily="34" charset="0"/>
                <a:ea typeface="Libre Baskerville" pitchFamily="34" charset="-122"/>
                <a:cs typeface="Libre Baskerville" pitchFamily="34" charset="-120"/>
              </a:rPr>
              <a:t>↓</a:t>
            </a:r>
            <a:endParaRPr lang="en-US" sz="4400" dirty="0"/>
          </a:p>
        </p:txBody>
      </p:sp>
      <p:sp>
        <p:nvSpPr>
          <p:cNvPr id="13" name="Text 10"/>
          <p:cNvSpPr/>
          <p:nvPr/>
        </p:nvSpPr>
        <p:spPr>
          <a:xfrm>
            <a:off x="11590615" y="4353045"/>
            <a:ext cx="2126456" cy="265747"/>
          </a:xfrm>
          <a:prstGeom prst="rect">
            <a:avLst/>
          </a:prstGeom>
          <a:noFill/>
          <a:ln/>
        </p:spPr>
        <p:txBody>
          <a:bodyPr wrap="none" lIns="0" tIns="0" rIns="0" bIns="0" rtlCol="0" anchor="t"/>
          <a:lstStyle/>
          <a:p>
            <a:pPr marL="0" indent="0" algn="ctr">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Errors Reduced</a:t>
            </a:r>
            <a:endParaRPr lang="en-US" sz="1650" dirty="0"/>
          </a:p>
        </p:txBody>
      </p:sp>
      <p:sp>
        <p:nvSpPr>
          <p:cNvPr id="14" name="Text 11"/>
          <p:cNvSpPr/>
          <p:nvPr/>
        </p:nvSpPr>
        <p:spPr>
          <a:xfrm>
            <a:off x="11465362" y="4720829"/>
            <a:ext cx="2376964" cy="816531"/>
          </a:xfrm>
          <a:prstGeom prst="rect">
            <a:avLst/>
          </a:prstGeom>
          <a:noFill/>
          <a:ln/>
        </p:spPr>
        <p:txBody>
          <a:bodyPr wrap="square" lIns="0" tIns="0" rIns="0" bIns="0" rtlCol="0" anchor="t"/>
          <a:lstStyle/>
          <a:p>
            <a:pPr marL="0" indent="0" algn="ctr">
              <a:lnSpc>
                <a:spcPts val="2100"/>
              </a:lnSpc>
              <a:buNone/>
            </a:pPr>
            <a:r>
              <a:rPr lang="en-US" sz="1300" dirty="0">
                <a:solidFill>
                  <a:srgbClr val="454240"/>
                </a:solidFill>
                <a:latin typeface="DM Sans" pitchFamily="34" charset="0"/>
                <a:ea typeface="DM Sans" pitchFamily="34" charset="-122"/>
                <a:cs typeface="DM Sans" pitchFamily="34" charset="-120"/>
              </a:rPr>
              <a:t>Improved data accuracy eliminates costly manual mistakes.</a:t>
            </a:r>
            <a:endParaRPr lang="en-US" sz="1300" dirty="0"/>
          </a:p>
        </p:txBody>
      </p:sp>
      <p:sp>
        <p:nvSpPr>
          <p:cNvPr id="15" name="Text 12"/>
          <p:cNvSpPr/>
          <p:nvPr/>
        </p:nvSpPr>
        <p:spPr>
          <a:xfrm>
            <a:off x="8875633" y="5962532"/>
            <a:ext cx="2377083" cy="561380"/>
          </a:xfrm>
          <a:prstGeom prst="rect">
            <a:avLst/>
          </a:prstGeom>
          <a:noFill/>
          <a:ln/>
        </p:spPr>
        <p:txBody>
          <a:bodyPr wrap="none" lIns="0" tIns="0" rIns="0" bIns="0" rtlCol="0" anchor="t"/>
          <a:lstStyle/>
          <a:p>
            <a:pPr marL="0" indent="0" algn="ctr">
              <a:lnSpc>
                <a:spcPts val="4400"/>
              </a:lnSpc>
              <a:buNone/>
            </a:pPr>
            <a:r>
              <a:rPr lang="en-US" sz="4400" dirty="0">
                <a:solidFill>
                  <a:srgbClr val="454240"/>
                </a:solidFill>
                <a:latin typeface="Libre Baskerville" pitchFamily="34" charset="0"/>
                <a:ea typeface="Libre Baskerville" pitchFamily="34" charset="-122"/>
                <a:cs typeface="Libre Baskerville" pitchFamily="34" charset="-120"/>
              </a:rPr>
              <a:t>⚡</a:t>
            </a:r>
            <a:endParaRPr lang="en-US" sz="4400" dirty="0"/>
          </a:p>
        </p:txBody>
      </p:sp>
      <p:sp>
        <p:nvSpPr>
          <p:cNvPr id="16" name="Text 13"/>
          <p:cNvSpPr/>
          <p:nvPr/>
        </p:nvSpPr>
        <p:spPr>
          <a:xfrm>
            <a:off x="8881467" y="6736438"/>
            <a:ext cx="2365296" cy="265747"/>
          </a:xfrm>
          <a:prstGeom prst="rect">
            <a:avLst/>
          </a:prstGeom>
          <a:noFill/>
          <a:ln/>
        </p:spPr>
        <p:txBody>
          <a:bodyPr wrap="none" lIns="0" tIns="0" rIns="0" bIns="0" rtlCol="0" anchor="t"/>
          <a:lstStyle/>
          <a:p>
            <a:pPr marL="0" indent="0" algn="ctr">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Decisions Accelerated</a:t>
            </a:r>
            <a:endParaRPr lang="en-US" sz="1650" dirty="0"/>
          </a:p>
        </p:txBody>
      </p:sp>
      <p:sp>
        <p:nvSpPr>
          <p:cNvPr id="17" name="Text 14"/>
          <p:cNvSpPr/>
          <p:nvPr/>
        </p:nvSpPr>
        <p:spPr>
          <a:xfrm>
            <a:off x="8875633" y="7104222"/>
            <a:ext cx="2377083" cy="544354"/>
          </a:xfrm>
          <a:prstGeom prst="rect">
            <a:avLst/>
          </a:prstGeom>
          <a:noFill/>
          <a:ln/>
        </p:spPr>
        <p:txBody>
          <a:bodyPr wrap="square" lIns="0" tIns="0" rIns="0" bIns="0" rtlCol="0" anchor="t"/>
          <a:lstStyle/>
          <a:p>
            <a:pPr marL="0" indent="0" algn="ctr">
              <a:lnSpc>
                <a:spcPts val="2100"/>
              </a:lnSpc>
              <a:buNone/>
            </a:pPr>
            <a:r>
              <a:rPr lang="en-US" sz="1300" dirty="0">
                <a:solidFill>
                  <a:srgbClr val="454240"/>
                </a:solidFill>
                <a:latin typeface="DM Sans" pitchFamily="34" charset="0"/>
                <a:ea typeface="DM Sans" pitchFamily="34" charset="-122"/>
                <a:cs typeface="DM Sans" pitchFamily="34" charset="-120"/>
              </a:rPr>
              <a:t>Real-time intelligence enables responsive governance.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73073" y="607457"/>
            <a:ext cx="5303996" cy="655677"/>
          </a:xfrm>
          <a:prstGeom prst="rect">
            <a:avLst/>
          </a:prstGeom>
          <a:noFill/>
          <a:ln/>
        </p:spPr>
        <p:txBody>
          <a:bodyPr wrap="none" lIns="0" tIns="0" rIns="0" bIns="0" rtlCol="0" anchor="t"/>
          <a:lstStyle/>
          <a:p>
            <a:pPr marL="0" indent="0" algn="l">
              <a:lnSpc>
                <a:spcPts val="5150"/>
              </a:lnSpc>
              <a:buNone/>
            </a:pPr>
            <a:r>
              <a:rPr lang="en-US" sz="4000" dirty="0">
                <a:solidFill>
                  <a:srgbClr val="5C4E3D"/>
                </a:solidFill>
                <a:latin typeface="Libre Baskerville" pitchFamily="34" charset="0"/>
                <a:ea typeface="Libre Baskerville" pitchFamily="34" charset="-122"/>
                <a:cs typeface="Libre Baskerville" pitchFamily="34" charset="-120"/>
              </a:rPr>
              <a:t>8. Success &amp; Results</a:t>
            </a:r>
            <a:endParaRPr lang="en-US" sz="4000" dirty="0"/>
          </a:p>
        </p:txBody>
      </p:sp>
      <p:sp>
        <p:nvSpPr>
          <p:cNvPr id="4" name="Text 1"/>
          <p:cNvSpPr/>
          <p:nvPr/>
        </p:nvSpPr>
        <p:spPr>
          <a:xfrm>
            <a:off x="773073" y="1577816"/>
            <a:ext cx="7307342" cy="524589"/>
          </a:xfrm>
          <a:prstGeom prst="rect">
            <a:avLst/>
          </a:prstGeom>
          <a:noFill/>
          <a:ln/>
        </p:spPr>
        <p:txBody>
          <a:bodyPr wrap="none" lIns="0" tIns="0" rIns="0" bIns="0" rtlCol="0" anchor="t"/>
          <a:lstStyle/>
          <a:p>
            <a:pPr marL="0" indent="0" algn="l">
              <a:lnSpc>
                <a:spcPts val="4100"/>
              </a:lnSpc>
              <a:buNone/>
            </a:pPr>
            <a:r>
              <a:rPr lang="en-US" sz="3600" dirty="0">
                <a:solidFill>
                  <a:srgbClr val="5C4E3D"/>
                </a:solidFill>
                <a:latin typeface="Libre Baskerville" pitchFamily="34" charset="0"/>
                <a:ea typeface="Libre Baskerville" pitchFamily="34" charset="-122"/>
                <a:cs typeface="Libre Baskerville" pitchFamily="34" charset="-120"/>
              </a:rPr>
              <a:t>A Proven Government Innovation</a:t>
            </a:r>
            <a:endParaRPr lang="en-US" sz="3600" dirty="0"/>
          </a:p>
        </p:txBody>
      </p:sp>
      <p:sp>
        <p:nvSpPr>
          <p:cNvPr id="5" name="Text 2"/>
          <p:cNvSpPr/>
          <p:nvPr/>
        </p:nvSpPr>
        <p:spPr>
          <a:xfrm>
            <a:off x="773073" y="2417088"/>
            <a:ext cx="7597854" cy="335756"/>
          </a:xfrm>
          <a:prstGeom prst="rect">
            <a:avLst/>
          </a:prstGeom>
          <a:noFill/>
          <a:ln/>
        </p:spPr>
        <p:txBody>
          <a:bodyPr wrap="none" lIns="0" tIns="0" rIns="0" bIns="0" rtlCol="0" anchor="t"/>
          <a:lstStyle/>
          <a:p>
            <a:pPr marL="0" indent="0" algn="l">
              <a:lnSpc>
                <a:spcPts val="2600"/>
              </a:lnSpc>
              <a:buNone/>
            </a:pPr>
            <a:r>
              <a:rPr lang="en-US" sz="2000" dirty="0">
                <a:solidFill>
                  <a:srgbClr val="454240"/>
                </a:solidFill>
                <a:latin typeface="DM Sans" pitchFamily="34" charset="0"/>
                <a:ea typeface="DM Sans" pitchFamily="34" charset="-122"/>
                <a:cs typeface="DM Sans" pitchFamily="34" charset="-120"/>
              </a:rPr>
              <a:t>HEMIS has established itself as a successful and essential national platform.</a:t>
            </a:r>
            <a:endParaRPr lang="en-US" sz="2000" dirty="0"/>
          </a:p>
        </p:txBody>
      </p:sp>
      <p:pic>
        <p:nvPicPr>
          <p:cNvPr id="6" name="Image 1" descr="preencoded.png"/>
          <p:cNvPicPr>
            <a:picLocks noChangeAspect="1"/>
          </p:cNvPicPr>
          <p:nvPr/>
        </p:nvPicPr>
        <p:blipFill>
          <a:blip r:embed="rId3"/>
          <a:stretch>
            <a:fillRect/>
          </a:stretch>
        </p:blipFill>
        <p:spPr>
          <a:xfrm>
            <a:off x="773073" y="2988826"/>
            <a:ext cx="1049179" cy="1544717"/>
          </a:xfrm>
          <a:prstGeom prst="rect">
            <a:avLst/>
          </a:prstGeom>
        </p:spPr>
      </p:pic>
      <p:sp>
        <p:nvSpPr>
          <p:cNvPr id="7" name="Text 3"/>
          <p:cNvSpPr/>
          <p:nvPr/>
        </p:nvSpPr>
        <p:spPr>
          <a:xfrm>
            <a:off x="2032040" y="3198614"/>
            <a:ext cx="4391739" cy="327779"/>
          </a:xfrm>
          <a:prstGeom prst="rect">
            <a:avLst/>
          </a:prstGeom>
          <a:noFill/>
          <a:ln/>
        </p:spPr>
        <p:txBody>
          <a:bodyPr wrap="none" lIns="0" tIns="0" rIns="0" bIns="0" rtlCol="0" anchor="t"/>
          <a:lstStyle/>
          <a:p>
            <a:pPr marL="0" indent="0" algn="l">
              <a:lnSpc>
                <a:spcPts val="2550"/>
              </a:lnSpc>
              <a:buNone/>
            </a:pPr>
            <a:r>
              <a:rPr lang="en-US" sz="2050" dirty="0">
                <a:solidFill>
                  <a:srgbClr val="454240"/>
                </a:solidFill>
                <a:latin typeface="Libre Baskerville" pitchFamily="34" charset="0"/>
                <a:ea typeface="Libre Baskerville" pitchFamily="34" charset="-122"/>
                <a:cs typeface="Libre Baskerville" pitchFamily="34" charset="-120"/>
              </a:rPr>
              <a:t>Leadership in Data Management</a:t>
            </a:r>
            <a:endParaRPr lang="en-US" sz="2050" dirty="0"/>
          </a:p>
        </p:txBody>
      </p:sp>
      <p:sp>
        <p:nvSpPr>
          <p:cNvPr id="8" name="Text 4"/>
          <p:cNvSpPr/>
          <p:nvPr/>
        </p:nvSpPr>
        <p:spPr>
          <a:xfrm>
            <a:off x="2032040" y="3652242"/>
            <a:ext cx="6338887" cy="671512"/>
          </a:xfrm>
          <a:prstGeom prst="rect">
            <a:avLst/>
          </a:prstGeom>
          <a:noFill/>
          <a:ln/>
        </p:spPr>
        <p:txBody>
          <a:bodyPr wrap="square" lIns="0" tIns="0" rIns="0" bIns="0" rtlCol="0" anchor="t"/>
          <a:lstStyle/>
          <a:p>
            <a:pPr marL="0" indent="0" algn="l">
              <a:lnSpc>
                <a:spcPts val="2600"/>
              </a:lnSpc>
              <a:buNone/>
            </a:pPr>
            <a:r>
              <a:rPr lang="en-US" sz="1650" dirty="0">
                <a:solidFill>
                  <a:srgbClr val="454240"/>
                </a:solidFill>
                <a:latin typeface="DM Sans" pitchFamily="34" charset="0"/>
                <a:ea typeface="DM Sans" pitchFamily="34" charset="-122"/>
                <a:cs typeface="DM Sans" pitchFamily="34" charset="-120"/>
              </a:rPr>
              <a:t>The first platform to centralize Cambodia's higher education information.</a:t>
            </a:r>
            <a:endParaRPr lang="en-US" sz="1650" dirty="0"/>
          </a:p>
        </p:txBody>
      </p:sp>
      <p:pic>
        <p:nvPicPr>
          <p:cNvPr id="9" name="Image 2" descr="preencoded.png"/>
          <p:cNvPicPr>
            <a:picLocks noChangeAspect="1"/>
          </p:cNvPicPr>
          <p:nvPr/>
        </p:nvPicPr>
        <p:blipFill>
          <a:blip r:embed="rId4"/>
          <a:stretch>
            <a:fillRect/>
          </a:stretch>
        </p:blipFill>
        <p:spPr>
          <a:xfrm>
            <a:off x="773073" y="4533543"/>
            <a:ext cx="1049179" cy="1544717"/>
          </a:xfrm>
          <a:prstGeom prst="rect">
            <a:avLst/>
          </a:prstGeom>
        </p:spPr>
      </p:pic>
      <p:sp>
        <p:nvSpPr>
          <p:cNvPr id="10" name="Text 5"/>
          <p:cNvSpPr/>
          <p:nvPr/>
        </p:nvSpPr>
        <p:spPr>
          <a:xfrm>
            <a:off x="2032040" y="4743331"/>
            <a:ext cx="4148733" cy="327779"/>
          </a:xfrm>
          <a:prstGeom prst="rect">
            <a:avLst/>
          </a:prstGeom>
          <a:noFill/>
          <a:ln/>
        </p:spPr>
        <p:txBody>
          <a:bodyPr wrap="none" lIns="0" tIns="0" rIns="0" bIns="0" rtlCol="0" anchor="t"/>
          <a:lstStyle/>
          <a:p>
            <a:pPr marL="0" indent="0" algn="l">
              <a:lnSpc>
                <a:spcPts val="2550"/>
              </a:lnSpc>
              <a:buNone/>
            </a:pPr>
            <a:r>
              <a:rPr lang="en-US" sz="2050" dirty="0">
                <a:solidFill>
                  <a:srgbClr val="454240"/>
                </a:solidFill>
                <a:latin typeface="Libre Baskerville" pitchFamily="34" charset="0"/>
                <a:ea typeface="Libre Baskerville" pitchFamily="34" charset="-122"/>
                <a:cs typeface="Libre Baskerville" pitchFamily="34" charset="-120"/>
              </a:rPr>
              <a:t>Proven Operational Excellence</a:t>
            </a:r>
            <a:endParaRPr lang="en-US" sz="2050" dirty="0"/>
          </a:p>
        </p:txBody>
      </p:sp>
      <p:sp>
        <p:nvSpPr>
          <p:cNvPr id="11" name="Text 6"/>
          <p:cNvSpPr/>
          <p:nvPr/>
        </p:nvSpPr>
        <p:spPr>
          <a:xfrm>
            <a:off x="2032040" y="5196959"/>
            <a:ext cx="6338887" cy="671512"/>
          </a:xfrm>
          <a:prstGeom prst="rect">
            <a:avLst/>
          </a:prstGeom>
          <a:noFill/>
          <a:ln/>
        </p:spPr>
        <p:txBody>
          <a:bodyPr wrap="square" lIns="0" tIns="0" rIns="0" bIns="0" rtlCol="0" anchor="t"/>
          <a:lstStyle/>
          <a:p>
            <a:pPr marL="0" indent="0" algn="l">
              <a:lnSpc>
                <a:spcPts val="2600"/>
              </a:lnSpc>
              <a:buNone/>
            </a:pPr>
            <a:r>
              <a:rPr lang="en-US" sz="1650" dirty="0">
                <a:solidFill>
                  <a:srgbClr val="454240"/>
                </a:solidFill>
                <a:latin typeface="DM Sans" pitchFamily="34" charset="0"/>
                <a:ea typeface="DM Sans" pitchFamily="34" charset="-122"/>
                <a:cs typeface="DM Sans" pitchFamily="34" charset="-120"/>
              </a:rPr>
              <a:t>Significantly improved ministry operations through centralized, reliable data.</a:t>
            </a:r>
            <a:endParaRPr lang="en-US" sz="1650" dirty="0"/>
          </a:p>
        </p:txBody>
      </p:sp>
      <p:pic>
        <p:nvPicPr>
          <p:cNvPr id="12" name="Image 3" descr="preencoded.png"/>
          <p:cNvPicPr>
            <a:picLocks noChangeAspect="1"/>
          </p:cNvPicPr>
          <p:nvPr/>
        </p:nvPicPr>
        <p:blipFill>
          <a:blip r:embed="rId5"/>
          <a:stretch>
            <a:fillRect/>
          </a:stretch>
        </p:blipFill>
        <p:spPr>
          <a:xfrm>
            <a:off x="773073" y="6078260"/>
            <a:ext cx="1049179" cy="1544717"/>
          </a:xfrm>
          <a:prstGeom prst="rect">
            <a:avLst/>
          </a:prstGeom>
        </p:spPr>
      </p:pic>
      <p:sp>
        <p:nvSpPr>
          <p:cNvPr id="13" name="Text 7"/>
          <p:cNvSpPr/>
          <p:nvPr/>
        </p:nvSpPr>
        <p:spPr>
          <a:xfrm>
            <a:off x="2032040" y="6288048"/>
            <a:ext cx="2915960" cy="327779"/>
          </a:xfrm>
          <a:prstGeom prst="rect">
            <a:avLst/>
          </a:prstGeom>
          <a:noFill/>
          <a:ln/>
        </p:spPr>
        <p:txBody>
          <a:bodyPr wrap="none" lIns="0" tIns="0" rIns="0" bIns="0" rtlCol="0" anchor="t"/>
          <a:lstStyle/>
          <a:p>
            <a:pPr marL="0" indent="0" algn="l">
              <a:lnSpc>
                <a:spcPts val="2550"/>
              </a:lnSpc>
              <a:buNone/>
            </a:pPr>
            <a:r>
              <a:rPr lang="en-US" sz="2050" dirty="0">
                <a:solidFill>
                  <a:srgbClr val="454240"/>
                </a:solidFill>
                <a:latin typeface="Libre Baskerville" pitchFamily="34" charset="0"/>
                <a:ea typeface="Libre Baskerville" pitchFamily="34" charset="-122"/>
                <a:cs typeface="Libre Baskerville" pitchFamily="34" charset="-120"/>
              </a:rPr>
              <a:t>High National Impact</a:t>
            </a:r>
            <a:endParaRPr lang="en-US" sz="2050" dirty="0"/>
          </a:p>
        </p:txBody>
      </p:sp>
      <p:sp>
        <p:nvSpPr>
          <p:cNvPr id="14" name="Text 8"/>
          <p:cNvSpPr/>
          <p:nvPr/>
        </p:nvSpPr>
        <p:spPr>
          <a:xfrm>
            <a:off x="2032040" y="6741676"/>
            <a:ext cx="6338887" cy="671512"/>
          </a:xfrm>
          <a:prstGeom prst="rect">
            <a:avLst/>
          </a:prstGeom>
          <a:noFill/>
          <a:ln/>
        </p:spPr>
        <p:txBody>
          <a:bodyPr wrap="square" lIns="0" tIns="0" rIns="0" bIns="0" rtlCol="0" anchor="t"/>
          <a:lstStyle/>
          <a:p>
            <a:pPr marL="0" indent="0" algn="l">
              <a:lnSpc>
                <a:spcPts val="2600"/>
              </a:lnSpc>
              <a:buNone/>
            </a:pPr>
            <a:r>
              <a:rPr lang="en-US" sz="1650" dirty="0">
                <a:solidFill>
                  <a:srgbClr val="454240"/>
                </a:solidFill>
                <a:latin typeface="DM Sans" pitchFamily="34" charset="0"/>
                <a:ea typeface="DM Sans" pitchFamily="34" charset="-122"/>
                <a:cs typeface="DM Sans" pitchFamily="34" charset="-120"/>
              </a:rPr>
              <a:t>All universities participate in a unified system, enhancing government oversight.</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402449" y="3625691"/>
            <a:ext cx="7825502" cy="978218"/>
          </a:xfrm>
          <a:prstGeom prst="rect">
            <a:avLst/>
          </a:prstGeom>
          <a:noFill/>
          <a:ln/>
        </p:spPr>
        <p:txBody>
          <a:bodyPr wrap="none" lIns="0" tIns="0" rIns="0" bIns="0" rtlCol="0" anchor="t"/>
          <a:lstStyle/>
          <a:p>
            <a:pPr marL="0" indent="0" algn="ctr">
              <a:lnSpc>
                <a:spcPts val="7700"/>
              </a:lnSpc>
              <a:buNone/>
            </a:pPr>
            <a:r>
              <a:rPr lang="en-US" sz="6150" dirty="0">
                <a:solidFill>
                  <a:srgbClr val="5C4E3D"/>
                </a:solidFill>
                <a:latin typeface="Libre Baskerville" pitchFamily="34" charset="0"/>
                <a:ea typeface="Libre Baskerville" pitchFamily="34" charset="-122"/>
                <a:cs typeface="Libre Baskerville" pitchFamily="34" charset="-120"/>
              </a:rPr>
              <a:t>Thank You!</a:t>
            </a:r>
            <a:endParaRPr lang="en-US" sz="6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1288</TotalTime>
  <Words>1774</Words>
  <Application>Microsoft Office PowerPoint</Application>
  <PresentationFormat>Custom</PresentationFormat>
  <Paragraphs>336</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Libre Baskerville</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Heang Virith</dc:creator>
  <cp:lastModifiedBy>Heang Virith</cp:lastModifiedBy>
  <cp:revision>54</cp:revision>
  <dcterms:created xsi:type="dcterms:W3CDTF">2025-08-29T06:14:05Z</dcterms:created>
  <dcterms:modified xsi:type="dcterms:W3CDTF">2025-09-06T03:06:39Z</dcterms:modified>
</cp:coreProperties>
</file>