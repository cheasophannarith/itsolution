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92" r:id="rId3"/>
    <p:sldId id="293" r:id="rId4"/>
    <p:sldId id="294" r:id="rId5"/>
    <p:sldId id="295" r:id="rId6"/>
    <p:sldId id="296" r:id="rId7"/>
    <p:sldId id="262" r:id="rId8"/>
    <p:sldId id="297" r:id="rId9"/>
    <p:sldId id="298" r:id="rId10"/>
    <p:sldId id="299" r:id="rId11"/>
    <p:sldId id="300" r:id="rId12"/>
    <p:sldId id="301" r:id="rId13"/>
    <p:sldId id="302" r:id="rId14"/>
    <p:sldId id="303" r:id="rId15"/>
    <p:sldId id="315" r:id="rId16"/>
    <p:sldId id="314" r:id="rId17"/>
    <p:sldId id="316" r:id="rId18"/>
    <p:sldId id="317" r:id="rId19"/>
    <p:sldId id="318" r:id="rId20"/>
    <p:sldId id="319" r:id="rId21"/>
    <p:sldId id="265" r:id="rId22"/>
    <p:sldId id="320" r:id="rId23"/>
    <p:sldId id="257" r:id="rId24"/>
    <p:sldId id="258" r:id="rId25"/>
    <p:sldId id="310" r:id="rId26"/>
    <p:sldId id="309" r:id="rId27"/>
    <p:sldId id="261" r:id="rId28"/>
    <p:sldId id="308" r:id="rId29"/>
    <p:sldId id="307" r:id="rId30"/>
    <p:sldId id="306" r:id="rId31"/>
  </p:sldIdLst>
  <p:sldSz cx="14630400" cy="8229600"/>
  <p:notesSz cx="8229600" cy="14630400"/>
  <p:embeddedFontLst>
    <p:embeddedFont>
      <p:font typeface="DM Sans" pitchFamily="2" charset="0"/>
      <p:regular r:id="rId33"/>
      <p:bold r:id="rId34"/>
      <p:italic r:id="rId35"/>
      <p:boldItalic r:id="rId36"/>
    </p:embeddedFont>
    <p:embeddedFont>
      <p:font typeface="Libre Baskerville" panose="02000000000000000000" pitchFamily="2" charset="0"/>
      <p:regular r:id="rId37"/>
      <p:bold r:id="rId38"/>
      <p: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10"/>
  </p:normalViewPr>
  <p:slideViewPr>
    <p:cSldViewPr snapToGrid="0" snapToObjects="1">
      <p:cViewPr varScale="1">
        <p:scale>
          <a:sx n="71" d="100"/>
          <a:sy n="71" d="100"/>
        </p:scale>
        <p:origin x="58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060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AA66-3658-2B2E-54BA-04A759DA4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C5664-0D6E-A845-8178-F74F03626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F7E18-929C-8122-1F80-170269FAFE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9E6EB1-277D-6B96-4286-59893FF2166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16512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D4D8-D1FB-AA9E-11D1-3F74649A5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C114A-4567-F826-B4D1-4540A41C1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28A119-2FC1-A26F-A045-3E9FD10FB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38F88-E62F-5C64-E6A4-7552F4CD423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43961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C1328-6424-AF5C-D142-D2305AC58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C8CC6-EA9A-05D0-CAE6-949C4147F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530CD-3FED-C6F9-8AAD-B9332D08C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296C5F-A545-070A-ABE9-91397D9E7B6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028508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C0DA-9729-B52C-D1E6-3C60E992B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E813A-1198-386E-DA97-4B56CA4EF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2A0BB-FEC5-D3D4-A399-130C141994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4BED7E-23E4-0669-05F5-804137F92DA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9467008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3DDCB-1A46-8FB6-29CE-B1B1BA95D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776F2-468D-44D2-AD3C-4657499B5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C29DF-9C18-BDD1-7924-707B352E59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1CCF12-ABBC-E94B-3F5F-D9B2FA9AEFE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6078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4.jp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778422" y="1963243"/>
            <a:ext cx="8672843" cy="1417558"/>
          </a:xfrm>
          <a:prstGeom prst="rect">
            <a:avLst/>
          </a:prstGeom>
          <a:noFill/>
          <a:ln/>
        </p:spPr>
        <p:txBody>
          <a:bodyPr wrap="square" lIns="0" tIns="0" rIns="0" bIns="0" rtlCol="0" anchor="t"/>
          <a:lstStyle/>
          <a:p>
            <a:pPr marL="0" indent="0" algn="ctr">
              <a:lnSpc>
                <a:spcPts val="5550"/>
              </a:lnSpc>
              <a:buNone/>
            </a:pPr>
            <a:r>
              <a:rPr lang="en-US" sz="3600" dirty="0">
                <a:solidFill>
                  <a:srgbClr val="B88E23"/>
                </a:solidFill>
                <a:latin typeface="Libre Baskerville" pitchFamily="34" charset="0"/>
                <a:ea typeface="Libre Baskerville" pitchFamily="34" charset="-122"/>
                <a:cs typeface="Libre Baskerville" pitchFamily="34" charset="-120"/>
              </a:rPr>
              <a:t>Scholarship Management System</a:t>
            </a:r>
            <a:endParaRPr lang="en-US" sz="3600" dirty="0"/>
          </a:p>
        </p:txBody>
      </p:sp>
      <p:sp>
        <p:nvSpPr>
          <p:cNvPr id="4" name="Text 1"/>
          <p:cNvSpPr/>
          <p:nvPr/>
        </p:nvSpPr>
        <p:spPr>
          <a:xfrm>
            <a:off x="3719403" y="2915345"/>
            <a:ext cx="6312414" cy="1287437"/>
          </a:xfrm>
          <a:prstGeom prst="rect">
            <a:avLst/>
          </a:prstGeom>
          <a:noFill/>
          <a:ln/>
        </p:spPr>
        <p:txBody>
          <a:bodyPr wrap="none" lIns="0" tIns="0" rIns="0" bIns="0" rtlCol="0" anchor="t"/>
          <a:lstStyle/>
          <a:p>
            <a:pPr marL="0" indent="0" algn="ctr">
              <a:lnSpc>
                <a:spcPts val="2850"/>
              </a:lnSpc>
              <a:buNone/>
            </a:pPr>
            <a:r>
              <a:rPr lang="en-US" sz="2400" dirty="0">
                <a:solidFill>
                  <a:srgbClr val="454240"/>
                </a:solidFill>
                <a:latin typeface="DM Sans" pitchFamily="34" charset="0"/>
                <a:ea typeface="DM Sans" pitchFamily="34" charset="-122"/>
                <a:cs typeface="DM Sans" pitchFamily="34" charset="-120"/>
              </a:rPr>
              <a:t>Ministry of Education is a beneficiaries</a:t>
            </a:r>
          </a:p>
          <a:p>
            <a:pPr marL="0" indent="0" algn="ctr">
              <a:lnSpc>
                <a:spcPts val="2850"/>
              </a:lnSpc>
              <a:buNone/>
            </a:pPr>
            <a:r>
              <a:rPr lang="en-US" sz="2400" dirty="0">
                <a:solidFill>
                  <a:srgbClr val="454240"/>
                </a:solidFill>
                <a:latin typeface="DM Sans" pitchFamily="34" charset="0"/>
                <a:ea typeface="DM Sans" pitchFamily="34" charset="-122"/>
                <a:cs typeface="DM Sans" pitchFamily="34" charset="-120"/>
              </a:rPr>
              <a:t>And</a:t>
            </a:r>
          </a:p>
          <a:p>
            <a:pPr marL="0" indent="0" algn="ctr">
              <a:lnSpc>
                <a:spcPts val="2850"/>
              </a:lnSpc>
              <a:buNone/>
            </a:pPr>
            <a:r>
              <a:rPr lang="en-US" sz="2400" dirty="0">
                <a:solidFill>
                  <a:srgbClr val="454240"/>
                </a:solidFill>
                <a:latin typeface="DM Sans" pitchFamily="34" charset="0"/>
                <a:ea typeface="DM Sans" pitchFamily="34" charset="-122"/>
                <a:cs typeface="DM Sans" pitchFamily="34" charset="-120"/>
              </a:rPr>
              <a:t>IT Solution is the implementor</a:t>
            </a:r>
          </a:p>
          <a:p>
            <a:pPr marL="0" indent="0" algn="ctr">
              <a:lnSpc>
                <a:spcPts val="2850"/>
              </a:lnSpc>
              <a:buNone/>
            </a:pPr>
            <a:endParaRPr lang="en-US" sz="2400" dirty="0">
              <a:solidFill>
                <a:srgbClr val="454240"/>
              </a:solidFill>
              <a:latin typeface="DM Sans" pitchFamily="34" charset="0"/>
              <a:ea typeface="DM Sans" pitchFamily="34" charset="-122"/>
              <a:cs typeface="DM Sans" pitchFamily="34" charset="-120"/>
            </a:endParaRPr>
          </a:p>
          <a:p>
            <a:pPr marL="0" indent="0" algn="ctr">
              <a:lnSpc>
                <a:spcPts val="2850"/>
              </a:lnSpc>
              <a:buNone/>
            </a:pPr>
            <a:endParaRPr lang="en-US" sz="2400" dirty="0">
              <a:solidFill>
                <a:srgbClr val="454240"/>
              </a:solidFill>
              <a:latin typeface="DM Sans" pitchFamily="34" charset="0"/>
              <a:ea typeface="DM Sans" pitchFamily="34" charset="-122"/>
              <a:cs typeface="DM Sans" pitchFamily="34" charset="-120"/>
            </a:endParaRPr>
          </a:p>
          <a:p>
            <a:pPr marL="0" indent="0" algn="ctr">
              <a:lnSpc>
                <a:spcPts val="2850"/>
              </a:lnSpc>
              <a:buNone/>
            </a:pPr>
            <a:endParaRPr lang="en-US" sz="2400" dirty="0">
              <a:solidFill>
                <a:srgbClr val="454240"/>
              </a:solidFill>
              <a:latin typeface="DM Sans" pitchFamily="34" charset="0"/>
              <a:ea typeface="DM Sans" pitchFamily="34" charset="-122"/>
              <a:cs typeface="DM Sans" pitchFamily="34" charset="-120"/>
            </a:endParaRPr>
          </a:p>
        </p:txBody>
      </p:sp>
      <p:pic>
        <p:nvPicPr>
          <p:cNvPr id="6" name="Picture 5">
            <a:extLst>
              <a:ext uri="{FF2B5EF4-FFF2-40B4-BE49-F238E27FC236}">
                <a16:creationId xmlns:a16="http://schemas.microsoft.com/office/drawing/2014/main" id="{D6E5CF48-FEAB-DE7C-7D48-59195315604D}"/>
              </a:ext>
            </a:extLst>
          </p:cNvPr>
          <p:cNvPicPr>
            <a:picLocks noChangeAspect="1"/>
          </p:cNvPicPr>
          <p:nvPr/>
        </p:nvPicPr>
        <p:blipFill>
          <a:blip r:embed="rId3"/>
          <a:srcRect l="28406" r="26944"/>
          <a:stretch>
            <a:fillRect/>
          </a:stretch>
        </p:blipFill>
        <p:spPr>
          <a:xfrm>
            <a:off x="11592930" y="224911"/>
            <a:ext cx="2066461" cy="2603350"/>
          </a:xfrm>
          <a:prstGeom prst="rect">
            <a:avLst/>
          </a:prstGeom>
        </p:spPr>
      </p:pic>
      <p:pic>
        <p:nvPicPr>
          <p:cNvPr id="5" name="Picture 4" descr="A white circle with blue text and colorful squares&#10;&#10;AI-generated content may be incorrect.">
            <a:extLst>
              <a:ext uri="{FF2B5EF4-FFF2-40B4-BE49-F238E27FC236}">
                <a16:creationId xmlns:a16="http://schemas.microsoft.com/office/drawing/2014/main" id="{69725F8F-2ECC-667E-C6C6-F3C69917149A}"/>
              </a:ext>
            </a:extLst>
          </p:cNvPr>
          <p:cNvPicPr>
            <a:picLocks noChangeAspect="1"/>
          </p:cNvPicPr>
          <p:nvPr/>
        </p:nvPicPr>
        <p:blipFill>
          <a:blip r:embed="rId4"/>
          <a:stretch>
            <a:fillRect/>
          </a:stretch>
        </p:blipFill>
        <p:spPr>
          <a:xfrm>
            <a:off x="275815" y="-221657"/>
            <a:ext cx="3236255" cy="3236255"/>
          </a:xfrm>
          <a:prstGeom prst="rect">
            <a:avLst/>
          </a:prstGeom>
        </p:spPr>
      </p:pic>
      <p:sp>
        <p:nvSpPr>
          <p:cNvPr id="7" name="Text 1">
            <a:extLst>
              <a:ext uri="{FF2B5EF4-FFF2-40B4-BE49-F238E27FC236}">
                <a16:creationId xmlns:a16="http://schemas.microsoft.com/office/drawing/2014/main" id="{AB634951-37E0-980B-FD08-B23C421B006D}"/>
              </a:ext>
            </a:extLst>
          </p:cNvPr>
          <p:cNvSpPr/>
          <p:nvPr/>
        </p:nvSpPr>
        <p:spPr>
          <a:xfrm>
            <a:off x="3512070" y="4848800"/>
            <a:ext cx="7556421" cy="1287437"/>
          </a:xfrm>
          <a:prstGeom prst="rect">
            <a:avLst/>
          </a:prstGeom>
          <a:noFill/>
          <a:ln/>
        </p:spPr>
        <p:txBody>
          <a:bodyPr wrap="none" lIns="0" tIns="0" rIns="0" bIns="0" rtlCol="0" anchor="t"/>
          <a:lstStyle/>
          <a:p>
            <a:pPr marL="0" indent="0" algn="ctr">
              <a:lnSpc>
                <a:spcPts val="2850"/>
              </a:lnSpc>
              <a:buNone/>
            </a:pPr>
            <a:r>
              <a:rPr lang="en-US" sz="1750" dirty="0">
                <a:solidFill>
                  <a:srgbClr val="454240"/>
                </a:solidFill>
                <a:latin typeface="DM Sans" pitchFamily="34" charset="0"/>
                <a:ea typeface="DM Sans" pitchFamily="34" charset="-122"/>
                <a:cs typeface="DM Sans" pitchFamily="34" charset="-120"/>
              </a:rPr>
              <a:t>Purpose of the system:</a:t>
            </a:r>
          </a:p>
          <a:p>
            <a:pPr marL="0" indent="0" algn="ctr">
              <a:lnSpc>
                <a:spcPts val="2850"/>
              </a:lnSpc>
              <a:buNone/>
            </a:pPr>
            <a:r>
              <a:rPr lang="en-US" sz="1750" dirty="0">
                <a:solidFill>
                  <a:srgbClr val="454240"/>
                </a:solidFill>
                <a:latin typeface="DM Sans" pitchFamily="34" charset="0"/>
                <a:ea typeface="DM Sans" pitchFamily="34" charset="-122"/>
                <a:cs typeface="DM Sans" pitchFamily="34" charset="-120"/>
              </a:rPr>
              <a:t> the entire scholarship lifecycle—from application to selection</a:t>
            </a:r>
          </a:p>
          <a:p>
            <a:pPr marL="0" indent="0" algn="ctr">
              <a:lnSpc>
                <a:spcPts val="2850"/>
              </a:lnSpc>
              <a:buNone/>
            </a:pPr>
            <a:r>
              <a:rPr lang="en-US" sz="1750" dirty="0">
                <a:solidFill>
                  <a:srgbClr val="454240"/>
                </a:solidFill>
                <a:latin typeface="DM Sans" pitchFamily="34" charset="0"/>
                <a:ea typeface="DM Sans" pitchFamily="34" charset="-122"/>
                <a:cs typeface="DM Sans" pitchFamily="34" charset="-120"/>
              </a:rPr>
              <a:t>—with enhanced efficiency, transparency, and equity.</a:t>
            </a:r>
          </a:p>
        </p:txBody>
      </p:sp>
      <p:sp>
        <p:nvSpPr>
          <p:cNvPr id="8" name="Text 1">
            <a:extLst>
              <a:ext uri="{FF2B5EF4-FFF2-40B4-BE49-F238E27FC236}">
                <a16:creationId xmlns:a16="http://schemas.microsoft.com/office/drawing/2014/main" id="{D367DEF8-FBDE-5A9E-0C9F-7BA3D3C8FD6F}"/>
              </a:ext>
            </a:extLst>
          </p:cNvPr>
          <p:cNvSpPr/>
          <p:nvPr/>
        </p:nvSpPr>
        <p:spPr>
          <a:xfrm>
            <a:off x="4576320" y="7151526"/>
            <a:ext cx="5477760" cy="433910"/>
          </a:xfrm>
          <a:prstGeom prst="rect">
            <a:avLst/>
          </a:prstGeom>
          <a:noFill/>
          <a:ln/>
        </p:spPr>
        <p:txBody>
          <a:bodyPr wrap="none" lIns="0" tIns="0" rIns="0" bIns="0" rtlCol="0" anchor="t"/>
          <a:lstStyle/>
          <a:p>
            <a:pPr algn="ctr">
              <a:lnSpc>
                <a:spcPts val="2850"/>
              </a:lnSpc>
            </a:pPr>
            <a:r>
              <a:rPr lang="en-US" dirty="0">
                <a:solidFill>
                  <a:srgbClr val="454240"/>
                </a:solidFill>
                <a:latin typeface="DM Sans" pitchFamily="34" charset="0"/>
                <a:ea typeface="DM Sans" pitchFamily="34" charset="-122"/>
                <a:cs typeface="DM Sans" pitchFamily="34" charset="-120"/>
              </a:rPr>
              <a:t>Source of Fund by Government of Cambodia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55571"/>
            <a:ext cx="4820007" cy="602456"/>
          </a:xfrm>
          <a:prstGeom prst="rect">
            <a:avLst/>
          </a:prstGeom>
          <a:noFill/>
          <a:ln/>
        </p:spPr>
        <p:txBody>
          <a:bodyPr wrap="none" lIns="0" tIns="0" rIns="0" bIns="0" rtlCol="0" anchor="t"/>
          <a:lstStyle/>
          <a:p>
            <a:pPr marL="0" indent="0" algn="l">
              <a:lnSpc>
                <a:spcPts val="4700"/>
              </a:lnSpc>
              <a:buNone/>
            </a:pPr>
            <a:r>
              <a:rPr lang="en-US" sz="3750" dirty="0">
                <a:solidFill>
                  <a:srgbClr val="5C4E3D"/>
                </a:solidFill>
                <a:latin typeface="Libre Baskerville" pitchFamily="34" charset="0"/>
                <a:ea typeface="Libre Baskerville" pitchFamily="34" charset="-122"/>
                <a:cs typeface="Libre Baskerville" pitchFamily="34" charset="-120"/>
              </a:rPr>
              <a:t>Table of Contents</a:t>
            </a:r>
            <a:endParaRPr lang="en-US" sz="3750" dirty="0"/>
          </a:p>
        </p:txBody>
      </p:sp>
      <p:sp>
        <p:nvSpPr>
          <p:cNvPr id="3" name="Shape 1"/>
          <p:cNvSpPr/>
          <p:nvPr/>
        </p:nvSpPr>
        <p:spPr>
          <a:xfrm>
            <a:off x="793790" y="2032754"/>
            <a:ext cx="6424970" cy="998815"/>
          </a:xfrm>
          <a:prstGeom prst="roundRect">
            <a:avLst>
              <a:gd name="adj" fmla="val 10986"/>
            </a:avLst>
          </a:prstGeom>
          <a:solidFill>
            <a:srgbClr val="FFFDFA"/>
          </a:solidFill>
          <a:ln/>
        </p:spPr>
      </p:sp>
      <p:sp>
        <p:nvSpPr>
          <p:cNvPr id="4" name="Shape 2"/>
          <p:cNvSpPr/>
          <p:nvPr/>
        </p:nvSpPr>
        <p:spPr>
          <a:xfrm>
            <a:off x="793790" y="2009894"/>
            <a:ext cx="6424970" cy="91440"/>
          </a:xfrm>
          <a:prstGeom prst="roundRect">
            <a:avLst>
              <a:gd name="adj" fmla="val 88558"/>
            </a:avLst>
          </a:prstGeom>
          <a:solidFill>
            <a:srgbClr val="B88E23"/>
          </a:solidFill>
          <a:ln/>
        </p:spPr>
      </p:sp>
      <p:sp>
        <p:nvSpPr>
          <p:cNvPr id="5" name="Shape 3"/>
          <p:cNvSpPr/>
          <p:nvPr/>
        </p:nvSpPr>
        <p:spPr>
          <a:xfrm>
            <a:off x="3717012" y="1743551"/>
            <a:ext cx="578406" cy="578406"/>
          </a:xfrm>
          <a:prstGeom prst="roundRect">
            <a:avLst>
              <a:gd name="adj" fmla="val 158090"/>
            </a:avLst>
          </a:prstGeom>
          <a:solidFill>
            <a:srgbClr val="B88E23"/>
          </a:solidFill>
          <a:ln/>
        </p:spPr>
      </p:sp>
      <p:sp>
        <p:nvSpPr>
          <p:cNvPr id="6" name="Text 4"/>
          <p:cNvSpPr/>
          <p:nvPr/>
        </p:nvSpPr>
        <p:spPr>
          <a:xfrm>
            <a:off x="3966186" y="1865292"/>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1</a:t>
            </a:r>
            <a:endParaRPr lang="en-US" sz="1800" dirty="0"/>
          </a:p>
        </p:txBody>
      </p:sp>
      <p:sp>
        <p:nvSpPr>
          <p:cNvPr id="7" name="Text 5"/>
          <p:cNvSpPr/>
          <p:nvPr/>
        </p:nvSpPr>
        <p:spPr>
          <a:xfrm>
            <a:off x="1009412" y="2514719"/>
            <a:ext cx="250138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Executive Summary</a:t>
            </a:r>
            <a:endParaRPr lang="en-US" sz="1850" dirty="0"/>
          </a:p>
        </p:txBody>
      </p:sp>
      <p:sp>
        <p:nvSpPr>
          <p:cNvPr id="8" name="Shape 6"/>
          <p:cNvSpPr/>
          <p:nvPr/>
        </p:nvSpPr>
        <p:spPr>
          <a:xfrm>
            <a:off x="7411522" y="2032754"/>
            <a:ext cx="6425089" cy="998815"/>
          </a:xfrm>
          <a:prstGeom prst="roundRect">
            <a:avLst>
              <a:gd name="adj" fmla="val 10986"/>
            </a:avLst>
          </a:prstGeom>
          <a:solidFill>
            <a:srgbClr val="FFFDFA"/>
          </a:solidFill>
          <a:ln/>
        </p:spPr>
      </p:sp>
      <p:sp>
        <p:nvSpPr>
          <p:cNvPr id="9" name="Shape 7"/>
          <p:cNvSpPr/>
          <p:nvPr/>
        </p:nvSpPr>
        <p:spPr>
          <a:xfrm>
            <a:off x="7411522" y="2009894"/>
            <a:ext cx="6425089" cy="91440"/>
          </a:xfrm>
          <a:prstGeom prst="roundRect">
            <a:avLst>
              <a:gd name="adj" fmla="val 88558"/>
            </a:avLst>
          </a:prstGeom>
          <a:solidFill>
            <a:srgbClr val="B88E23"/>
          </a:solidFill>
          <a:ln/>
        </p:spPr>
      </p:sp>
      <p:sp>
        <p:nvSpPr>
          <p:cNvPr id="10" name="Shape 8"/>
          <p:cNvSpPr/>
          <p:nvPr/>
        </p:nvSpPr>
        <p:spPr>
          <a:xfrm>
            <a:off x="10334863" y="1743551"/>
            <a:ext cx="578406" cy="578406"/>
          </a:xfrm>
          <a:prstGeom prst="roundRect">
            <a:avLst>
              <a:gd name="adj" fmla="val 158090"/>
            </a:avLst>
          </a:prstGeom>
          <a:solidFill>
            <a:srgbClr val="B88E23"/>
          </a:solidFill>
          <a:ln/>
        </p:spPr>
      </p:sp>
      <p:sp>
        <p:nvSpPr>
          <p:cNvPr id="11" name="Text 9"/>
          <p:cNvSpPr/>
          <p:nvPr/>
        </p:nvSpPr>
        <p:spPr>
          <a:xfrm>
            <a:off x="10561677" y="1840507"/>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2</a:t>
            </a:r>
            <a:endParaRPr lang="en-US" sz="1800" dirty="0"/>
          </a:p>
        </p:txBody>
      </p:sp>
      <p:sp>
        <p:nvSpPr>
          <p:cNvPr id="12" name="Text 10"/>
          <p:cNvSpPr/>
          <p:nvPr/>
        </p:nvSpPr>
        <p:spPr>
          <a:xfrm>
            <a:off x="7627144" y="2514719"/>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Problem Statement</a:t>
            </a:r>
            <a:endParaRPr lang="en-US" sz="1850" dirty="0"/>
          </a:p>
        </p:txBody>
      </p:sp>
      <p:sp>
        <p:nvSpPr>
          <p:cNvPr id="13" name="Shape 11"/>
          <p:cNvSpPr/>
          <p:nvPr/>
        </p:nvSpPr>
        <p:spPr>
          <a:xfrm>
            <a:off x="793790" y="3513534"/>
            <a:ext cx="6424970" cy="998815"/>
          </a:xfrm>
          <a:prstGeom prst="roundRect">
            <a:avLst>
              <a:gd name="adj" fmla="val 10986"/>
            </a:avLst>
          </a:prstGeom>
          <a:solidFill>
            <a:srgbClr val="FFFDFA"/>
          </a:solidFill>
          <a:ln/>
        </p:spPr>
      </p:sp>
      <p:sp>
        <p:nvSpPr>
          <p:cNvPr id="14" name="Shape 12"/>
          <p:cNvSpPr/>
          <p:nvPr/>
        </p:nvSpPr>
        <p:spPr>
          <a:xfrm>
            <a:off x="793790" y="3490674"/>
            <a:ext cx="6424970" cy="91440"/>
          </a:xfrm>
          <a:prstGeom prst="roundRect">
            <a:avLst>
              <a:gd name="adj" fmla="val 88558"/>
            </a:avLst>
          </a:prstGeom>
          <a:solidFill>
            <a:srgbClr val="B88E23"/>
          </a:solidFill>
          <a:ln/>
        </p:spPr>
      </p:sp>
      <p:sp>
        <p:nvSpPr>
          <p:cNvPr id="15" name="Shape 13"/>
          <p:cNvSpPr/>
          <p:nvPr/>
        </p:nvSpPr>
        <p:spPr>
          <a:xfrm>
            <a:off x="3717012" y="3224332"/>
            <a:ext cx="578406" cy="578406"/>
          </a:xfrm>
          <a:prstGeom prst="roundRect">
            <a:avLst>
              <a:gd name="adj" fmla="val 158090"/>
            </a:avLst>
          </a:prstGeom>
          <a:solidFill>
            <a:srgbClr val="B88E23"/>
          </a:solidFill>
          <a:ln/>
        </p:spPr>
      </p:sp>
      <p:sp>
        <p:nvSpPr>
          <p:cNvPr id="16" name="Text 14"/>
          <p:cNvSpPr/>
          <p:nvPr/>
        </p:nvSpPr>
        <p:spPr>
          <a:xfrm>
            <a:off x="3938588" y="3346072"/>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3</a:t>
            </a:r>
            <a:endParaRPr lang="en-US" sz="1800" dirty="0"/>
          </a:p>
        </p:txBody>
      </p:sp>
      <p:sp>
        <p:nvSpPr>
          <p:cNvPr id="17" name="Text 15"/>
          <p:cNvSpPr/>
          <p:nvPr/>
        </p:nvSpPr>
        <p:spPr>
          <a:xfrm>
            <a:off x="1009412" y="3995499"/>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Solution Overview</a:t>
            </a:r>
            <a:endParaRPr lang="en-US" sz="1850" dirty="0"/>
          </a:p>
        </p:txBody>
      </p:sp>
      <p:sp>
        <p:nvSpPr>
          <p:cNvPr id="18" name="Shape 16"/>
          <p:cNvSpPr/>
          <p:nvPr/>
        </p:nvSpPr>
        <p:spPr>
          <a:xfrm>
            <a:off x="7411522" y="3513534"/>
            <a:ext cx="6425089" cy="998815"/>
          </a:xfrm>
          <a:prstGeom prst="roundRect">
            <a:avLst>
              <a:gd name="adj" fmla="val 10986"/>
            </a:avLst>
          </a:prstGeom>
          <a:solidFill>
            <a:srgbClr val="FFFDFA"/>
          </a:solidFill>
          <a:ln/>
        </p:spPr>
      </p:sp>
      <p:sp>
        <p:nvSpPr>
          <p:cNvPr id="19" name="Shape 17"/>
          <p:cNvSpPr/>
          <p:nvPr/>
        </p:nvSpPr>
        <p:spPr>
          <a:xfrm>
            <a:off x="7411522" y="3490674"/>
            <a:ext cx="6425089" cy="91440"/>
          </a:xfrm>
          <a:prstGeom prst="roundRect">
            <a:avLst>
              <a:gd name="adj" fmla="val 88558"/>
            </a:avLst>
          </a:prstGeom>
          <a:solidFill>
            <a:srgbClr val="B88E23"/>
          </a:solidFill>
          <a:ln/>
        </p:spPr>
      </p:sp>
      <p:sp>
        <p:nvSpPr>
          <p:cNvPr id="20" name="Shape 18"/>
          <p:cNvSpPr/>
          <p:nvPr/>
        </p:nvSpPr>
        <p:spPr>
          <a:xfrm>
            <a:off x="10334863" y="3224332"/>
            <a:ext cx="578406" cy="578406"/>
          </a:xfrm>
          <a:prstGeom prst="roundRect">
            <a:avLst>
              <a:gd name="adj" fmla="val 158090"/>
            </a:avLst>
          </a:prstGeom>
          <a:solidFill>
            <a:srgbClr val="B88E23"/>
          </a:solidFill>
          <a:ln/>
        </p:spPr>
      </p:sp>
      <p:sp>
        <p:nvSpPr>
          <p:cNvPr id="21" name="Text 19"/>
          <p:cNvSpPr/>
          <p:nvPr/>
        </p:nvSpPr>
        <p:spPr>
          <a:xfrm>
            <a:off x="10560129" y="3346071"/>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4</a:t>
            </a:r>
            <a:endParaRPr lang="en-US" sz="1800" dirty="0"/>
          </a:p>
        </p:txBody>
      </p:sp>
      <p:sp>
        <p:nvSpPr>
          <p:cNvPr id="22" name="Text 20"/>
          <p:cNvSpPr/>
          <p:nvPr/>
        </p:nvSpPr>
        <p:spPr>
          <a:xfrm>
            <a:off x="7627144" y="3995499"/>
            <a:ext cx="2493407"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System Architecture</a:t>
            </a:r>
            <a:endParaRPr lang="en-US" sz="1850" dirty="0"/>
          </a:p>
        </p:txBody>
      </p:sp>
      <p:sp>
        <p:nvSpPr>
          <p:cNvPr id="23" name="Shape 21"/>
          <p:cNvSpPr/>
          <p:nvPr/>
        </p:nvSpPr>
        <p:spPr>
          <a:xfrm>
            <a:off x="793790" y="4994315"/>
            <a:ext cx="6424970" cy="998815"/>
          </a:xfrm>
          <a:prstGeom prst="roundRect">
            <a:avLst>
              <a:gd name="adj" fmla="val 10986"/>
            </a:avLst>
          </a:prstGeom>
          <a:solidFill>
            <a:srgbClr val="FFFDFA"/>
          </a:solidFill>
          <a:ln/>
        </p:spPr>
      </p:sp>
      <p:sp>
        <p:nvSpPr>
          <p:cNvPr id="24" name="Shape 22"/>
          <p:cNvSpPr/>
          <p:nvPr/>
        </p:nvSpPr>
        <p:spPr>
          <a:xfrm>
            <a:off x="793790" y="4971455"/>
            <a:ext cx="6424970" cy="91440"/>
          </a:xfrm>
          <a:prstGeom prst="roundRect">
            <a:avLst>
              <a:gd name="adj" fmla="val 88558"/>
            </a:avLst>
          </a:prstGeom>
          <a:solidFill>
            <a:srgbClr val="B88E23"/>
          </a:solidFill>
          <a:ln/>
        </p:spPr>
      </p:sp>
      <p:sp>
        <p:nvSpPr>
          <p:cNvPr id="25" name="Shape 23"/>
          <p:cNvSpPr/>
          <p:nvPr/>
        </p:nvSpPr>
        <p:spPr>
          <a:xfrm>
            <a:off x="3717012" y="4705112"/>
            <a:ext cx="578406" cy="578406"/>
          </a:xfrm>
          <a:prstGeom prst="roundRect">
            <a:avLst>
              <a:gd name="adj" fmla="val 158090"/>
            </a:avLst>
          </a:prstGeom>
          <a:solidFill>
            <a:srgbClr val="B88E23"/>
          </a:solidFill>
          <a:ln/>
        </p:spPr>
      </p:sp>
      <p:sp>
        <p:nvSpPr>
          <p:cNvPr id="26" name="Text 24"/>
          <p:cNvSpPr/>
          <p:nvPr/>
        </p:nvSpPr>
        <p:spPr>
          <a:xfrm>
            <a:off x="3938588" y="482685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5</a:t>
            </a:r>
            <a:endParaRPr lang="en-US" sz="1800" dirty="0"/>
          </a:p>
        </p:txBody>
      </p:sp>
      <p:sp>
        <p:nvSpPr>
          <p:cNvPr id="27" name="Text 25"/>
          <p:cNvSpPr/>
          <p:nvPr/>
        </p:nvSpPr>
        <p:spPr>
          <a:xfrm>
            <a:off x="1009412" y="5476280"/>
            <a:ext cx="2929176"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Key Features &amp; Benefits</a:t>
            </a:r>
            <a:endParaRPr lang="en-US" sz="1850" dirty="0"/>
          </a:p>
        </p:txBody>
      </p:sp>
      <p:sp>
        <p:nvSpPr>
          <p:cNvPr id="28" name="Shape 26"/>
          <p:cNvSpPr/>
          <p:nvPr/>
        </p:nvSpPr>
        <p:spPr>
          <a:xfrm>
            <a:off x="7411522" y="4994315"/>
            <a:ext cx="6425089" cy="998815"/>
          </a:xfrm>
          <a:prstGeom prst="roundRect">
            <a:avLst>
              <a:gd name="adj" fmla="val 10986"/>
            </a:avLst>
          </a:prstGeom>
          <a:solidFill>
            <a:srgbClr val="FFFDFA"/>
          </a:solidFill>
          <a:ln/>
        </p:spPr>
      </p:sp>
      <p:sp>
        <p:nvSpPr>
          <p:cNvPr id="29" name="Shape 27"/>
          <p:cNvSpPr/>
          <p:nvPr/>
        </p:nvSpPr>
        <p:spPr>
          <a:xfrm>
            <a:off x="7411522" y="4971455"/>
            <a:ext cx="6425089" cy="91440"/>
          </a:xfrm>
          <a:prstGeom prst="roundRect">
            <a:avLst>
              <a:gd name="adj" fmla="val 88558"/>
            </a:avLst>
          </a:prstGeom>
          <a:solidFill>
            <a:srgbClr val="B88E23"/>
          </a:solidFill>
          <a:ln/>
        </p:spPr>
      </p:sp>
      <p:sp>
        <p:nvSpPr>
          <p:cNvPr id="30" name="Shape 28"/>
          <p:cNvSpPr/>
          <p:nvPr/>
        </p:nvSpPr>
        <p:spPr>
          <a:xfrm>
            <a:off x="10334863" y="4705112"/>
            <a:ext cx="578406" cy="578406"/>
          </a:xfrm>
          <a:prstGeom prst="roundRect">
            <a:avLst>
              <a:gd name="adj" fmla="val 158090"/>
            </a:avLst>
          </a:prstGeom>
          <a:solidFill>
            <a:srgbClr val="B88E23"/>
          </a:solidFill>
          <a:ln/>
        </p:spPr>
      </p:sp>
      <p:sp>
        <p:nvSpPr>
          <p:cNvPr id="31" name="Text 29"/>
          <p:cNvSpPr/>
          <p:nvPr/>
        </p:nvSpPr>
        <p:spPr>
          <a:xfrm>
            <a:off x="10561677" y="4826852"/>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6</a:t>
            </a:r>
            <a:endParaRPr lang="en-US" sz="1800" dirty="0"/>
          </a:p>
        </p:txBody>
      </p:sp>
      <p:sp>
        <p:nvSpPr>
          <p:cNvPr id="32" name="Text 30"/>
          <p:cNvSpPr/>
          <p:nvPr/>
        </p:nvSpPr>
        <p:spPr>
          <a:xfrm>
            <a:off x="7627144" y="5476280"/>
            <a:ext cx="2702719"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Technical Capabilities</a:t>
            </a:r>
            <a:endParaRPr lang="en-US" sz="1850" dirty="0"/>
          </a:p>
        </p:txBody>
      </p:sp>
      <p:sp>
        <p:nvSpPr>
          <p:cNvPr id="33" name="Shape 31"/>
          <p:cNvSpPr/>
          <p:nvPr/>
        </p:nvSpPr>
        <p:spPr>
          <a:xfrm>
            <a:off x="793790" y="6475095"/>
            <a:ext cx="6424970" cy="998815"/>
          </a:xfrm>
          <a:prstGeom prst="roundRect">
            <a:avLst>
              <a:gd name="adj" fmla="val 10986"/>
            </a:avLst>
          </a:prstGeom>
          <a:solidFill>
            <a:srgbClr val="FFFDFA"/>
          </a:solidFill>
          <a:ln/>
        </p:spPr>
      </p:sp>
      <p:sp>
        <p:nvSpPr>
          <p:cNvPr id="34" name="Shape 32"/>
          <p:cNvSpPr/>
          <p:nvPr/>
        </p:nvSpPr>
        <p:spPr>
          <a:xfrm>
            <a:off x="793790" y="6452235"/>
            <a:ext cx="6424970" cy="91440"/>
          </a:xfrm>
          <a:prstGeom prst="roundRect">
            <a:avLst>
              <a:gd name="adj" fmla="val 88558"/>
            </a:avLst>
          </a:prstGeom>
          <a:solidFill>
            <a:srgbClr val="B88E23"/>
          </a:solidFill>
          <a:ln/>
        </p:spPr>
      </p:sp>
      <p:sp>
        <p:nvSpPr>
          <p:cNvPr id="35" name="Shape 33"/>
          <p:cNvSpPr/>
          <p:nvPr/>
        </p:nvSpPr>
        <p:spPr>
          <a:xfrm>
            <a:off x="3717012" y="6185892"/>
            <a:ext cx="578406" cy="578406"/>
          </a:xfrm>
          <a:prstGeom prst="roundRect">
            <a:avLst>
              <a:gd name="adj" fmla="val 158090"/>
            </a:avLst>
          </a:prstGeom>
          <a:solidFill>
            <a:srgbClr val="B88E23"/>
          </a:solidFill>
          <a:ln/>
        </p:spPr>
      </p:sp>
      <p:sp>
        <p:nvSpPr>
          <p:cNvPr id="36" name="Text 34"/>
          <p:cNvSpPr/>
          <p:nvPr/>
        </p:nvSpPr>
        <p:spPr>
          <a:xfrm>
            <a:off x="3946684" y="630763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7</a:t>
            </a:r>
            <a:endParaRPr lang="en-US" sz="1800" dirty="0"/>
          </a:p>
        </p:txBody>
      </p:sp>
      <p:sp>
        <p:nvSpPr>
          <p:cNvPr id="37" name="Text 35"/>
          <p:cNvSpPr/>
          <p:nvPr/>
        </p:nvSpPr>
        <p:spPr>
          <a:xfrm>
            <a:off x="1009412" y="6957060"/>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Business Impact</a:t>
            </a:r>
            <a:endParaRPr lang="en-US" sz="1850" dirty="0"/>
          </a:p>
        </p:txBody>
      </p:sp>
      <p:sp>
        <p:nvSpPr>
          <p:cNvPr id="38" name="Shape 36"/>
          <p:cNvSpPr/>
          <p:nvPr/>
        </p:nvSpPr>
        <p:spPr>
          <a:xfrm>
            <a:off x="7411522" y="6475095"/>
            <a:ext cx="6425089" cy="998815"/>
          </a:xfrm>
          <a:prstGeom prst="roundRect">
            <a:avLst>
              <a:gd name="adj" fmla="val 10986"/>
            </a:avLst>
          </a:prstGeom>
          <a:solidFill>
            <a:srgbClr val="FFFDFA"/>
          </a:solidFill>
          <a:ln/>
        </p:spPr>
      </p:sp>
      <p:sp>
        <p:nvSpPr>
          <p:cNvPr id="39" name="Shape 37"/>
          <p:cNvSpPr/>
          <p:nvPr/>
        </p:nvSpPr>
        <p:spPr>
          <a:xfrm>
            <a:off x="7411522" y="6452235"/>
            <a:ext cx="6425089" cy="91440"/>
          </a:xfrm>
          <a:prstGeom prst="roundRect">
            <a:avLst>
              <a:gd name="adj" fmla="val 88558"/>
            </a:avLst>
          </a:prstGeom>
          <a:solidFill>
            <a:srgbClr val="B88E23"/>
          </a:solidFill>
          <a:ln/>
        </p:spPr>
      </p:sp>
      <p:sp>
        <p:nvSpPr>
          <p:cNvPr id="40" name="Shape 38"/>
          <p:cNvSpPr/>
          <p:nvPr/>
        </p:nvSpPr>
        <p:spPr>
          <a:xfrm>
            <a:off x="10334863" y="6185892"/>
            <a:ext cx="578406" cy="578406"/>
          </a:xfrm>
          <a:prstGeom prst="roundRect">
            <a:avLst>
              <a:gd name="adj" fmla="val 158090"/>
            </a:avLst>
          </a:prstGeom>
          <a:solidFill>
            <a:srgbClr val="B88E23"/>
          </a:solidFill>
          <a:ln/>
        </p:spPr>
      </p:sp>
      <p:sp>
        <p:nvSpPr>
          <p:cNvPr id="41" name="Text 39"/>
          <p:cNvSpPr/>
          <p:nvPr/>
        </p:nvSpPr>
        <p:spPr>
          <a:xfrm>
            <a:off x="10560129" y="6307633"/>
            <a:ext cx="231338" cy="289203"/>
          </a:xfrm>
          <a:prstGeom prst="rect">
            <a:avLst/>
          </a:prstGeom>
          <a:noFill/>
          <a:ln/>
        </p:spPr>
        <p:txBody>
          <a:bodyPr wrap="none" lIns="0" tIns="0" rIns="0" bIns="0" rtlCol="0" anchor="t"/>
          <a:lstStyle/>
          <a:p>
            <a:pPr marL="0" indent="0" algn="l">
              <a:lnSpc>
                <a:spcPts val="2900"/>
              </a:lnSpc>
              <a:buNone/>
            </a:pPr>
            <a:r>
              <a:rPr lang="en-US" sz="1800" dirty="0">
                <a:solidFill>
                  <a:srgbClr val="000000"/>
                </a:solidFill>
                <a:latin typeface="Libre Baskerville" pitchFamily="34" charset="0"/>
                <a:ea typeface="Libre Baskerville" pitchFamily="34" charset="-122"/>
                <a:cs typeface="Libre Baskerville" pitchFamily="34" charset="-120"/>
              </a:rPr>
              <a:t>8</a:t>
            </a:r>
            <a:endParaRPr lang="en-US" sz="1800" dirty="0"/>
          </a:p>
        </p:txBody>
      </p:sp>
      <p:sp>
        <p:nvSpPr>
          <p:cNvPr id="42" name="Text 40"/>
          <p:cNvSpPr/>
          <p:nvPr/>
        </p:nvSpPr>
        <p:spPr>
          <a:xfrm>
            <a:off x="7627144" y="6957060"/>
            <a:ext cx="2409944"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Success Stories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173022"/>
            <a:ext cx="3225641"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1. Executive Summary</a:t>
            </a:r>
            <a:endParaRPr lang="en-US" sz="2200" dirty="0"/>
          </a:p>
        </p:txBody>
      </p:sp>
      <p:sp>
        <p:nvSpPr>
          <p:cNvPr id="4" name="Text 1"/>
          <p:cNvSpPr/>
          <p:nvPr/>
        </p:nvSpPr>
        <p:spPr>
          <a:xfrm>
            <a:off x="793790" y="4754166"/>
            <a:ext cx="11747778" cy="708779"/>
          </a:xfrm>
          <a:prstGeom prst="rect">
            <a:avLst/>
          </a:prstGeom>
          <a:noFill/>
          <a:ln/>
        </p:spPr>
        <p:txBody>
          <a:bodyPr wrap="none" lIns="0" tIns="0" rIns="0" bIns="0" rtlCol="0" anchor="t"/>
          <a:lstStyle/>
          <a:p>
            <a:pPr marL="0" indent="0" algn="l">
              <a:lnSpc>
                <a:spcPts val="5550"/>
              </a:lnSpc>
              <a:buNone/>
            </a:pPr>
            <a:r>
              <a:rPr lang="en-US" sz="4450" dirty="0">
                <a:solidFill>
                  <a:srgbClr val="B88E23"/>
                </a:solidFill>
                <a:latin typeface="Libre Baskerville" pitchFamily="34" charset="0"/>
                <a:ea typeface="Libre Baskerville" pitchFamily="34" charset="-122"/>
                <a:cs typeface="Libre Baskerville" pitchFamily="34" charset="-120"/>
              </a:rPr>
              <a:t>Revolutionizing Education Management</a:t>
            </a:r>
            <a:endParaRPr lang="en-US" sz="4450" dirty="0"/>
          </a:p>
        </p:txBody>
      </p:sp>
      <p:sp>
        <p:nvSpPr>
          <p:cNvPr id="5" name="Text 2"/>
          <p:cNvSpPr/>
          <p:nvPr/>
        </p:nvSpPr>
        <p:spPr>
          <a:xfrm>
            <a:off x="793790" y="580310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The Scholarship Management System is a comprehensive digital transformation platform that modernizes education funding from the ground up. This complete reimagining of how we discover, nurture, and support talented students delivers unprecedented results, streamlining processes and ensuring equitable access.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89284"/>
            <a:ext cx="3225641"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1. Executive Summary</a:t>
            </a:r>
            <a:endParaRPr lang="en-US" sz="2200" dirty="0"/>
          </a:p>
        </p:txBody>
      </p:sp>
      <p:sp>
        <p:nvSpPr>
          <p:cNvPr id="4" name="Text 1"/>
          <p:cNvSpPr/>
          <p:nvPr/>
        </p:nvSpPr>
        <p:spPr>
          <a:xfrm>
            <a:off x="793790" y="247042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Key Achievements</a:t>
            </a:r>
            <a:endParaRPr lang="en-US" sz="3550" dirty="0"/>
          </a:p>
        </p:txBody>
      </p:sp>
      <p:sp>
        <p:nvSpPr>
          <p:cNvPr id="5" name="Shape 2"/>
          <p:cNvSpPr/>
          <p:nvPr/>
        </p:nvSpPr>
        <p:spPr>
          <a:xfrm>
            <a:off x="793790" y="3377565"/>
            <a:ext cx="7556421" cy="1367909"/>
          </a:xfrm>
          <a:prstGeom prst="roundRect">
            <a:avLst>
              <a:gd name="adj" fmla="val 6964"/>
            </a:avLst>
          </a:prstGeom>
          <a:solidFill>
            <a:srgbClr val="FFFDFA"/>
          </a:solidFill>
          <a:ln w="30480">
            <a:solidFill>
              <a:srgbClr val="DDD3BA"/>
            </a:solidFill>
            <a:prstDash val="solid"/>
          </a:ln>
        </p:spPr>
      </p:sp>
      <p:sp>
        <p:nvSpPr>
          <p:cNvPr id="6" name="Shape 3"/>
          <p:cNvSpPr/>
          <p:nvPr/>
        </p:nvSpPr>
        <p:spPr>
          <a:xfrm>
            <a:off x="793790" y="3377565"/>
            <a:ext cx="121920" cy="1367909"/>
          </a:xfrm>
          <a:prstGeom prst="roundRect">
            <a:avLst>
              <a:gd name="adj" fmla="val 78139"/>
            </a:avLst>
          </a:prstGeom>
          <a:solidFill>
            <a:srgbClr val="B88E23"/>
          </a:solidFill>
          <a:ln/>
        </p:spPr>
      </p:sp>
      <p:sp>
        <p:nvSpPr>
          <p:cNvPr id="7" name="Text 4"/>
          <p:cNvSpPr/>
          <p:nvPr/>
        </p:nvSpPr>
        <p:spPr>
          <a:xfrm>
            <a:off x="1173004" y="3634859"/>
            <a:ext cx="4385786" cy="354330"/>
          </a:xfrm>
          <a:prstGeom prst="rect">
            <a:avLst/>
          </a:prstGeom>
          <a:noFill/>
          <a:ln/>
        </p:spPr>
        <p:txBody>
          <a:bodyPr wrap="none" lIns="0" tIns="0" rIns="0" bIns="0" rtlCol="0" anchor="t"/>
          <a:lstStyle/>
          <a:p>
            <a:pPr marL="0" indent="0" algn="l">
              <a:lnSpc>
                <a:spcPts val="2750"/>
              </a:lnSpc>
              <a:buNone/>
            </a:pPr>
            <a:r>
              <a:rPr lang="en-US" sz="2200" dirty="0">
                <a:solidFill>
                  <a:srgbClr val="B88E23"/>
                </a:solidFill>
                <a:latin typeface="Libre Baskerville" pitchFamily="34" charset="0"/>
                <a:ea typeface="Libre Baskerville" pitchFamily="34" charset="-122"/>
                <a:cs typeface="Libre Baskerville" pitchFamily="34" charset="-120"/>
              </a:rPr>
              <a:t>1. End-to-End Digital Solution</a:t>
            </a:r>
            <a:endParaRPr lang="en-US" sz="2200" dirty="0"/>
          </a:p>
        </p:txBody>
      </p:sp>
      <p:sp>
        <p:nvSpPr>
          <p:cNvPr id="8" name="Text 5"/>
          <p:cNvSpPr/>
          <p:nvPr/>
        </p:nvSpPr>
        <p:spPr>
          <a:xfrm>
            <a:off x="1173004" y="4125278"/>
            <a:ext cx="6919913"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eliminating paperwork and bureaucracy.</a:t>
            </a:r>
            <a:endParaRPr lang="en-US" sz="1750" dirty="0"/>
          </a:p>
        </p:txBody>
      </p:sp>
      <p:sp>
        <p:nvSpPr>
          <p:cNvPr id="9" name="Shape 6"/>
          <p:cNvSpPr/>
          <p:nvPr/>
        </p:nvSpPr>
        <p:spPr>
          <a:xfrm>
            <a:off x="793790" y="4972288"/>
            <a:ext cx="7556421" cy="1367909"/>
          </a:xfrm>
          <a:prstGeom prst="roundRect">
            <a:avLst>
              <a:gd name="adj" fmla="val 6964"/>
            </a:avLst>
          </a:prstGeom>
          <a:solidFill>
            <a:srgbClr val="FFFDFA"/>
          </a:solidFill>
          <a:ln w="30480">
            <a:solidFill>
              <a:srgbClr val="DDD3BA"/>
            </a:solidFill>
            <a:prstDash val="solid"/>
          </a:ln>
        </p:spPr>
      </p:sp>
      <p:sp>
        <p:nvSpPr>
          <p:cNvPr id="10" name="Shape 7"/>
          <p:cNvSpPr/>
          <p:nvPr/>
        </p:nvSpPr>
        <p:spPr>
          <a:xfrm>
            <a:off x="793790" y="4972288"/>
            <a:ext cx="121920" cy="1367909"/>
          </a:xfrm>
          <a:prstGeom prst="roundRect">
            <a:avLst>
              <a:gd name="adj" fmla="val 78139"/>
            </a:avLst>
          </a:prstGeom>
          <a:solidFill>
            <a:srgbClr val="B88E23"/>
          </a:solidFill>
          <a:ln/>
        </p:spPr>
      </p:sp>
      <p:sp>
        <p:nvSpPr>
          <p:cNvPr id="11" name="Text 8"/>
          <p:cNvSpPr/>
          <p:nvPr/>
        </p:nvSpPr>
        <p:spPr>
          <a:xfrm>
            <a:off x="1173004" y="5229582"/>
            <a:ext cx="3505319" cy="354330"/>
          </a:xfrm>
          <a:prstGeom prst="rect">
            <a:avLst/>
          </a:prstGeom>
          <a:noFill/>
          <a:ln/>
        </p:spPr>
        <p:txBody>
          <a:bodyPr wrap="none" lIns="0" tIns="0" rIns="0" bIns="0" rtlCol="0" anchor="t"/>
          <a:lstStyle/>
          <a:p>
            <a:pPr marL="0" indent="0" algn="l">
              <a:lnSpc>
                <a:spcPts val="2750"/>
              </a:lnSpc>
              <a:buNone/>
            </a:pPr>
            <a:r>
              <a:rPr lang="en-US" sz="2200" dirty="0">
                <a:solidFill>
                  <a:srgbClr val="B88E23"/>
                </a:solidFill>
                <a:latin typeface="Libre Baskerville" pitchFamily="34" charset="0"/>
                <a:ea typeface="Libre Baskerville" pitchFamily="34" charset="-122"/>
                <a:cs typeface="Libre Baskerville" pitchFamily="34" charset="-120"/>
              </a:rPr>
              <a:t>2. National Scale Impact</a:t>
            </a:r>
            <a:endParaRPr lang="en-US" sz="2200" dirty="0"/>
          </a:p>
        </p:txBody>
      </p:sp>
      <p:sp>
        <p:nvSpPr>
          <p:cNvPr id="12" name="Text 9"/>
          <p:cNvSpPr/>
          <p:nvPr/>
        </p:nvSpPr>
        <p:spPr>
          <a:xfrm>
            <a:off x="1173004" y="5720001"/>
            <a:ext cx="6919913"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reaching all high schools and thousands of students annually.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922871"/>
            <a:ext cx="3225641"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1. Executive Summary</a:t>
            </a:r>
            <a:endParaRPr lang="en-US" sz="2200" dirty="0"/>
          </a:p>
        </p:txBody>
      </p:sp>
      <p:sp>
        <p:nvSpPr>
          <p:cNvPr id="4" name="Text 1"/>
          <p:cNvSpPr/>
          <p:nvPr/>
        </p:nvSpPr>
        <p:spPr>
          <a:xfrm>
            <a:off x="793790" y="4504015"/>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Key Achievements</a:t>
            </a:r>
            <a:endParaRPr lang="en-US" sz="3550" dirty="0"/>
          </a:p>
        </p:txBody>
      </p:sp>
      <p:sp>
        <p:nvSpPr>
          <p:cNvPr id="5" name="Shape 2"/>
          <p:cNvSpPr/>
          <p:nvPr/>
        </p:nvSpPr>
        <p:spPr>
          <a:xfrm>
            <a:off x="793790" y="5411152"/>
            <a:ext cx="6407944" cy="1730812"/>
          </a:xfrm>
          <a:prstGeom prst="roundRect">
            <a:avLst>
              <a:gd name="adj" fmla="val 5504"/>
            </a:avLst>
          </a:prstGeom>
          <a:solidFill>
            <a:srgbClr val="FFFDFA"/>
          </a:solidFill>
          <a:ln w="30480">
            <a:solidFill>
              <a:srgbClr val="DDD3BA"/>
            </a:solidFill>
            <a:prstDash val="solid"/>
          </a:ln>
        </p:spPr>
      </p:sp>
      <p:sp>
        <p:nvSpPr>
          <p:cNvPr id="6" name="Shape 3"/>
          <p:cNvSpPr/>
          <p:nvPr/>
        </p:nvSpPr>
        <p:spPr>
          <a:xfrm>
            <a:off x="793790" y="5411152"/>
            <a:ext cx="121920" cy="1730812"/>
          </a:xfrm>
          <a:prstGeom prst="roundRect">
            <a:avLst>
              <a:gd name="adj" fmla="val 78139"/>
            </a:avLst>
          </a:prstGeom>
          <a:solidFill>
            <a:srgbClr val="B88E23"/>
          </a:solidFill>
          <a:ln/>
        </p:spPr>
      </p:sp>
      <p:sp>
        <p:nvSpPr>
          <p:cNvPr id="7" name="Text 4"/>
          <p:cNvSpPr/>
          <p:nvPr/>
        </p:nvSpPr>
        <p:spPr>
          <a:xfrm>
            <a:off x="1173004" y="5668447"/>
            <a:ext cx="4520922" cy="354330"/>
          </a:xfrm>
          <a:prstGeom prst="rect">
            <a:avLst/>
          </a:prstGeom>
          <a:noFill/>
          <a:ln/>
        </p:spPr>
        <p:txBody>
          <a:bodyPr wrap="none" lIns="0" tIns="0" rIns="0" bIns="0" rtlCol="0" anchor="t"/>
          <a:lstStyle/>
          <a:p>
            <a:pPr marL="0" indent="0" algn="l">
              <a:lnSpc>
                <a:spcPts val="2750"/>
              </a:lnSpc>
              <a:buNone/>
            </a:pPr>
            <a:r>
              <a:rPr lang="en-US" sz="2200" dirty="0">
                <a:solidFill>
                  <a:srgbClr val="B88E23"/>
                </a:solidFill>
                <a:latin typeface="Libre Baskerville" pitchFamily="34" charset="0"/>
                <a:ea typeface="Libre Baskerville" pitchFamily="34" charset="-122"/>
                <a:cs typeface="Libre Baskerville" pitchFamily="34" charset="-120"/>
              </a:rPr>
              <a:t>3. Automated Selection Process</a:t>
            </a:r>
            <a:endParaRPr lang="en-US" sz="2200" dirty="0"/>
          </a:p>
        </p:txBody>
      </p:sp>
      <p:sp>
        <p:nvSpPr>
          <p:cNvPr id="8" name="Text 5"/>
          <p:cNvSpPr/>
          <p:nvPr/>
        </p:nvSpPr>
        <p:spPr>
          <a:xfrm>
            <a:off x="1173004" y="6158865"/>
            <a:ext cx="5771436"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ensuring the best students get opportunities through unbiased algorithms.</a:t>
            </a:r>
            <a:endParaRPr lang="en-US" sz="1750" dirty="0"/>
          </a:p>
        </p:txBody>
      </p:sp>
      <p:sp>
        <p:nvSpPr>
          <p:cNvPr id="9" name="Shape 6"/>
          <p:cNvSpPr/>
          <p:nvPr/>
        </p:nvSpPr>
        <p:spPr>
          <a:xfrm>
            <a:off x="7428548" y="5411152"/>
            <a:ext cx="6408063" cy="1730812"/>
          </a:xfrm>
          <a:prstGeom prst="roundRect">
            <a:avLst>
              <a:gd name="adj" fmla="val 5504"/>
            </a:avLst>
          </a:prstGeom>
          <a:solidFill>
            <a:srgbClr val="FFFDFA"/>
          </a:solidFill>
          <a:ln w="30480">
            <a:solidFill>
              <a:srgbClr val="DDD3BA"/>
            </a:solidFill>
            <a:prstDash val="solid"/>
          </a:ln>
        </p:spPr>
      </p:sp>
      <p:sp>
        <p:nvSpPr>
          <p:cNvPr id="10" name="Shape 7"/>
          <p:cNvSpPr/>
          <p:nvPr/>
        </p:nvSpPr>
        <p:spPr>
          <a:xfrm>
            <a:off x="7428548" y="5411152"/>
            <a:ext cx="121920" cy="1730812"/>
          </a:xfrm>
          <a:prstGeom prst="roundRect">
            <a:avLst>
              <a:gd name="adj" fmla="val 78139"/>
            </a:avLst>
          </a:prstGeom>
          <a:solidFill>
            <a:srgbClr val="B88E23"/>
          </a:solidFill>
          <a:ln/>
        </p:spPr>
      </p:sp>
      <p:sp>
        <p:nvSpPr>
          <p:cNvPr id="11" name="Text 8"/>
          <p:cNvSpPr/>
          <p:nvPr/>
        </p:nvSpPr>
        <p:spPr>
          <a:xfrm>
            <a:off x="7807762" y="56684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B88E23"/>
                </a:solidFill>
                <a:latin typeface="Libre Baskerville" pitchFamily="34" charset="0"/>
                <a:ea typeface="Libre Baskerville" pitchFamily="34" charset="-122"/>
                <a:cs typeface="Libre Baskerville" pitchFamily="34" charset="-120"/>
              </a:rPr>
              <a:t>4. Faster Results</a:t>
            </a:r>
            <a:endParaRPr lang="en-US" sz="2200" dirty="0"/>
          </a:p>
        </p:txBody>
      </p:sp>
      <p:sp>
        <p:nvSpPr>
          <p:cNvPr id="12" name="Text 9"/>
          <p:cNvSpPr/>
          <p:nvPr/>
        </p:nvSpPr>
        <p:spPr>
          <a:xfrm>
            <a:off x="7807762" y="6158865"/>
            <a:ext cx="5771555"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delivering decisions significantly faster with improved accuracy and social equity.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77002"/>
            <a:ext cx="3151942"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2. Problem Statement</a:t>
            </a:r>
            <a:endParaRPr lang="en-US" sz="2200" dirty="0"/>
          </a:p>
        </p:txBody>
      </p:sp>
      <p:sp>
        <p:nvSpPr>
          <p:cNvPr id="3" name="Text 1"/>
          <p:cNvSpPr/>
          <p:nvPr/>
        </p:nvSpPr>
        <p:spPr>
          <a:xfrm>
            <a:off x="793790" y="1358146"/>
            <a:ext cx="7063978" cy="708779"/>
          </a:xfrm>
          <a:prstGeom prst="rect">
            <a:avLst/>
          </a:prstGeom>
          <a:noFill/>
          <a:ln/>
        </p:spPr>
        <p:txBody>
          <a:bodyPr wrap="none" lIns="0" tIns="0" rIns="0" bIns="0" rtlCol="0" anchor="t"/>
          <a:lstStyle/>
          <a:p>
            <a:pPr marL="0" indent="0" algn="l">
              <a:lnSpc>
                <a:spcPts val="5550"/>
              </a:lnSpc>
              <a:buNone/>
            </a:pPr>
            <a:r>
              <a:rPr lang="en-US" sz="4450" dirty="0">
                <a:solidFill>
                  <a:srgbClr val="B88E23"/>
                </a:solidFill>
                <a:latin typeface="Libre Baskerville" pitchFamily="34" charset="0"/>
                <a:ea typeface="Libre Baskerville" pitchFamily="34" charset="-122"/>
                <a:cs typeface="Libre Baskerville" pitchFamily="34" charset="-120"/>
              </a:rPr>
              <a:t>The Challenge We Solve</a:t>
            </a:r>
            <a:endParaRPr lang="en-US" sz="4450" dirty="0"/>
          </a:p>
        </p:txBody>
      </p:sp>
      <p:sp>
        <p:nvSpPr>
          <p:cNvPr id="4" name="Text 2"/>
          <p:cNvSpPr/>
          <p:nvPr/>
        </p:nvSpPr>
        <p:spPr>
          <a:xfrm>
            <a:off x="793790" y="2407087"/>
            <a:ext cx="5425916" cy="425291"/>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Traditional System Limitations</a:t>
            </a:r>
            <a:endParaRPr lang="en-US" sz="2650" dirty="0"/>
          </a:p>
        </p:txBody>
      </p:sp>
      <p:sp>
        <p:nvSpPr>
          <p:cNvPr id="5" name="Shape 3"/>
          <p:cNvSpPr/>
          <p:nvPr/>
        </p:nvSpPr>
        <p:spPr>
          <a:xfrm>
            <a:off x="793790" y="3172539"/>
            <a:ext cx="13042821" cy="4280059"/>
          </a:xfrm>
          <a:prstGeom prst="roundRect">
            <a:avLst>
              <a:gd name="adj" fmla="val 2226"/>
            </a:avLst>
          </a:prstGeom>
          <a:noFill/>
          <a:ln w="7620">
            <a:solidFill>
              <a:srgbClr val="000000">
                <a:alpha val="8000"/>
              </a:srgbClr>
            </a:solidFill>
            <a:prstDash val="solid"/>
          </a:ln>
        </p:spPr>
      </p:sp>
      <p:sp>
        <p:nvSpPr>
          <p:cNvPr id="6" name="Shape 4"/>
          <p:cNvSpPr/>
          <p:nvPr/>
        </p:nvSpPr>
        <p:spPr>
          <a:xfrm>
            <a:off x="801410" y="3180159"/>
            <a:ext cx="13026271" cy="650319"/>
          </a:xfrm>
          <a:prstGeom prst="rect">
            <a:avLst/>
          </a:prstGeom>
          <a:solidFill>
            <a:srgbClr val="FFFFFF">
              <a:alpha val="4000"/>
            </a:srgbClr>
          </a:solidFill>
          <a:ln/>
        </p:spPr>
      </p:sp>
      <p:sp>
        <p:nvSpPr>
          <p:cNvPr id="7" name="Text 5"/>
          <p:cNvSpPr/>
          <p:nvPr/>
        </p:nvSpPr>
        <p:spPr>
          <a:xfrm>
            <a:off x="1029653" y="3323868"/>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Problem Area</a:t>
            </a:r>
            <a:endParaRPr lang="en-US" sz="1750" dirty="0"/>
          </a:p>
        </p:txBody>
      </p:sp>
      <p:sp>
        <p:nvSpPr>
          <p:cNvPr id="8" name="Text 6"/>
          <p:cNvSpPr/>
          <p:nvPr/>
        </p:nvSpPr>
        <p:spPr>
          <a:xfrm>
            <a:off x="5375077" y="3323868"/>
            <a:ext cx="388036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Current Impact</a:t>
            </a:r>
            <a:endParaRPr lang="en-US" sz="1750" dirty="0"/>
          </a:p>
        </p:txBody>
      </p:sp>
      <p:sp>
        <p:nvSpPr>
          <p:cNvPr id="9" name="Text 7"/>
          <p:cNvSpPr/>
          <p:nvPr/>
        </p:nvSpPr>
        <p:spPr>
          <a:xfrm>
            <a:off x="9716691" y="3323868"/>
            <a:ext cx="3884176" cy="362903"/>
          </a:xfrm>
          <a:prstGeom prst="rect">
            <a:avLst/>
          </a:prstGeom>
          <a:noFill/>
          <a:ln/>
        </p:spPr>
        <p:txBody>
          <a:bodyPr wrap="non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Solution Needed</a:t>
            </a:r>
            <a:endParaRPr lang="en-US" sz="1750" dirty="0"/>
          </a:p>
        </p:txBody>
      </p:sp>
      <p:sp>
        <p:nvSpPr>
          <p:cNvPr id="10" name="Shape 8"/>
          <p:cNvSpPr/>
          <p:nvPr/>
        </p:nvSpPr>
        <p:spPr>
          <a:xfrm>
            <a:off x="801410" y="3830479"/>
            <a:ext cx="13026271" cy="1013222"/>
          </a:xfrm>
          <a:prstGeom prst="rect">
            <a:avLst/>
          </a:prstGeom>
          <a:solidFill>
            <a:srgbClr val="000000">
              <a:alpha val="4000"/>
            </a:srgbClr>
          </a:solidFill>
          <a:ln/>
        </p:spPr>
      </p:sp>
      <p:sp>
        <p:nvSpPr>
          <p:cNvPr id="11" name="Text 9"/>
          <p:cNvSpPr/>
          <p:nvPr/>
        </p:nvSpPr>
        <p:spPr>
          <a:xfrm>
            <a:off x="1029653" y="397418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Manual Paperwork</a:t>
            </a:r>
            <a:endParaRPr lang="en-US" sz="1750" dirty="0"/>
          </a:p>
        </p:txBody>
      </p:sp>
      <p:sp>
        <p:nvSpPr>
          <p:cNvPr id="12" name="Text 10"/>
          <p:cNvSpPr/>
          <p:nvPr/>
        </p:nvSpPr>
        <p:spPr>
          <a:xfrm>
            <a:off x="5375077" y="3974187"/>
            <a:ext cx="3880366"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3-4 weeks processing, 40% error rates</a:t>
            </a:r>
            <a:endParaRPr lang="en-US" sz="1750" dirty="0"/>
          </a:p>
        </p:txBody>
      </p:sp>
      <p:sp>
        <p:nvSpPr>
          <p:cNvPr id="13" name="Text 11"/>
          <p:cNvSpPr/>
          <p:nvPr/>
        </p:nvSpPr>
        <p:spPr>
          <a:xfrm>
            <a:off x="9716691" y="397418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Complete digitization</a:t>
            </a:r>
            <a:endParaRPr lang="en-US" sz="1750" dirty="0"/>
          </a:p>
        </p:txBody>
      </p:sp>
      <p:sp>
        <p:nvSpPr>
          <p:cNvPr id="14" name="Shape 12"/>
          <p:cNvSpPr/>
          <p:nvPr/>
        </p:nvSpPr>
        <p:spPr>
          <a:xfrm>
            <a:off x="801410" y="4843701"/>
            <a:ext cx="13026271" cy="650319"/>
          </a:xfrm>
          <a:prstGeom prst="rect">
            <a:avLst/>
          </a:prstGeom>
          <a:solidFill>
            <a:srgbClr val="FFFFFF">
              <a:alpha val="4000"/>
            </a:srgbClr>
          </a:solidFill>
          <a:ln/>
        </p:spPr>
      </p:sp>
      <p:sp>
        <p:nvSpPr>
          <p:cNvPr id="15" name="Text 13"/>
          <p:cNvSpPr/>
          <p:nvPr/>
        </p:nvSpPr>
        <p:spPr>
          <a:xfrm>
            <a:off x="1029653" y="4987409"/>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Zero Visibility</a:t>
            </a:r>
            <a:endParaRPr lang="en-US" sz="1750" dirty="0"/>
          </a:p>
        </p:txBody>
      </p:sp>
      <p:sp>
        <p:nvSpPr>
          <p:cNvPr id="16" name="Text 14"/>
          <p:cNvSpPr/>
          <p:nvPr/>
        </p:nvSpPr>
        <p:spPr>
          <a:xfrm>
            <a:off x="5375077" y="4987409"/>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Black box processes</a:t>
            </a:r>
            <a:endParaRPr lang="en-US" sz="1750" dirty="0"/>
          </a:p>
        </p:txBody>
      </p:sp>
      <p:sp>
        <p:nvSpPr>
          <p:cNvPr id="17" name="Text 15"/>
          <p:cNvSpPr/>
          <p:nvPr/>
        </p:nvSpPr>
        <p:spPr>
          <a:xfrm>
            <a:off x="9716691" y="4987409"/>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Full transparency</a:t>
            </a:r>
            <a:endParaRPr lang="en-US" sz="1750" dirty="0"/>
          </a:p>
        </p:txBody>
      </p:sp>
      <p:sp>
        <p:nvSpPr>
          <p:cNvPr id="18" name="Shape 16"/>
          <p:cNvSpPr/>
          <p:nvPr/>
        </p:nvSpPr>
        <p:spPr>
          <a:xfrm>
            <a:off x="801410" y="5494020"/>
            <a:ext cx="13026271" cy="650319"/>
          </a:xfrm>
          <a:prstGeom prst="rect">
            <a:avLst/>
          </a:prstGeom>
          <a:solidFill>
            <a:srgbClr val="000000">
              <a:alpha val="4000"/>
            </a:srgbClr>
          </a:solidFill>
          <a:ln/>
        </p:spPr>
      </p:sp>
      <p:sp>
        <p:nvSpPr>
          <p:cNvPr id="19" name="Text 17"/>
          <p:cNvSpPr/>
          <p:nvPr/>
        </p:nvSpPr>
        <p:spPr>
          <a:xfrm>
            <a:off x="1029653" y="563772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Geographic Inequality</a:t>
            </a:r>
            <a:endParaRPr lang="en-US" sz="1750" dirty="0"/>
          </a:p>
        </p:txBody>
      </p:sp>
      <p:sp>
        <p:nvSpPr>
          <p:cNvPr id="20" name="Text 18"/>
          <p:cNvSpPr/>
          <p:nvPr/>
        </p:nvSpPr>
        <p:spPr>
          <a:xfrm>
            <a:off x="5375077" y="5637728"/>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Rural disadvantage</a:t>
            </a:r>
            <a:endParaRPr lang="en-US" sz="1750" dirty="0"/>
          </a:p>
        </p:txBody>
      </p:sp>
      <p:sp>
        <p:nvSpPr>
          <p:cNvPr id="21" name="Text 19"/>
          <p:cNvSpPr/>
          <p:nvPr/>
        </p:nvSpPr>
        <p:spPr>
          <a:xfrm>
            <a:off x="9716691" y="563772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Equal access platform</a:t>
            </a:r>
            <a:endParaRPr lang="en-US" sz="1750" dirty="0"/>
          </a:p>
        </p:txBody>
      </p:sp>
      <p:sp>
        <p:nvSpPr>
          <p:cNvPr id="22" name="Shape 20"/>
          <p:cNvSpPr/>
          <p:nvPr/>
        </p:nvSpPr>
        <p:spPr>
          <a:xfrm>
            <a:off x="801410" y="6144339"/>
            <a:ext cx="13026271" cy="650319"/>
          </a:xfrm>
          <a:prstGeom prst="rect">
            <a:avLst/>
          </a:prstGeom>
          <a:solidFill>
            <a:srgbClr val="FFFFFF">
              <a:alpha val="4000"/>
            </a:srgbClr>
          </a:solidFill>
          <a:ln/>
        </p:spPr>
      </p:sp>
      <p:sp>
        <p:nvSpPr>
          <p:cNvPr id="23" name="Text 21"/>
          <p:cNvSpPr/>
          <p:nvPr/>
        </p:nvSpPr>
        <p:spPr>
          <a:xfrm>
            <a:off x="1029653" y="628804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Staff Overload</a:t>
            </a:r>
            <a:endParaRPr lang="en-US" sz="1750" dirty="0"/>
          </a:p>
        </p:txBody>
      </p:sp>
      <p:sp>
        <p:nvSpPr>
          <p:cNvPr id="24" name="Text 22"/>
          <p:cNvSpPr/>
          <p:nvPr/>
        </p:nvSpPr>
        <p:spPr>
          <a:xfrm>
            <a:off x="5375077" y="6288048"/>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80% time on paperwork</a:t>
            </a:r>
            <a:endParaRPr lang="en-US" sz="1750" dirty="0"/>
          </a:p>
        </p:txBody>
      </p:sp>
      <p:sp>
        <p:nvSpPr>
          <p:cNvPr id="25" name="Text 23"/>
          <p:cNvSpPr/>
          <p:nvPr/>
        </p:nvSpPr>
        <p:spPr>
          <a:xfrm>
            <a:off x="9716691" y="628804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Automated workflows</a:t>
            </a:r>
            <a:endParaRPr lang="en-US" sz="1750" dirty="0"/>
          </a:p>
        </p:txBody>
      </p:sp>
      <p:sp>
        <p:nvSpPr>
          <p:cNvPr id="26" name="Shape 24"/>
          <p:cNvSpPr/>
          <p:nvPr/>
        </p:nvSpPr>
        <p:spPr>
          <a:xfrm>
            <a:off x="801410" y="6794659"/>
            <a:ext cx="13026271" cy="650319"/>
          </a:xfrm>
          <a:prstGeom prst="rect">
            <a:avLst/>
          </a:prstGeom>
          <a:solidFill>
            <a:srgbClr val="000000">
              <a:alpha val="4000"/>
            </a:srgbClr>
          </a:solidFill>
          <a:ln/>
        </p:spPr>
      </p:sp>
      <p:sp>
        <p:nvSpPr>
          <p:cNvPr id="27" name="Text 25"/>
          <p:cNvSpPr/>
          <p:nvPr/>
        </p:nvSpPr>
        <p:spPr>
          <a:xfrm>
            <a:off x="1029653" y="693836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Bias &amp; Favoritism</a:t>
            </a:r>
            <a:endParaRPr lang="en-US" sz="1750" dirty="0"/>
          </a:p>
        </p:txBody>
      </p:sp>
      <p:sp>
        <p:nvSpPr>
          <p:cNvPr id="28" name="Text 26"/>
          <p:cNvSpPr/>
          <p:nvPr/>
        </p:nvSpPr>
        <p:spPr>
          <a:xfrm>
            <a:off x="5375077" y="6938367"/>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Subjective decisions</a:t>
            </a:r>
            <a:endParaRPr lang="en-US" sz="1750" dirty="0"/>
          </a:p>
        </p:txBody>
      </p:sp>
      <p:sp>
        <p:nvSpPr>
          <p:cNvPr id="29" name="Text 27"/>
          <p:cNvSpPr/>
          <p:nvPr/>
        </p:nvSpPr>
        <p:spPr>
          <a:xfrm>
            <a:off x="9716691" y="693836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Objective algorithms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09957"/>
          </a:xfrm>
          <a:prstGeom prst="rect">
            <a:avLst/>
          </a:prstGeom>
        </p:spPr>
      </p:pic>
      <p:sp>
        <p:nvSpPr>
          <p:cNvPr id="3" name="Text 0"/>
          <p:cNvSpPr/>
          <p:nvPr/>
        </p:nvSpPr>
        <p:spPr>
          <a:xfrm>
            <a:off x="780812" y="3123962"/>
            <a:ext cx="2698909" cy="313730"/>
          </a:xfrm>
          <a:prstGeom prst="rect">
            <a:avLst/>
          </a:prstGeom>
          <a:noFill/>
          <a:ln/>
        </p:spPr>
        <p:txBody>
          <a:bodyPr wrap="none" lIns="0" tIns="0" rIns="0" bIns="0" rtlCol="0" anchor="t"/>
          <a:lstStyle/>
          <a:p>
            <a:pPr marL="0" indent="0" algn="l">
              <a:lnSpc>
                <a:spcPts val="2450"/>
              </a:lnSpc>
              <a:buNone/>
            </a:pPr>
            <a:r>
              <a:rPr lang="en-US" sz="1950" dirty="0">
                <a:solidFill>
                  <a:srgbClr val="5C4E3D"/>
                </a:solidFill>
                <a:latin typeface="Libre Baskerville" pitchFamily="34" charset="0"/>
                <a:ea typeface="Libre Baskerville" pitchFamily="34" charset="-122"/>
                <a:cs typeface="Libre Baskerville" pitchFamily="34" charset="-120"/>
              </a:rPr>
              <a:t>3. Solution Overview</a:t>
            </a:r>
            <a:endParaRPr lang="en-US" sz="1950" dirty="0"/>
          </a:p>
        </p:txBody>
      </p:sp>
      <p:sp>
        <p:nvSpPr>
          <p:cNvPr id="4" name="Text 1"/>
          <p:cNvSpPr/>
          <p:nvPr/>
        </p:nvSpPr>
        <p:spPr>
          <a:xfrm>
            <a:off x="780812" y="3638431"/>
            <a:ext cx="9720858" cy="627459"/>
          </a:xfrm>
          <a:prstGeom prst="rect">
            <a:avLst/>
          </a:prstGeom>
          <a:noFill/>
          <a:ln/>
        </p:spPr>
        <p:txBody>
          <a:bodyPr wrap="none" lIns="0" tIns="0" rIns="0" bIns="0" rtlCol="0" anchor="t"/>
          <a:lstStyle/>
          <a:p>
            <a:pPr marL="0" indent="0" algn="l">
              <a:lnSpc>
                <a:spcPts val="4900"/>
              </a:lnSpc>
              <a:buNone/>
            </a:pPr>
            <a:r>
              <a:rPr lang="en-US" sz="3950" dirty="0">
                <a:solidFill>
                  <a:srgbClr val="B88E23"/>
                </a:solidFill>
                <a:latin typeface="Libre Baskerville" pitchFamily="34" charset="0"/>
                <a:ea typeface="Libre Baskerville" pitchFamily="34" charset="-122"/>
                <a:cs typeface="Libre Baskerville" pitchFamily="34" charset="-120"/>
              </a:rPr>
              <a:t>Revolutionary Digital Transformation</a:t>
            </a:r>
            <a:endParaRPr lang="en-US" sz="3950" dirty="0"/>
          </a:p>
        </p:txBody>
      </p:sp>
      <p:sp>
        <p:nvSpPr>
          <p:cNvPr id="5" name="Text 2"/>
          <p:cNvSpPr/>
          <p:nvPr/>
        </p:nvSpPr>
        <p:spPr>
          <a:xfrm>
            <a:off x="780812" y="4566999"/>
            <a:ext cx="6775371" cy="376476"/>
          </a:xfrm>
          <a:prstGeom prst="rect">
            <a:avLst/>
          </a:prstGeom>
          <a:noFill/>
          <a:ln/>
        </p:spPr>
        <p:txBody>
          <a:bodyPr wrap="none" lIns="0" tIns="0" rIns="0" bIns="0" rtlCol="0" anchor="t"/>
          <a:lstStyle/>
          <a:p>
            <a:pPr marL="0" indent="0" algn="l">
              <a:lnSpc>
                <a:spcPts val="2950"/>
              </a:lnSpc>
              <a:buNone/>
            </a:pPr>
            <a:r>
              <a:rPr lang="en-US" sz="2350" dirty="0">
                <a:solidFill>
                  <a:srgbClr val="5C4E3D"/>
                </a:solidFill>
                <a:latin typeface="Libre Baskerville" pitchFamily="34" charset="0"/>
                <a:ea typeface="Libre Baskerville" pitchFamily="34" charset="-122"/>
                <a:cs typeface="Libre Baskerville" pitchFamily="34" charset="-120"/>
              </a:rPr>
              <a:t>The New Way: Complete Digital Experience</a:t>
            </a:r>
            <a:endParaRPr lang="en-US" sz="2350" dirty="0"/>
          </a:p>
        </p:txBody>
      </p:sp>
      <p:sp>
        <p:nvSpPr>
          <p:cNvPr id="6" name="Shape 3"/>
          <p:cNvSpPr/>
          <p:nvPr/>
        </p:nvSpPr>
        <p:spPr>
          <a:xfrm>
            <a:off x="780812" y="5244584"/>
            <a:ext cx="451723" cy="451723"/>
          </a:xfrm>
          <a:prstGeom prst="roundRect">
            <a:avLst>
              <a:gd name="adj" fmla="val 18670"/>
            </a:avLst>
          </a:prstGeom>
          <a:solidFill>
            <a:srgbClr val="F7EDD4"/>
          </a:solidFill>
          <a:ln w="7620">
            <a:solidFill>
              <a:srgbClr val="DDD3BA"/>
            </a:solidFill>
            <a:prstDash val="solid"/>
          </a:ln>
        </p:spPr>
      </p:sp>
      <p:sp>
        <p:nvSpPr>
          <p:cNvPr id="7" name="Text 4"/>
          <p:cNvSpPr/>
          <p:nvPr/>
        </p:nvSpPr>
        <p:spPr>
          <a:xfrm>
            <a:off x="1433274" y="5313521"/>
            <a:ext cx="3276124" cy="31373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Smartphone Applications</a:t>
            </a:r>
            <a:endParaRPr lang="en-US" sz="1950" dirty="0"/>
          </a:p>
        </p:txBody>
      </p:sp>
      <p:sp>
        <p:nvSpPr>
          <p:cNvPr id="8" name="Text 5"/>
          <p:cNvSpPr/>
          <p:nvPr/>
        </p:nvSpPr>
        <p:spPr>
          <a:xfrm>
            <a:off x="1433274" y="5747623"/>
            <a:ext cx="5756434" cy="321112"/>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Apply from anywhere in under 30 minutes.</a:t>
            </a:r>
            <a:endParaRPr lang="en-US" sz="1550" dirty="0"/>
          </a:p>
        </p:txBody>
      </p:sp>
      <p:sp>
        <p:nvSpPr>
          <p:cNvPr id="9" name="Shape 6"/>
          <p:cNvSpPr/>
          <p:nvPr/>
        </p:nvSpPr>
        <p:spPr>
          <a:xfrm>
            <a:off x="7440692" y="5244584"/>
            <a:ext cx="451723" cy="451723"/>
          </a:xfrm>
          <a:prstGeom prst="roundRect">
            <a:avLst>
              <a:gd name="adj" fmla="val 18670"/>
            </a:avLst>
          </a:prstGeom>
          <a:solidFill>
            <a:srgbClr val="F7EDD4"/>
          </a:solidFill>
          <a:ln w="7620">
            <a:solidFill>
              <a:srgbClr val="DDD3BA"/>
            </a:solidFill>
            <a:prstDash val="solid"/>
          </a:ln>
        </p:spPr>
      </p:sp>
      <p:sp>
        <p:nvSpPr>
          <p:cNvPr id="10" name="Text 7"/>
          <p:cNvSpPr/>
          <p:nvPr/>
        </p:nvSpPr>
        <p:spPr>
          <a:xfrm>
            <a:off x="8093154" y="5313521"/>
            <a:ext cx="2548890" cy="31373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Efficient Processing</a:t>
            </a:r>
            <a:endParaRPr lang="en-US" sz="1950" dirty="0"/>
          </a:p>
        </p:txBody>
      </p:sp>
      <p:sp>
        <p:nvSpPr>
          <p:cNvPr id="11" name="Text 8"/>
          <p:cNvSpPr/>
          <p:nvPr/>
        </p:nvSpPr>
        <p:spPr>
          <a:xfrm>
            <a:off x="8093154" y="5747623"/>
            <a:ext cx="5756434" cy="321112"/>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Smart automation with automated validation.</a:t>
            </a:r>
            <a:endParaRPr lang="en-US" sz="1550" dirty="0"/>
          </a:p>
        </p:txBody>
      </p:sp>
      <p:sp>
        <p:nvSpPr>
          <p:cNvPr id="12" name="Shape 9"/>
          <p:cNvSpPr/>
          <p:nvPr/>
        </p:nvSpPr>
        <p:spPr>
          <a:xfrm>
            <a:off x="780812" y="6470213"/>
            <a:ext cx="451723" cy="451723"/>
          </a:xfrm>
          <a:prstGeom prst="roundRect">
            <a:avLst>
              <a:gd name="adj" fmla="val 18670"/>
            </a:avLst>
          </a:prstGeom>
          <a:solidFill>
            <a:srgbClr val="F7EDD4"/>
          </a:solidFill>
          <a:ln w="7620">
            <a:solidFill>
              <a:srgbClr val="DDD3BA"/>
            </a:solidFill>
            <a:prstDash val="solid"/>
          </a:ln>
        </p:spPr>
      </p:sp>
      <p:sp>
        <p:nvSpPr>
          <p:cNvPr id="13" name="Text 10"/>
          <p:cNvSpPr/>
          <p:nvPr/>
        </p:nvSpPr>
        <p:spPr>
          <a:xfrm>
            <a:off x="1433274" y="6539151"/>
            <a:ext cx="2509957" cy="31373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Full Transparency</a:t>
            </a:r>
            <a:endParaRPr lang="en-US" sz="1950" dirty="0"/>
          </a:p>
        </p:txBody>
      </p:sp>
      <p:sp>
        <p:nvSpPr>
          <p:cNvPr id="14" name="Text 11"/>
          <p:cNvSpPr/>
          <p:nvPr/>
        </p:nvSpPr>
        <p:spPr>
          <a:xfrm>
            <a:off x="1433274" y="6973253"/>
            <a:ext cx="5756434" cy="642223"/>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Live dashboards showing application status, student counts by specialty, and real-time statistics.</a:t>
            </a:r>
            <a:endParaRPr lang="en-US" sz="1550" dirty="0"/>
          </a:p>
        </p:txBody>
      </p:sp>
      <p:sp>
        <p:nvSpPr>
          <p:cNvPr id="15" name="Shape 12"/>
          <p:cNvSpPr/>
          <p:nvPr/>
        </p:nvSpPr>
        <p:spPr>
          <a:xfrm>
            <a:off x="7440692" y="6470213"/>
            <a:ext cx="451723" cy="451723"/>
          </a:xfrm>
          <a:prstGeom prst="roundRect">
            <a:avLst>
              <a:gd name="adj" fmla="val 18670"/>
            </a:avLst>
          </a:prstGeom>
          <a:solidFill>
            <a:srgbClr val="F7EDD4"/>
          </a:solidFill>
          <a:ln w="7620">
            <a:solidFill>
              <a:srgbClr val="DDD3BA"/>
            </a:solidFill>
            <a:prstDash val="solid"/>
          </a:ln>
        </p:spPr>
      </p:sp>
      <p:sp>
        <p:nvSpPr>
          <p:cNvPr id="16" name="Text 13"/>
          <p:cNvSpPr/>
          <p:nvPr/>
        </p:nvSpPr>
        <p:spPr>
          <a:xfrm>
            <a:off x="8093154" y="6539151"/>
            <a:ext cx="2509957" cy="31373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Level Playing Field</a:t>
            </a:r>
            <a:endParaRPr lang="en-US" sz="1950" dirty="0"/>
          </a:p>
        </p:txBody>
      </p:sp>
      <p:sp>
        <p:nvSpPr>
          <p:cNvPr id="17" name="Text 14"/>
          <p:cNvSpPr/>
          <p:nvPr/>
        </p:nvSpPr>
        <p:spPr>
          <a:xfrm>
            <a:off x="8093154" y="6973253"/>
            <a:ext cx="5756434" cy="321112"/>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Automated fairness ensuring equal opportunities.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471" y="595670"/>
            <a:ext cx="2620685" cy="304562"/>
          </a:xfrm>
          <a:prstGeom prst="rect">
            <a:avLst/>
          </a:prstGeom>
          <a:noFill/>
          <a:ln/>
        </p:spPr>
        <p:txBody>
          <a:bodyPr wrap="none" lIns="0" tIns="0" rIns="0" bIns="0" rtlCol="0" anchor="t"/>
          <a:lstStyle/>
          <a:p>
            <a:pPr marL="0" indent="0" algn="l">
              <a:lnSpc>
                <a:spcPts val="2350"/>
              </a:lnSpc>
              <a:buNone/>
            </a:pPr>
            <a:r>
              <a:rPr lang="en-US" sz="1900" dirty="0">
                <a:solidFill>
                  <a:srgbClr val="5C4E3D"/>
                </a:solidFill>
                <a:latin typeface="Libre Baskerville" pitchFamily="34" charset="0"/>
                <a:ea typeface="Libre Baskerville" pitchFamily="34" charset="-122"/>
                <a:cs typeface="Libre Baskerville" pitchFamily="34" charset="-120"/>
              </a:rPr>
              <a:t>3. Solution Overview</a:t>
            </a:r>
            <a:endParaRPr lang="en-US" sz="1900" dirty="0"/>
          </a:p>
        </p:txBody>
      </p:sp>
      <p:sp>
        <p:nvSpPr>
          <p:cNvPr id="4" name="Text 1"/>
          <p:cNvSpPr/>
          <p:nvPr/>
        </p:nvSpPr>
        <p:spPr>
          <a:xfrm>
            <a:off x="6244471" y="1095137"/>
            <a:ext cx="7627858" cy="1218248"/>
          </a:xfrm>
          <a:prstGeom prst="rect">
            <a:avLst/>
          </a:prstGeom>
          <a:noFill/>
          <a:ln/>
        </p:spPr>
        <p:txBody>
          <a:bodyPr wrap="square" lIns="0" tIns="0" rIns="0" bIns="0" rtlCol="0" anchor="t"/>
          <a:lstStyle/>
          <a:p>
            <a:pPr marL="0" indent="0" algn="l">
              <a:lnSpc>
                <a:spcPts val="4750"/>
              </a:lnSpc>
              <a:buNone/>
            </a:pPr>
            <a:r>
              <a:rPr lang="en-US" sz="3800" dirty="0">
                <a:solidFill>
                  <a:srgbClr val="B88E23"/>
                </a:solidFill>
                <a:latin typeface="Libre Baskerville" pitchFamily="34" charset="0"/>
                <a:ea typeface="Libre Baskerville" pitchFamily="34" charset="-122"/>
                <a:cs typeface="Libre Baskerville" pitchFamily="34" charset="-120"/>
              </a:rPr>
              <a:t>Revolutionary Digital Transformation</a:t>
            </a:r>
            <a:endParaRPr lang="en-US" sz="3800" dirty="0"/>
          </a:p>
        </p:txBody>
      </p:sp>
      <p:sp>
        <p:nvSpPr>
          <p:cNvPr id="5" name="Text 2"/>
          <p:cNvSpPr/>
          <p:nvPr/>
        </p:nvSpPr>
        <p:spPr>
          <a:xfrm>
            <a:off x="6244471" y="2605683"/>
            <a:ext cx="6577013" cy="365522"/>
          </a:xfrm>
          <a:prstGeom prst="rect">
            <a:avLst/>
          </a:prstGeom>
          <a:noFill/>
          <a:ln/>
        </p:spPr>
        <p:txBody>
          <a:bodyPr wrap="none" lIns="0" tIns="0" rIns="0" bIns="0" rtlCol="0" anchor="t"/>
          <a:lstStyle/>
          <a:p>
            <a:pPr marL="0" indent="0" algn="l">
              <a:lnSpc>
                <a:spcPts val="2850"/>
              </a:lnSpc>
              <a:buNone/>
            </a:pPr>
            <a:r>
              <a:rPr lang="en-US" sz="2300" dirty="0">
                <a:solidFill>
                  <a:srgbClr val="5C4E3D"/>
                </a:solidFill>
                <a:latin typeface="Libre Baskerville" pitchFamily="34" charset="0"/>
                <a:ea typeface="Libre Baskerville" pitchFamily="34" charset="-122"/>
                <a:cs typeface="Libre Baskerville" pitchFamily="34" charset="-120"/>
              </a:rPr>
              <a:t>The New Way: Complete Digital Experience</a:t>
            </a:r>
            <a:endParaRPr lang="en-US" sz="2300" dirty="0"/>
          </a:p>
        </p:txBody>
      </p:sp>
      <p:sp>
        <p:nvSpPr>
          <p:cNvPr id="6" name="Shape 3"/>
          <p:cNvSpPr/>
          <p:nvPr/>
        </p:nvSpPr>
        <p:spPr>
          <a:xfrm>
            <a:off x="6244471" y="3263503"/>
            <a:ext cx="438507" cy="438507"/>
          </a:xfrm>
          <a:prstGeom prst="roundRect">
            <a:avLst>
              <a:gd name="adj" fmla="val 18671"/>
            </a:avLst>
          </a:prstGeom>
          <a:solidFill>
            <a:srgbClr val="F7EDD4"/>
          </a:solidFill>
          <a:ln w="7620">
            <a:solidFill>
              <a:srgbClr val="DDD3BA"/>
            </a:solidFill>
            <a:prstDash val="solid"/>
          </a:ln>
        </p:spPr>
      </p:sp>
      <p:sp>
        <p:nvSpPr>
          <p:cNvPr id="7" name="Text 4"/>
          <p:cNvSpPr/>
          <p:nvPr/>
        </p:nvSpPr>
        <p:spPr>
          <a:xfrm>
            <a:off x="6877883" y="3330416"/>
            <a:ext cx="2546152" cy="304562"/>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Efficient Operations</a:t>
            </a:r>
            <a:endParaRPr lang="en-US" sz="1900" dirty="0"/>
          </a:p>
        </p:txBody>
      </p:sp>
      <p:sp>
        <p:nvSpPr>
          <p:cNvPr id="8" name="Text 5"/>
          <p:cNvSpPr/>
          <p:nvPr/>
        </p:nvSpPr>
        <p:spPr>
          <a:xfrm>
            <a:off x="6877883" y="3751898"/>
            <a:ext cx="6994446" cy="311825"/>
          </a:xfrm>
          <a:prstGeom prst="rect">
            <a:avLst/>
          </a:prstGeom>
          <a:noFill/>
          <a:ln/>
        </p:spPr>
        <p:txBody>
          <a:bodyPr wrap="none" lIns="0" tIns="0" rIns="0" bIns="0" rtlCol="0" anchor="t"/>
          <a:lstStyle/>
          <a:p>
            <a:pPr marL="0" indent="0" algn="l">
              <a:lnSpc>
                <a:spcPts val="2450"/>
              </a:lnSpc>
              <a:buNone/>
            </a:pPr>
            <a:r>
              <a:rPr lang="en-US" sz="1500" dirty="0">
                <a:solidFill>
                  <a:srgbClr val="454240"/>
                </a:solidFill>
                <a:latin typeface="DM Sans" pitchFamily="34" charset="0"/>
                <a:ea typeface="DM Sans" pitchFamily="34" charset="-122"/>
                <a:cs typeface="DM Sans" pitchFamily="34" charset="-120"/>
              </a:rPr>
              <a:t>Significant reduction in administrative workload.</a:t>
            </a:r>
            <a:endParaRPr lang="en-US" sz="1500" dirty="0"/>
          </a:p>
        </p:txBody>
      </p:sp>
      <p:sp>
        <p:nvSpPr>
          <p:cNvPr id="9" name="Shape 6"/>
          <p:cNvSpPr/>
          <p:nvPr/>
        </p:nvSpPr>
        <p:spPr>
          <a:xfrm>
            <a:off x="6244471" y="4453533"/>
            <a:ext cx="438507" cy="438507"/>
          </a:xfrm>
          <a:prstGeom prst="roundRect">
            <a:avLst>
              <a:gd name="adj" fmla="val 18671"/>
            </a:avLst>
          </a:prstGeom>
          <a:solidFill>
            <a:srgbClr val="F7EDD4"/>
          </a:solidFill>
          <a:ln w="7620">
            <a:solidFill>
              <a:srgbClr val="DDD3BA"/>
            </a:solidFill>
            <a:prstDash val="solid"/>
          </a:ln>
        </p:spPr>
      </p:sp>
      <p:sp>
        <p:nvSpPr>
          <p:cNvPr id="10" name="Text 7"/>
          <p:cNvSpPr/>
          <p:nvPr/>
        </p:nvSpPr>
        <p:spPr>
          <a:xfrm>
            <a:off x="6877883" y="4520446"/>
            <a:ext cx="2543770" cy="304562"/>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Intelligent Matching</a:t>
            </a:r>
            <a:endParaRPr lang="en-US" sz="1900" dirty="0"/>
          </a:p>
        </p:txBody>
      </p:sp>
      <p:sp>
        <p:nvSpPr>
          <p:cNvPr id="11" name="Text 8"/>
          <p:cNvSpPr/>
          <p:nvPr/>
        </p:nvSpPr>
        <p:spPr>
          <a:xfrm>
            <a:off x="6877883" y="4941927"/>
            <a:ext cx="6994446" cy="311825"/>
          </a:xfrm>
          <a:prstGeom prst="rect">
            <a:avLst/>
          </a:prstGeom>
          <a:noFill/>
          <a:ln/>
        </p:spPr>
        <p:txBody>
          <a:bodyPr wrap="none" lIns="0" tIns="0" rIns="0" bIns="0" rtlCol="0" anchor="t"/>
          <a:lstStyle/>
          <a:p>
            <a:pPr marL="0" indent="0" algn="l">
              <a:lnSpc>
                <a:spcPts val="2450"/>
              </a:lnSpc>
              <a:buNone/>
            </a:pPr>
            <a:r>
              <a:rPr lang="en-US" sz="1500" dirty="0">
                <a:solidFill>
                  <a:srgbClr val="454240"/>
                </a:solidFill>
                <a:latin typeface="DM Sans" pitchFamily="34" charset="0"/>
                <a:ea typeface="DM Sans" pitchFamily="34" charset="-122"/>
                <a:cs typeface="DM Sans" pitchFamily="34" charset="-120"/>
              </a:rPr>
              <a:t>Smart algorithms match students to optimal programs.</a:t>
            </a:r>
            <a:endParaRPr lang="en-US" sz="1500" dirty="0"/>
          </a:p>
        </p:txBody>
      </p:sp>
      <p:sp>
        <p:nvSpPr>
          <p:cNvPr id="12" name="Shape 9"/>
          <p:cNvSpPr/>
          <p:nvPr/>
        </p:nvSpPr>
        <p:spPr>
          <a:xfrm>
            <a:off x="6244471" y="5643563"/>
            <a:ext cx="438507" cy="438507"/>
          </a:xfrm>
          <a:prstGeom prst="roundRect">
            <a:avLst>
              <a:gd name="adj" fmla="val 18671"/>
            </a:avLst>
          </a:prstGeom>
          <a:solidFill>
            <a:srgbClr val="F7EDD4"/>
          </a:solidFill>
          <a:ln w="7620">
            <a:solidFill>
              <a:srgbClr val="DDD3BA"/>
            </a:solidFill>
            <a:prstDash val="solid"/>
          </a:ln>
        </p:spPr>
      </p:sp>
      <p:sp>
        <p:nvSpPr>
          <p:cNvPr id="13" name="Text 10"/>
          <p:cNvSpPr/>
          <p:nvPr/>
        </p:nvSpPr>
        <p:spPr>
          <a:xfrm>
            <a:off x="6877883" y="5710476"/>
            <a:ext cx="2436733" cy="304562"/>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Data Integration</a:t>
            </a:r>
            <a:endParaRPr lang="en-US" sz="1900" dirty="0"/>
          </a:p>
        </p:txBody>
      </p:sp>
      <p:sp>
        <p:nvSpPr>
          <p:cNvPr id="14" name="Text 11"/>
          <p:cNvSpPr/>
          <p:nvPr/>
        </p:nvSpPr>
        <p:spPr>
          <a:xfrm>
            <a:off x="6877883" y="6131957"/>
            <a:ext cx="6994446" cy="311825"/>
          </a:xfrm>
          <a:prstGeom prst="rect">
            <a:avLst/>
          </a:prstGeom>
          <a:noFill/>
          <a:ln/>
        </p:spPr>
        <p:txBody>
          <a:bodyPr wrap="none" lIns="0" tIns="0" rIns="0" bIns="0" rtlCol="0" anchor="t"/>
          <a:lstStyle/>
          <a:p>
            <a:pPr marL="0" indent="0" algn="l">
              <a:lnSpc>
                <a:spcPts val="2450"/>
              </a:lnSpc>
              <a:buNone/>
            </a:pPr>
            <a:r>
              <a:rPr lang="en-US" sz="1500" dirty="0">
                <a:solidFill>
                  <a:srgbClr val="454240"/>
                </a:solidFill>
                <a:latin typeface="DM Sans" pitchFamily="34" charset="0"/>
                <a:ea typeface="DM Sans" pitchFamily="34" charset="-122"/>
                <a:cs typeface="DM Sans" pitchFamily="34" charset="-120"/>
              </a:rPr>
              <a:t>Import existing student and institutional data seamlessly.</a:t>
            </a:r>
            <a:endParaRPr lang="en-US" sz="1500" dirty="0"/>
          </a:p>
        </p:txBody>
      </p:sp>
      <p:sp>
        <p:nvSpPr>
          <p:cNvPr id="15" name="Shape 12"/>
          <p:cNvSpPr/>
          <p:nvPr/>
        </p:nvSpPr>
        <p:spPr>
          <a:xfrm>
            <a:off x="6244471" y="6833592"/>
            <a:ext cx="438507" cy="438507"/>
          </a:xfrm>
          <a:prstGeom prst="roundRect">
            <a:avLst>
              <a:gd name="adj" fmla="val 18671"/>
            </a:avLst>
          </a:prstGeom>
          <a:solidFill>
            <a:srgbClr val="F7EDD4"/>
          </a:solidFill>
          <a:ln w="7620">
            <a:solidFill>
              <a:srgbClr val="DDD3BA"/>
            </a:solidFill>
            <a:prstDash val="solid"/>
          </a:ln>
        </p:spPr>
      </p:sp>
      <p:sp>
        <p:nvSpPr>
          <p:cNvPr id="16" name="Text 13"/>
          <p:cNvSpPr/>
          <p:nvPr/>
        </p:nvSpPr>
        <p:spPr>
          <a:xfrm>
            <a:off x="6877883" y="6900505"/>
            <a:ext cx="3314462" cy="304562"/>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Comprehensive Reporting</a:t>
            </a:r>
            <a:endParaRPr lang="en-US" sz="1900" dirty="0"/>
          </a:p>
        </p:txBody>
      </p:sp>
      <p:sp>
        <p:nvSpPr>
          <p:cNvPr id="17" name="Text 14"/>
          <p:cNvSpPr/>
          <p:nvPr/>
        </p:nvSpPr>
        <p:spPr>
          <a:xfrm>
            <a:off x="6877883" y="7321987"/>
            <a:ext cx="6994446" cy="311825"/>
          </a:xfrm>
          <a:prstGeom prst="rect">
            <a:avLst/>
          </a:prstGeom>
          <a:noFill/>
          <a:ln/>
        </p:spPr>
        <p:txBody>
          <a:bodyPr wrap="none" lIns="0" tIns="0" rIns="0" bIns="0" rtlCol="0" anchor="t"/>
          <a:lstStyle/>
          <a:p>
            <a:pPr marL="0" indent="0" algn="l">
              <a:lnSpc>
                <a:spcPts val="2450"/>
              </a:lnSpc>
              <a:buNone/>
            </a:pPr>
            <a:r>
              <a:rPr lang="en-US" sz="1500" dirty="0">
                <a:solidFill>
                  <a:srgbClr val="454240"/>
                </a:solidFill>
                <a:latin typeface="DM Sans" pitchFamily="34" charset="0"/>
                <a:ea typeface="DM Sans" pitchFamily="34" charset="-122"/>
                <a:cs typeface="DM Sans" pitchFamily="34" charset="-120"/>
              </a:rPr>
              <a:t>Export detailed reports and analytics in multiple formats.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60321"/>
            <a:ext cx="3255645"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4. System Architecture</a:t>
            </a:r>
            <a:endParaRPr lang="en-US" sz="2200" dirty="0"/>
          </a:p>
        </p:txBody>
      </p:sp>
      <p:sp>
        <p:nvSpPr>
          <p:cNvPr id="3" name="Text 1"/>
          <p:cNvSpPr/>
          <p:nvPr/>
        </p:nvSpPr>
        <p:spPr>
          <a:xfrm>
            <a:off x="793790" y="1241465"/>
            <a:ext cx="8026717" cy="708779"/>
          </a:xfrm>
          <a:prstGeom prst="rect">
            <a:avLst/>
          </a:prstGeom>
          <a:noFill/>
          <a:ln/>
        </p:spPr>
        <p:txBody>
          <a:bodyPr wrap="none" lIns="0" tIns="0" rIns="0" bIns="0" rtlCol="0" anchor="t"/>
          <a:lstStyle/>
          <a:p>
            <a:pPr marL="0" indent="0" algn="l">
              <a:lnSpc>
                <a:spcPts val="5550"/>
              </a:lnSpc>
              <a:buNone/>
            </a:pPr>
            <a:r>
              <a:rPr lang="en-US" sz="4450" dirty="0">
                <a:solidFill>
                  <a:srgbClr val="B88E23"/>
                </a:solidFill>
                <a:latin typeface="Libre Baskerville" pitchFamily="34" charset="0"/>
                <a:ea typeface="Libre Baskerville" pitchFamily="34" charset="-122"/>
                <a:cs typeface="Libre Baskerville" pitchFamily="34" charset="-120"/>
              </a:rPr>
              <a:t>Breakthrough Technologies</a:t>
            </a:r>
            <a:endParaRPr lang="en-US" sz="4450" dirty="0"/>
          </a:p>
        </p:txBody>
      </p:sp>
      <p:pic>
        <p:nvPicPr>
          <p:cNvPr id="4" name="Image 0" descr="preencoded.png"/>
          <p:cNvPicPr>
            <a:picLocks noChangeAspect="1"/>
          </p:cNvPicPr>
          <p:nvPr/>
        </p:nvPicPr>
        <p:blipFill>
          <a:blip r:embed="rId3"/>
          <a:stretch>
            <a:fillRect/>
          </a:stretch>
        </p:blipFill>
        <p:spPr>
          <a:xfrm>
            <a:off x="793790" y="2545556"/>
            <a:ext cx="566976" cy="566976"/>
          </a:xfrm>
          <a:prstGeom prst="rect">
            <a:avLst/>
          </a:prstGeom>
        </p:spPr>
      </p:pic>
      <p:sp>
        <p:nvSpPr>
          <p:cNvPr id="5" name="Text 2"/>
          <p:cNvSpPr/>
          <p:nvPr/>
        </p:nvSpPr>
        <p:spPr>
          <a:xfrm>
            <a:off x="793790" y="3396020"/>
            <a:ext cx="3279458"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Auto-Save Technology</a:t>
            </a:r>
            <a:endParaRPr lang="en-US" sz="2200" dirty="0"/>
          </a:p>
        </p:txBody>
      </p:sp>
      <p:sp>
        <p:nvSpPr>
          <p:cNvPr id="6" name="Text 3"/>
          <p:cNvSpPr/>
          <p:nvPr/>
        </p:nvSpPr>
        <p:spPr>
          <a:xfrm>
            <a:off x="793790" y="3977164"/>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Regular progress saving to prevent data loss.</a:t>
            </a:r>
            <a:endParaRPr lang="en-US" sz="1750" dirty="0"/>
          </a:p>
        </p:txBody>
      </p:sp>
      <p:pic>
        <p:nvPicPr>
          <p:cNvPr id="7" name="Image 1" descr="preencoded.png"/>
          <p:cNvPicPr>
            <a:picLocks noChangeAspect="1"/>
          </p:cNvPicPr>
          <p:nvPr/>
        </p:nvPicPr>
        <p:blipFill>
          <a:blip r:embed="rId4"/>
          <a:stretch>
            <a:fillRect/>
          </a:stretch>
        </p:blipFill>
        <p:spPr>
          <a:xfrm>
            <a:off x="793790" y="4793694"/>
            <a:ext cx="566976" cy="566976"/>
          </a:xfrm>
          <a:prstGeom prst="rect">
            <a:avLst/>
          </a:prstGeom>
        </p:spPr>
      </p:pic>
      <p:sp>
        <p:nvSpPr>
          <p:cNvPr id="8" name="Text 4"/>
          <p:cNvSpPr/>
          <p:nvPr/>
        </p:nvSpPr>
        <p:spPr>
          <a:xfrm>
            <a:off x="793790" y="5644158"/>
            <a:ext cx="3678793"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Automated Fair Selection</a:t>
            </a:r>
            <a:endParaRPr lang="en-US" sz="2200" dirty="0"/>
          </a:p>
        </p:txBody>
      </p:sp>
      <p:sp>
        <p:nvSpPr>
          <p:cNvPr id="9" name="Text 5"/>
          <p:cNvSpPr/>
          <p:nvPr/>
        </p:nvSpPr>
        <p:spPr>
          <a:xfrm>
            <a:off x="793790" y="6225302"/>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Smart algorithms eliminate human bias and ensure objective evaluation.</a:t>
            </a:r>
            <a:endParaRPr lang="en-US" sz="1750" dirty="0"/>
          </a:p>
        </p:txBody>
      </p:sp>
      <p:pic>
        <p:nvPicPr>
          <p:cNvPr id="10" name="Image 2" descr="preencoded.png"/>
          <p:cNvPicPr>
            <a:picLocks noChangeAspect="1"/>
          </p:cNvPicPr>
          <p:nvPr/>
        </p:nvPicPr>
        <p:blipFill>
          <a:blip r:embed="rId5"/>
          <a:stretch>
            <a:fillRect/>
          </a:stretch>
        </p:blipFill>
        <p:spPr>
          <a:xfrm>
            <a:off x="7599521" y="2545556"/>
            <a:ext cx="566976" cy="566976"/>
          </a:xfrm>
          <a:prstGeom prst="rect">
            <a:avLst/>
          </a:prstGeom>
        </p:spPr>
      </p:pic>
      <p:sp>
        <p:nvSpPr>
          <p:cNvPr id="11" name="Text 6"/>
          <p:cNvSpPr/>
          <p:nvPr/>
        </p:nvSpPr>
        <p:spPr>
          <a:xfrm>
            <a:off x="7599521" y="3396020"/>
            <a:ext cx="4426029"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Strategic Multi-Choice System</a:t>
            </a:r>
            <a:endParaRPr lang="en-US" sz="2200" dirty="0"/>
          </a:p>
        </p:txBody>
      </p:sp>
      <p:sp>
        <p:nvSpPr>
          <p:cNvPr id="12" name="Text 7"/>
          <p:cNvSpPr/>
          <p:nvPr/>
        </p:nvSpPr>
        <p:spPr>
          <a:xfrm>
            <a:off x="7599521" y="397716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Students apply for 2 different scholarships, doubling their chances.</a:t>
            </a:r>
            <a:endParaRPr lang="en-US" sz="1750" dirty="0"/>
          </a:p>
        </p:txBody>
      </p:sp>
      <p:pic>
        <p:nvPicPr>
          <p:cNvPr id="13" name="Image 3" descr="preencoded.png"/>
          <p:cNvPicPr>
            <a:picLocks noChangeAspect="1"/>
          </p:cNvPicPr>
          <p:nvPr/>
        </p:nvPicPr>
        <p:blipFill>
          <a:blip r:embed="rId6"/>
          <a:stretch>
            <a:fillRect/>
          </a:stretch>
        </p:blipFill>
        <p:spPr>
          <a:xfrm>
            <a:off x="7599521" y="5156597"/>
            <a:ext cx="566976" cy="566976"/>
          </a:xfrm>
          <a:prstGeom prst="rect">
            <a:avLst/>
          </a:prstGeom>
        </p:spPr>
      </p:pic>
      <p:sp>
        <p:nvSpPr>
          <p:cNvPr id="14" name="Text 8"/>
          <p:cNvSpPr/>
          <p:nvPr/>
        </p:nvSpPr>
        <p:spPr>
          <a:xfrm>
            <a:off x="7599521" y="6007060"/>
            <a:ext cx="4099322"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Comprehensive Dashboards</a:t>
            </a:r>
            <a:endParaRPr lang="en-US" sz="2200" dirty="0"/>
          </a:p>
        </p:txBody>
      </p:sp>
      <p:sp>
        <p:nvSpPr>
          <p:cNvPr id="15" name="Text 9"/>
          <p:cNvSpPr/>
          <p:nvPr/>
        </p:nvSpPr>
        <p:spPr>
          <a:xfrm>
            <a:off x="7599521" y="658820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Monitoring and tracking of all activities across the entire system.</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46415"/>
            <a:ext cx="2930128" cy="318849"/>
          </a:xfrm>
          <a:prstGeom prst="rect">
            <a:avLst/>
          </a:prstGeom>
          <a:noFill/>
          <a:ln/>
        </p:spPr>
        <p:txBody>
          <a:bodyPr wrap="none" lIns="0" tIns="0" rIns="0" bIns="0" rtlCol="0" anchor="t"/>
          <a:lstStyle/>
          <a:p>
            <a:pPr marL="0" indent="0" algn="l">
              <a:lnSpc>
                <a:spcPts val="2500"/>
              </a:lnSpc>
              <a:buNone/>
            </a:pPr>
            <a:r>
              <a:rPr lang="en-US" sz="2000" dirty="0">
                <a:solidFill>
                  <a:srgbClr val="5C4E3D"/>
                </a:solidFill>
                <a:latin typeface="Libre Baskerville" pitchFamily="34" charset="0"/>
                <a:ea typeface="Libre Baskerville" pitchFamily="34" charset="-122"/>
                <a:cs typeface="Libre Baskerville" pitchFamily="34" charset="-120"/>
              </a:rPr>
              <a:t>4. System Architecture</a:t>
            </a:r>
            <a:endParaRPr lang="en-US" sz="2000" dirty="0"/>
          </a:p>
        </p:txBody>
      </p:sp>
      <p:sp>
        <p:nvSpPr>
          <p:cNvPr id="4" name="Text 1"/>
          <p:cNvSpPr/>
          <p:nvPr/>
        </p:nvSpPr>
        <p:spPr>
          <a:xfrm>
            <a:off x="793790" y="1369338"/>
            <a:ext cx="7224355" cy="637937"/>
          </a:xfrm>
          <a:prstGeom prst="rect">
            <a:avLst/>
          </a:prstGeom>
          <a:noFill/>
          <a:ln/>
        </p:spPr>
        <p:txBody>
          <a:bodyPr wrap="none" lIns="0" tIns="0" rIns="0" bIns="0" rtlCol="0" anchor="t"/>
          <a:lstStyle/>
          <a:p>
            <a:pPr marL="0" indent="0" algn="l">
              <a:lnSpc>
                <a:spcPts val="5000"/>
              </a:lnSpc>
              <a:buNone/>
            </a:pPr>
            <a:r>
              <a:rPr lang="en-US" sz="4000" dirty="0">
                <a:solidFill>
                  <a:srgbClr val="B88E23"/>
                </a:solidFill>
                <a:latin typeface="Libre Baskerville" pitchFamily="34" charset="0"/>
                <a:ea typeface="Libre Baskerville" pitchFamily="34" charset="-122"/>
                <a:cs typeface="Libre Baskerville" pitchFamily="34" charset="-120"/>
              </a:rPr>
              <a:t>Breakthrough Technologies</a:t>
            </a:r>
            <a:endParaRPr lang="en-US" sz="4000" dirty="0"/>
          </a:p>
        </p:txBody>
      </p:sp>
      <p:pic>
        <p:nvPicPr>
          <p:cNvPr id="5" name="Image 1" descr="preencoded.png"/>
          <p:cNvPicPr>
            <a:picLocks noChangeAspect="1"/>
          </p:cNvPicPr>
          <p:nvPr/>
        </p:nvPicPr>
        <p:blipFill>
          <a:blip r:embed="rId4"/>
          <a:stretch>
            <a:fillRect/>
          </a:stretch>
        </p:blipFill>
        <p:spPr>
          <a:xfrm>
            <a:off x="793790" y="2542937"/>
            <a:ext cx="510302" cy="510302"/>
          </a:xfrm>
          <a:prstGeom prst="rect">
            <a:avLst/>
          </a:prstGeom>
        </p:spPr>
      </p:pic>
      <p:sp>
        <p:nvSpPr>
          <p:cNvPr id="6" name="Text 2"/>
          <p:cNvSpPr/>
          <p:nvPr/>
        </p:nvSpPr>
        <p:spPr>
          <a:xfrm>
            <a:off x="793790" y="3308390"/>
            <a:ext cx="3316962" cy="318849"/>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Mobile-First Architecture</a:t>
            </a:r>
            <a:endParaRPr lang="en-US" sz="2000" dirty="0"/>
          </a:p>
        </p:txBody>
      </p:sp>
      <p:sp>
        <p:nvSpPr>
          <p:cNvPr id="7" name="Text 3"/>
          <p:cNvSpPr/>
          <p:nvPr/>
        </p:nvSpPr>
        <p:spPr>
          <a:xfrm>
            <a:off x="793790" y="3831312"/>
            <a:ext cx="3529251" cy="653415"/>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Designed for smartphones that users already own.</a:t>
            </a:r>
            <a:endParaRPr lang="en-US" sz="1600" dirty="0"/>
          </a:p>
        </p:txBody>
      </p:sp>
      <p:pic>
        <p:nvPicPr>
          <p:cNvPr id="8" name="Image 2" descr="preencoded.png"/>
          <p:cNvPicPr>
            <a:picLocks noChangeAspect="1"/>
          </p:cNvPicPr>
          <p:nvPr/>
        </p:nvPicPr>
        <p:blipFill>
          <a:blip r:embed="rId5"/>
          <a:stretch>
            <a:fillRect/>
          </a:stretch>
        </p:blipFill>
        <p:spPr>
          <a:xfrm>
            <a:off x="793790" y="4892993"/>
            <a:ext cx="510302" cy="510302"/>
          </a:xfrm>
          <a:prstGeom prst="rect">
            <a:avLst/>
          </a:prstGeom>
        </p:spPr>
      </p:pic>
      <p:sp>
        <p:nvSpPr>
          <p:cNvPr id="9" name="Text 4"/>
          <p:cNvSpPr/>
          <p:nvPr/>
        </p:nvSpPr>
        <p:spPr>
          <a:xfrm>
            <a:off x="793790" y="5658445"/>
            <a:ext cx="3529251" cy="637699"/>
          </a:xfrm>
          <a:prstGeom prst="rect">
            <a:avLst/>
          </a:prstGeom>
          <a:noFill/>
          <a:ln/>
        </p:spPr>
        <p:txBody>
          <a:bodyPr wrap="squar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Advanced Analytics Engine</a:t>
            </a:r>
            <a:endParaRPr lang="en-US" sz="2000" dirty="0"/>
          </a:p>
        </p:txBody>
      </p:sp>
      <p:sp>
        <p:nvSpPr>
          <p:cNvPr id="10" name="Text 5"/>
          <p:cNvSpPr/>
          <p:nvPr/>
        </p:nvSpPr>
        <p:spPr>
          <a:xfrm>
            <a:off x="793790" y="6500217"/>
            <a:ext cx="3529251" cy="653415"/>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Forecasts trends and optimizes resource allocation.</a:t>
            </a:r>
            <a:endParaRPr lang="en-US" sz="1600" dirty="0"/>
          </a:p>
        </p:txBody>
      </p:sp>
      <p:pic>
        <p:nvPicPr>
          <p:cNvPr id="11" name="Image 3" descr="preencoded.png"/>
          <p:cNvPicPr>
            <a:picLocks noChangeAspect="1"/>
          </p:cNvPicPr>
          <p:nvPr/>
        </p:nvPicPr>
        <p:blipFill>
          <a:blip r:embed="rId6"/>
          <a:stretch>
            <a:fillRect/>
          </a:stretch>
        </p:blipFill>
        <p:spPr>
          <a:xfrm>
            <a:off x="4828580" y="2542937"/>
            <a:ext cx="510302" cy="510302"/>
          </a:xfrm>
          <a:prstGeom prst="rect">
            <a:avLst/>
          </a:prstGeom>
        </p:spPr>
      </p:pic>
      <p:sp>
        <p:nvSpPr>
          <p:cNvPr id="12" name="Text 6"/>
          <p:cNvSpPr/>
          <p:nvPr/>
        </p:nvSpPr>
        <p:spPr>
          <a:xfrm>
            <a:off x="4828580" y="3308390"/>
            <a:ext cx="2634496" cy="318849"/>
          </a:xfrm>
          <a:prstGeom prst="rect">
            <a:avLst/>
          </a:prstGeom>
          <a:noFill/>
          <a:ln/>
        </p:spPr>
        <p:txBody>
          <a:bodyPr wrap="non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Data Import System</a:t>
            </a:r>
            <a:endParaRPr lang="en-US" sz="2000" dirty="0"/>
          </a:p>
        </p:txBody>
      </p:sp>
      <p:sp>
        <p:nvSpPr>
          <p:cNvPr id="13" name="Text 7"/>
          <p:cNvSpPr/>
          <p:nvPr/>
        </p:nvSpPr>
        <p:spPr>
          <a:xfrm>
            <a:off x="4828580" y="3831312"/>
            <a:ext cx="3529251" cy="653415"/>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Seamlessly import existing student records and institutional data.</a:t>
            </a:r>
            <a:endParaRPr lang="en-US" sz="1600" dirty="0"/>
          </a:p>
        </p:txBody>
      </p:sp>
      <p:pic>
        <p:nvPicPr>
          <p:cNvPr id="14" name="Image 4" descr="preencoded.png"/>
          <p:cNvPicPr>
            <a:picLocks noChangeAspect="1"/>
          </p:cNvPicPr>
          <p:nvPr/>
        </p:nvPicPr>
        <p:blipFill>
          <a:blip r:embed="rId7"/>
          <a:stretch>
            <a:fillRect/>
          </a:stretch>
        </p:blipFill>
        <p:spPr>
          <a:xfrm>
            <a:off x="4828580" y="4892993"/>
            <a:ext cx="510302" cy="510302"/>
          </a:xfrm>
          <a:prstGeom prst="rect">
            <a:avLst/>
          </a:prstGeom>
        </p:spPr>
      </p:pic>
      <p:sp>
        <p:nvSpPr>
          <p:cNvPr id="15" name="Text 8"/>
          <p:cNvSpPr/>
          <p:nvPr/>
        </p:nvSpPr>
        <p:spPr>
          <a:xfrm>
            <a:off x="4828580" y="5658445"/>
            <a:ext cx="3529251" cy="637699"/>
          </a:xfrm>
          <a:prstGeom prst="rect">
            <a:avLst/>
          </a:prstGeom>
          <a:noFill/>
          <a:ln/>
        </p:spPr>
        <p:txBody>
          <a:bodyPr wrap="square" lIns="0" tIns="0" rIns="0" bIns="0" rtlCol="0" anchor="t"/>
          <a:lstStyle/>
          <a:p>
            <a:pPr marL="0" indent="0" algn="l">
              <a:lnSpc>
                <a:spcPts val="2500"/>
              </a:lnSpc>
              <a:buNone/>
            </a:pPr>
            <a:r>
              <a:rPr lang="en-US" sz="2000" dirty="0">
                <a:solidFill>
                  <a:srgbClr val="454240"/>
                </a:solidFill>
                <a:latin typeface="Libre Baskerville" pitchFamily="34" charset="0"/>
                <a:ea typeface="Libre Baskerville" pitchFamily="34" charset="-122"/>
                <a:cs typeface="Libre Baskerville" pitchFamily="34" charset="-120"/>
              </a:rPr>
              <a:t>Export &amp; Reporting Engine</a:t>
            </a:r>
            <a:endParaRPr lang="en-US" sz="2000" dirty="0"/>
          </a:p>
        </p:txBody>
      </p:sp>
      <p:sp>
        <p:nvSpPr>
          <p:cNvPr id="16" name="Text 9"/>
          <p:cNvSpPr/>
          <p:nvPr/>
        </p:nvSpPr>
        <p:spPr>
          <a:xfrm>
            <a:off x="4828580" y="6500217"/>
            <a:ext cx="3529251" cy="653415"/>
          </a:xfrm>
          <a:prstGeom prst="rect">
            <a:avLst/>
          </a:prstGeom>
          <a:noFill/>
          <a:ln/>
        </p:spPr>
        <p:txBody>
          <a:bodyPr wrap="square" lIns="0" tIns="0" rIns="0" bIns="0" rtlCol="0" anchor="t"/>
          <a:lstStyle/>
          <a:p>
            <a:pPr marL="0" indent="0" algn="l">
              <a:lnSpc>
                <a:spcPts val="2550"/>
              </a:lnSpc>
              <a:buNone/>
            </a:pPr>
            <a:r>
              <a:rPr lang="en-US" sz="1600" dirty="0">
                <a:solidFill>
                  <a:srgbClr val="454240"/>
                </a:solidFill>
                <a:latin typeface="DM Sans" pitchFamily="34" charset="0"/>
                <a:ea typeface="DM Sans" pitchFamily="34" charset="-122"/>
                <a:cs typeface="DM Sans" pitchFamily="34" charset="-120"/>
              </a:rPr>
              <a:t>Generate comprehensive reports in Excel, PDF, and other formats.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8782"/>
            <a:ext cx="6895028" cy="708779"/>
          </a:xfrm>
          <a:prstGeom prst="rect">
            <a:avLst/>
          </a:prstGeom>
          <a:noFill/>
          <a:ln/>
        </p:spPr>
        <p:txBody>
          <a:bodyPr wrap="none" lIns="0" tIns="0" rIns="0" bIns="0" rtlCol="0" anchor="t"/>
          <a:lstStyle/>
          <a:p>
            <a:pPr marL="0" indent="0" algn="l">
              <a:lnSpc>
                <a:spcPts val="55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sp>
        <p:nvSpPr>
          <p:cNvPr id="3" name="Text 1"/>
          <p:cNvSpPr/>
          <p:nvPr/>
        </p:nvSpPr>
        <p:spPr>
          <a:xfrm>
            <a:off x="793790" y="1777722"/>
            <a:ext cx="7090291" cy="574596"/>
          </a:xfrm>
          <a:prstGeom prst="rect">
            <a:avLst/>
          </a:prstGeom>
          <a:noFill/>
          <a:ln/>
        </p:spPr>
        <p:txBody>
          <a:bodyPr wrap="none" lIns="0" tIns="0" rIns="0" bIns="0" rtlCol="0" anchor="t"/>
          <a:lstStyle/>
          <a:p>
            <a:pPr marL="0" indent="0" algn="l">
              <a:lnSpc>
                <a:spcPts val="4450"/>
              </a:lnSpc>
              <a:buNone/>
            </a:pPr>
            <a:r>
              <a:rPr lang="en-US" sz="3550" dirty="0">
                <a:solidFill>
                  <a:srgbClr val="000000"/>
                </a:solidFill>
                <a:latin typeface="Libre Baskerville" pitchFamily="34" charset="0"/>
                <a:ea typeface="Libre Baskerville" pitchFamily="34" charset="-122"/>
                <a:cs typeface="Libre Baskerville" pitchFamily="34" charset="-120"/>
              </a:rPr>
              <a:t>🎓</a:t>
            </a:r>
            <a:r>
              <a:rPr lang="en-US" sz="3550" dirty="0">
                <a:solidFill>
                  <a:srgbClr val="5C4E3D"/>
                </a:solidFill>
                <a:latin typeface="Libre Baskerville" pitchFamily="34" charset="0"/>
                <a:ea typeface="Libre Baskerville" pitchFamily="34" charset="-122"/>
                <a:cs typeface="Libre Baskerville" pitchFamily="34" charset="-120"/>
              </a:rPr>
              <a:t> </a:t>
            </a:r>
            <a:r>
              <a:rPr lang="en-US" sz="4000" dirty="0">
                <a:solidFill>
                  <a:srgbClr val="B88E23"/>
                </a:solidFill>
                <a:latin typeface="Libre Baskerville" pitchFamily="34" charset="0"/>
              </a:rPr>
              <a:t>Student Application Engine</a:t>
            </a:r>
          </a:p>
        </p:txBody>
      </p:sp>
      <p:sp>
        <p:nvSpPr>
          <p:cNvPr id="4" name="Text 2"/>
          <p:cNvSpPr/>
          <p:nvPr/>
        </p:nvSpPr>
        <p:spPr>
          <a:xfrm>
            <a:off x="793790" y="2692479"/>
            <a:ext cx="6258997" cy="425291"/>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Revolutionary Features for Students</a:t>
            </a:r>
            <a:endParaRPr lang="en-US" sz="2650" dirty="0"/>
          </a:p>
        </p:txBody>
      </p:sp>
      <p:sp>
        <p:nvSpPr>
          <p:cNvPr id="5" name="Shape 3"/>
          <p:cNvSpPr/>
          <p:nvPr/>
        </p:nvSpPr>
        <p:spPr>
          <a:xfrm>
            <a:off x="793790" y="3457932"/>
            <a:ext cx="4196358" cy="2085142"/>
          </a:xfrm>
          <a:prstGeom prst="roundRect">
            <a:avLst>
              <a:gd name="adj" fmla="val 4569"/>
            </a:avLst>
          </a:prstGeom>
          <a:solidFill>
            <a:srgbClr val="FFFDFA"/>
          </a:solidFill>
          <a:ln w="30480">
            <a:solidFill>
              <a:srgbClr val="DDD3BA"/>
            </a:solidFill>
            <a:prstDash val="solid"/>
          </a:ln>
        </p:spPr>
      </p:sp>
      <p:sp>
        <p:nvSpPr>
          <p:cNvPr id="6" name="Shape 4"/>
          <p:cNvSpPr/>
          <p:nvPr/>
        </p:nvSpPr>
        <p:spPr>
          <a:xfrm>
            <a:off x="793790" y="3457932"/>
            <a:ext cx="121920" cy="2085142"/>
          </a:xfrm>
          <a:prstGeom prst="roundRect">
            <a:avLst>
              <a:gd name="adj" fmla="val 78139"/>
            </a:avLst>
          </a:prstGeom>
          <a:solidFill>
            <a:srgbClr val="B88E23"/>
          </a:solidFill>
          <a:ln/>
        </p:spPr>
      </p:sp>
      <p:sp>
        <p:nvSpPr>
          <p:cNvPr id="7" name="Text 5"/>
          <p:cNvSpPr/>
          <p:nvPr/>
        </p:nvSpPr>
        <p:spPr>
          <a:xfrm>
            <a:off x="1173004" y="3715226"/>
            <a:ext cx="3559850" cy="708660"/>
          </a:xfrm>
          <a:prstGeom prst="rect">
            <a:avLst/>
          </a:prstGeom>
          <a:noFill/>
          <a:ln/>
        </p:spPr>
        <p:txBody>
          <a:bodyPr wrap="squar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Intelligent Application Builder</a:t>
            </a:r>
            <a:endParaRPr lang="en-US" sz="2200" dirty="0"/>
          </a:p>
        </p:txBody>
      </p:sp>
      <p:sp>
        <p:nvSpPr>
          <p:cNvPr id="8" name="Text 6"/>
          <p:cNvSpPr/>
          <p:nvPr/>
        </p:nvSpPr>
        <p:spPr>
          <a:xfrm>
            <a:off x="1173004" y="4559975"/>
            <a:ext cx="3559850"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Guided, step-by-step process with real-time validation.</a:t>
            </a:r>
            <a:endParaRPr lang="en-US" sz="1750" dirty="0"/>
          </a:p>
        </p:txBody>
      </p:sp>
      <p:sp>
        <p:nvSpPr>
          <p:cNvPr id="17" name="Shape 15"/>
          <p:cNvSpPr/>
          <p:nvPr/>
        </p:nvSpPr>
        <p:spPr>
          <a:xfrm>
            <a:off x="793790" y="5769888"/>
            <a:ext cx="4196358" cy="1730812"/>
          </a:xfrm>
          <a:prstGeom prst="roundRect">
            <a:avLst>
              <a:gd name="adj" fmla="val 5504"/>
            </a:avLst>
          </a:prstGeom>
          <a:solidFill>
            <a:srgbClr val="FFFDFA"/>
          </a:solidFill>
          <a:ln w="30480">
            <a:solidFill>
              <a:srgbClr val="DDD3BA"/>
            </a:solidFill>
            <a:prstDash val="solid"/>
          </a:ln>
        </p:spPr>
      </p:sp>
      <p:sp>
        <p:nvSpPr>
          <p:cNvPr id="18" name="Shape 16"/>
          <p:cNvSpPr/>
          <p:nvPr/>
        </p:nvSpPr>
        <p:spPr>
          <a:xfrm>
            <a:off x="793790" y="5769888"/>
            <a:ext cx="121920" cy="1730812"/>
          </a:xfrm>
          <a:prstGeom prst="roundRect">
            <a:avLst>
              <a:gd name="adj" fmla="val 78139"/>
            </a:avLst>
          </a:prstGeom>
          <a:solidFill>
            <a:srgbClr val="B88E23"/>
          </a:solidFill>
          <a:ln/>
        </p:spPr>
      </p:sp>
      <p:sp>
        <p:nvSpPr>
          <p:cNvPr id="19" name="Text 17"/>
          <p:cNvSpPr/>
          <p:nvPr/>
        </p:nvSpPr>
        <p:spPr>
          <a:xfrm>
            <a:off x="1173004" y="60271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Auto-Save Feature</a:t>
            </a:r>
            <a:endParaRPr lang="en-US" sz="2200" dirty="0"/>
          </a:p>
        </p:txBody>
      </p:sp>
      <p:sp>
        <p:nvSpPr>
          <p:cNvPr id="20" name="Text 18"/>
          <p:cNvSpPr/>
          <p:nvPr/>
        </p:nvSpPr>
        <p:spPr>
          <a:xfrm>
            <a:off x="1173004" y="6517600"/>
            <a:ext cx="3559850"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Protect your progress with regular automatic saving.</a:t>
            </a:r>
            <a:endParaRPr lang="en-US" sz="1750" dirty="0"/>
          </a:p>
        </p:txBody>
      </p:sp>
      <p:pic>
        <p:nvPicPr>
          <p:cNvPr id="26" name="Picture 25">
            <a:extLst>
              <a:ext uri="{FF2B5EF4-FFF2-40B4-BE49-F238E27FC236}">
                <a16:creationId xmlns:a16="http://schemas.microsoft.com/office/drawing/2014/main" id="{B9368FCD-DCF1-4BCC-1465-3FF59D8DFB13}"/>
              </a:ext>
            </a:extLst>
          </p:cNvPr>
          <p:cNvPicPr>
            <a:picLocks noChangeAspect="1"/>
          </p:cNvPicPr>
          <p:nvPr/>
        </p:nvPicPr>
        <p:blipFill>
          <a:blip r:embed="rId3"/>
          <a:stretch>
            <a:fillRect/>
          </a:stretch>
        </p:blipFill>
        <p:spPr>
          <a:xfrm>
            <a:off x="5518674" y="3457752"/>
            <a:ext cx="8472830" cy="40429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D973-630C-8CEE-AB77-5CF5446990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94ABC0-9825-4F00-EE5A-A1E05F299BFC}"/>
              </a:ext>
            </a:extLst>
          </p:cNvPr>
          <p:cNvSpPr/>
          <p:nvPr/>
        </p:nvSpPr>
        <p:spPr>
          <a:xfrm>
            <a:off x="793790" y="728782"/>
            <a:ext cx="6895028" cy="708779"/>
          </a:xfrm>
          <a:prstGeom prst="rect">
            <a:avLst/>
          </a:prstGeom>
          <a:noFill/>
          <a:ln/>
        </p:spPr>
        <p:txBody>
          <a:bodyPr wrap="none" lIns="0" tIns="0" rIns="0" bIns="0" rtlCol="0" anchor="t"/>
          <a:lstStyle/>
          <a:p>
            <a:pPr marL="0" indent="0" algn="l">
              <a:lnSpc>
                <a:spcPts val="55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sp>
        <p:nvSpPr>
          <p:cNvPr id="3" name="Text 1">
            <a:extLst>
              <a:ext uri="{FF2B5EF4-FFF2-40B4-BE49-F238E27FC236}">
                <a16:creationId xmlns:a16="http://schemas.microsoft.com/office/drawing/2014/main" id="{B1E0F8DB-ADB0-3701-0E26-1B26F4051DA4}"/>
              </a:ext>
            </a:extLst>
          </p:cNvPr>
          <p:cNvSpPr/>
          <p:nvPr/>
        </p:nvSpPr>
        <p:spPr>
          <a:xfrm>
            <a:off x="793790" y="1777722"/>
            <a:ext cx="7090291" cy="574596"/>
          </a:xfrm>
          <a:prstGeom prst="rect">
            <a:avLst/>
          </a:prstGeom>
          <a:noFill/>
          <a:ln/>
        </p:spPr>
        <p:txBody>
          <a:bodyPr wrap="none" lIns="0" tIns="0" rIns="0" bIns="0" rtlCol="0" anchor="t"/>
          <a:lstStyle/>
          <a:p>
            <a:pPr marL="0" indent="0" algn="l">
              <a:lnSpc>
                <a:spcPts val="4450"/>
              </a:lnSpc>
              <a:buNone/>
            </a:pPr>
            <a:r>
              <a:rPr lang="en-US" sz="3550" dirty="0">
                <a:solidFill>
                  <a:srgbClr val="000000"/>
                </a:solidFill>
                <a:latin typeface="Libre Baskerville" pitchFamily="34" charset="0"/>
                <a:ea typeface="Libre Baskerville" pitchFamily="34" charset="-122"/>
                <a:cs typeface="Libre Baskerville" pitchFamily="34" charset="-120"/>
              </a:rPr>
              <a:t>🎓</a:t>
            </a:r>
            <a:r>
              <a:rPr lang="en-US" sz="3550" dirty="0">
                <a:solidFill>
                  <a:srgbClr val="5C4E3D"/>
                </a:solidFill>
                <a:latin typeface="Libre Baskerville" pitchFamily="34" charset="0"/>
                <a:ea typeface="Libre Baskerville" pitchFamily="34" charset="-122"/>
                <a:cs typeface="Libre Baskerville" pitchFamily="34" charset="-120"/>
              </a:rPr>
              <a:t> </a:t>
            </a:r>
            <a:r>
              <a:rPr lang="en-US" sz="4000" dirty="0">
                <a:solidFill>
                  <a:srgbClr val="B88E23"/>
                </a:solidFill>
                <a:latin typeface="Libre Baskerville" pitchFamily="34" charset="0"/>
              </a:rPr>
              <a:t>Student Application Engine</a:t>
            </a:r>
          </a:p>
        </p:txBody>
      </p:sp>
      <p:sp>
        <p:nvSpPr>
          <p:cNvPr id="4" name="Text 2">
            <a:extLst>
              <a:ext uri="{FF2B5EF4-FFF2-40B4-BE49-F238E27FC236}">
                <a16:creationId xmlns:a16="http://schemas.microsoft.com/office/drawing/2014/main" id="{DE66946D-D1DE-4E44-CD1D-84478BDA1F0C}"/>
              </a:ext>
            </a:extLst>
          </p:cNvPr>
          <p:cNvSpPr/>
          <p:nvPr/>
        </p:nvSpPr>
        <p:spPr>
          <a:xfrm>
            <a:off x="793790" y="2692479"/>
            <a:ext cx="6258997" cy="425291"/>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Revolutionary Features for Students</a:t>
            </a:r>
            <a:endParaRPr lang="en-US" sz="2650" dirty="0"/>
          </a:p>
        </p:txBody>
      </p:sp>
      <p:sp>
        <p:nvSpPr>
          <p:cNvPr id="9" name="Shape 7">
            <a:extLst>
              <a:ext uri="{FF2B5EF4-FFF2-40B4-BE49-F238E27FC236}">
                <a16:creationId xmlns:a16="http://schemas.microsoft.com/office/drawing/2014/main" id="{72CE01E0-A512-DBAD-B3C9-14D1720246C8}"/>
              </a:ext>
            </a:extLst>
          </p:cNvPr>
          <p:cNvSpPr/>
          <p:nvPr/>
        </p:nvSpPr>
        <p:spPr>
          <a:xfrm>
            <a:off x="793791" y="3457932"/>
            <a:ext cx="4196358" cy="2085142"/>
          </a:xfrm>
          <a:prstGeom prst="roundRect">
            <a:avLst>
              <a:gd name="adj" fmla="val 4569"/>
            </a:avLst>
          </a:prstGeom>
          <a:solidFill>
            <a:srgbClr val="FFFDFA"/>
          </a:solidFill>
          <a:ln w="30480">
            <a:solidFill>
              <a:srgbClr val="DDD3BA"/>
            </a:solidFill>
            <a:prstDash val="solid"/>
          </a:ln>
        </p:spPr>
      </p:sp>
      <p:sp>
        <p:nvSpPr>
          <p:cNvPr id="10" name="Shape 8">
            <a:extLst>
              <a:ext uri="{FF2B5EF4-FFF2-40B4-BE49-F238E27FC236}">
                <a16:creationId xmlns:a16="http://schemas.microsoft.com/office/drawing/2014/main" id="{6F6B9177-20E2-1974-141D-0E4D752EE2DE}"/>
              </a:ext>
            </a:extLst>
          </p:cNvPr>
          <p:cNvSpPr/>
          <p:nvPr/>
        </p:nvSpPr>
        <p:spPr>
          <a:xfrm>
            <a:off x="793791" y="3457932"/>
            <a:ext cx="121920" cy="2085142"/>
          </a:xfrm>
          <a:prstGeom prst="roundRect">
            <a:avLst>
              <a:gd name="adj" fmla="val 78139"/>
            </a:avLst>
          </a:prstGeom>
          <a:solidFill>
            <a:srgbClr val="B88E23"/>
          </a:solidFill>
          <a:ln/>
        </p:spPr>
      </p:sp>
      <p:sp>
        <p:nvSpPr>
          <p:cNvPr id="11" name="Text 9">
            <a:extLst>
              <a:ext uri="{FF2B5EF4-FFF2-40B4-BE49-F238E27FC236}">
                <a16:creationId xmlns:a16="http://schemas.microsoft.com/office/drawing/2014/main" id="{92C08A93-28A0-5CF8-FAA7-53FD6448A732}"/>
              </a:ext>
            </a:extLst>
          </p:cNvPr>
          <p:cNvSpPr/>
          <p:nvPr/>
        </p:nvSpPr>
        <p:spPr>
          <a:xfrm>
            <a:off x="1173005" y="3715226"/>
            <a:ext cx="3559850" cy="708660"/>
          </a:xfrm>
          <a:prstGeom prst="rect">
            <a:avLst/>
          </a:prstGeom>
          <a:noFill/>
          <a:ln/>
        </p:spPr>
        <p:txBody>
          <a:bodyPr wrap="squar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Smart Document Management</a:t>
            </a:r>
            <a:endParaRPr lang="en-US" sz="2200" dirty="0"/>
          </a:p>
        </p:txBody>
      </p:sp>
      <p:sp>
        <p:nvSpPr>
          <p:cNvPr id="12" name="Text 10">
            <a:extLst>
              <a:ext uri="{FF2B5EF4-FFF2-40B4-BE49-F238E27FC236}">
                <a16:creationId xmlns:a16="http://schemas.microsoft.com/office/drawing/2014/main" id="{EA9E99AF-42E2-A5EB-9AB4-F8BA8CC88959}"/>
              </a:ext>
            </a:extLst>
          </p:cNvPr>
          <p:cNvSpPr/>
          <p:nvPr/>
        </p:nvSpPr>
        <p:spPr>
          <a:xfrm>
            <a:off x="1173005" y="4559975"/>
            <a:ext cx="3559850"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Upload photos and certificates with automatic processing.</a:t>
            </a:r>
            <a:endParaRPr lang="en-US" sz="1750" dirty="0"/>
          </a:p>
        </p:txBody>
      </p:sp>
      <p:sp>
        <p:nvSpPr>
          <p:cNvPr id="21" name="Shape 19">
            <a:extLst>
              <a:ext uri="{FF2B5EF4-FFF2-40B4-BE49-F238E27FC236}">
                <a16:creationId xmlns:a16="http://schemas.microsoft.com/office/drawing/2014/main" id="{9011D220-EB26-B0BC-4CCD-4101FF7734F8}"/>
              </a:ext>
            </a:extLst>
          </p:cNvPr>
          <p:cNvSpPr/>
          <p:nvPr/>
        </p:nvSpPr>
        <p:spPr>
          <a:xfrm>
            <a:off x="793791" y="5769888"/>
            <a:ext cx="4196358" cy="1730812"/>
          </a:xfrm>
          <a:prstGeom prst="roundRect">
            <a:avLst>
              <a:gd name="adj" fmla="val 5504"/>
            </a:avLst>
          </a:prstGeom>
          <a:solidFill>
            <a:srgbClr val="FFFDFA"/>
          </a:solidFill>
          <a:ln w="30480">
            <a:solidFill>
              <a:srgbClr val="DDD3BA"/>
            </a:solidFill>
            <a:prstDash val="solid"/>
          </a:ln>
        </p:spPr>
      </p:sp>
      <p:sp>
        <p:nvSpPr>
          <p:cNvPr id="22" name="Shape 20">
            <a:extLst>
              <a:ext uri="{FF2B5EF4-FFF2-40B4-BE49-F238E27FC236}">
                <a16:creationId xmlns:a16="http://schemas.microsoft.com/office/drawing/2014/main" id="{974E6E38-C820-B61B-0580-9EB8A5BF3E27}"/>
              </a:ext>
            </a:extLst>
          </p:cNvPr>
          <p:cNvSpPr/>
          <p:nvPr/>
        </p:nvSpPr>
        <p:spPr>
          <a:xfrm>
            <a:off x="793791" y="5769888"/>
            <a:ext cx="121920" cy="1730812"/>
          </a:xfrm>
          <a:prstGeom prst="roundRect">
            <a:avLst>
              <a:gd name="adj" fmla="val 78139"/>
            </a:avLst>
          </a:prstGeom>
          <a:solidFill>
            <a:srgbClr val="B88E23"/>
          </a:solidFill>
          <a:ln/>
        </p:spPr>
      </p:sp>
      <p:sp>
        <p:nvSpPr>
          <p:cNvPr id="23" name="Text 21">
            <a:extLst>
              <a:ext uri="{FF2B5EF4-FFF2-40B4-BE49-F238E27FC236}">
                <a16:creationId xmlns:a16="http://schemas.microsoft.com/office/drawing/2014/main" id="{7F0F9560-C121-5D8A-664B-65C859C5FC2B}"/>
              </a:ext>
            </a:extLst>
          </p:cNvPr>
          <p:cNvSpPr/>
          <p:nvPr/>
        </p:nvSpPr>
        <p:spPr>
          <a:xfrm>
            <a:off x="1173005" y="6027182"/>
            <a:ext cx="2892981"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Mobile-First Design</a:t>
            </a:r>
            <a:endParaRPr lang="en-US" sz="2200" dirty="0"/>
          </a:p>
        </p:txBody>
      </p:sp>
      <p:sp>
        <p:nvSpPr>
          <p:cNvPr id="24" name="Text 22">
            <a:extLst>
              <a:ext uri="{FF2B5EF4-FFF2-40B4-BE49-F238E27FC236}">
                <a16:creationId xmlns:a16="http://schemas.microsoft.com/office/drawing/2014/main" id="{CBE533ED-ABCF-75BD-5084-8F2D27A9530C}"/>
              </a:ext>
            </a:extLst>
          </p:cNvPr>
          <p:cNvSpPr/>
          <p:nvPr/>
        </p:nvSpPr>
        <p:spPr>
          <a:xfrm>
            <a:off x="1173005" y="6517600"/>
            <a:ext cx="3559850"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Complete applications entirely on smartphones.</a:t>
            </a:r>
            <a:endParaRPr lang="en-US" sz="1750" dirty="0"/>
          </a:p>
        </p:txBody>
      </p:sp>
      <p:pic>
        <p:nvPicPr>
          <p:cNvPr id="26" name="Picture 25">
            <a:extLst>
              <a:ext uri="{FF2B5EF4-FFF2-40B4-BE49-F238E27FC236}">
                <a16:creationId xmlns:a16="http://schemas.microsoft.com/office/drawing/2014/main" id="{DB6F2816-6B40-4D9E-D8A3-47882319549C}"/>
              </a:ext>
            </a:extLst>
          </p:cNvPr>
          <p:cNvPicPr>
            <a:picLocks noChangeAspect="1"/>
          </p:cNvPicPr>
          <p:nvPr/>
        </p:nvPicPr>
        <p:blipFill>
          <a:blip r:embed="rId3"/>
          <a:stretch>
            <a:fillRect/>
          </a:stretch>
        </p:blipFill>
        <p:spPr>
          <a:xfrm>
            <a:off x="5352726" y="3457933"/>
            <a:ext cx="8793582" cy="4038706"/>
          </a:xfrm>
          <a:prstGeom prst="rect">
            <a:avLst/>
          </a:prstGeom>
        </p:spPr>
      </p:pic>
    </p:spTree>
    <p:extLst>
      <p:ext uri="{BB962C8B-B14F-4D97-AF65-F5344CB8AC3E}">
        <p14:creationId xmlns:p14="http://schemas.microsoft.com/office/powerpoint/2010/main" val="1295188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C606D-8927-07B4-593B-C6F2561570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859625-1E44-4EA1-82C8-F6BF580242E0}"/>
              </a:ext>
            </a:extLst>
          </p:cNvPr>
          <p:cNvSpPr/>
          <p:nvPr/>
        </p:nvSpPr>
        <p:spPr>
          <a:xfrm>
            <a:off x="793790" y="728782"/>
            <a:ext cx="6895028" cy="708779"/>
          </a:xfrm>
          <a:prstGeom prst="rect">
            <a:avLst/>
          </a:prstGeom>
          <a:noFill/>
          <a:ln/>
        </p:spPr>
        <p:txBody>
          <a:bodyPr wrap="none" lIns="0" tIns="0" rIns="0" bIns="0" rtlCol="0" anchor="t"/>
          <a:lstStyle/>
          <a:p>
            <a:pPr marL="0" indent="0" algn="l">
              <a:lnSpc>
                <a:spcPts val="55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sp>
        <p:nvSpPr>
          <p:cNvPr id="3" name="Text 1">
            <a:extLst>
              <a:ext uri="{FF2B5EF4-FFF2-40B4-BE49-F238E27FC236}">
                <a16:creationId xmlns:a16="http://schemas.microsoft.com/office/drawing/2014/main" id="{5D853482-DC37-C9D9-18DF-36B16DEC7613}"/>
              </a:ext>
            </a:extLst>
          </p:cNvPr>
          <p:cNvSpPr/>
          <p:nvPr/>
        </p:nvSpPr>
        <p:spPr>
          <a:xfrm>
            <a:off x="793790" y="1777722"/>
            <a:ext cx="7090291" cy="574596"/>
          </a:xfrm>
          <a:prstGeom prst="rect">
            <a:avLst/>
          </a:prstGeom>
          <a:noFill/>
          <a:ln/>
        </p:spPr>
        <p:txBody>
          <a:bodyPr wrap="none" lIns="0" tIns="0" rIns="0" bIns="0" rtlCol="0" anchor="t"/>
          <a:lstStyle/>
          <a:p>
            <a:pPr marL="0" indent="0" algn="l">
              <a:lnSpc>
                <a:spcPts val="4450"/>
              </a:lnSpc>
              <a:buNone/>
            </a:pPr>
            <a:r>
              <a:rPr lang="en-US" sz="3550" dirty="0">
                <a:solidFill>
                  <a:srgbClr val="000000"/>
                </a:solidFill>
                <a:latin typeface="Libre Baskerville" pitchFamily="34" charset="0"/>
                <a:ea typeface="Libre Baskerville" pitchFamily="34" charset="-122"/>
                <a:cs typeface="Libre Baskerville" pitchFamily="34" charset="-120"/>
              </a:rPr>
              <a:t>🎓</a:t>
            </a:r>
            <a:r>
              <a:rPr lang="en-US" sz="3550" dirty="0">
                <a:solidFill>
                  <a:srgbClr val="5C4E3D"/>
                </a:solidFill>
                <a:latin typeface="Libre Baskerville" pitchFamily="34" charset="0"/>
                <a:ea typeface="Libre Baskerville" pitchFamily="34" charset="-122"/>
                <a:cs typeface="Libre Baskerville" pitchFamily="34" charset="-120"/>
              </a:rPr>
              <a:t> </a:t>
            </a:r>
            <a:r>
              <a:rPr lang="en-US" sz="4000" dirty="0">
                <a:solidFill>
                  <a:srgbClr val="B88E23"/>
                </a:solidFill>
                <a:latin typeface="Libre Baskerville" pitchFamily="34" charset="0"/>
              </a:rPr>
              <a:t>Student Application Engine</a:t>
            </a:r>
          </a:p>
        </p:txBody>
      </p:sp>
      <p:sp>
        <p:nvSpPr>
          <p:cNvPr id="4" name="Text 2">
            <a:extLst>
              <a:ext uri="{FF2B5EF4-FFF2-40B4-BE49-F238E27FC236}">
                <a16:creationId xmlns:a16="http://schemas.microsoft.com/office/drawing/2014/main" id="{7B3FC4E3-6F3B-27E0-F586-80B417D6FDB8}"/>
              </a:ext>
            </a:extLst>
          </p:cNvPr>
          <p:cNvSpPr/>
          <p:nvPr/>
        </p:nvSpPr>
        <p:spPr>
          <a:xfrm>
            <a:off x="793790" y="2692479"/>
            <a:ext cx="6258997" cy="425291"/>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Revolutionary Features for Students</a:t>
            </a:r>
            <a:endParaRPr lang="en-US" sz="2650" dirty="0"/>
          </a:p>
        </p:txBody>
      </p:sp>
      <p:sp>
        <p:nvSpPr>
          <p:cNvPr id="13" name="Shape 11">
            <a:extLst>
              <a:ext uri="{FF2B5EF4-FFF2-40B4-BE49-F238E27FC236}">
                <a16:creationId xmlns:a16="http://schemas.microsoft.com/office/drawing/2014/main" id="{5EBF2DA3-A7C4-B652-408A-2D040D7B7C99}"/>
              </a:ext>
            </a:extLst>
          </p:cNvPr>
          <p:cNvSpPr/>
          <p:nvPr/>
        </p:nvSpPr>
        <p:spPr>
          <a:xfrm>
            <a:off x="793790" y="4114800"/>
            <a:ext cx="4196358" cy="2085142"/>
          </a:xfrm>
          <a:prstGeom prst="roundRect">
            <a:avLst>
              <a:gd name="adj" fmla="val 4569"/>
            </a:avLst>
          </a:prstGeom>
          <a:solidFill>
            <a:srgbClr val="FFFDFA"/>
          </a:solidFill>
          <a:ln w="30480">
            <a:solidFill>
              <a:srgbClr val="DDD3BA"/>
            </a:solidFill>
            <a:prstDash val="solid"/>
          </a:ln>
        </p:spPr>
      </p:sp>
      <p:sp>
        <p:nvSpPr>
          <p:cNvPr id="14" name="Shape 12">
            <a:extLst>
              <a:ext uri="{FF2B5EF4-FFF2-40B4-BE49-F238E27FC236}">
                <a16:creationId xmlns:a16="http://schemas.microsoft.com/office/drawing/2014/main" id="{5307D16E-6383-DF7B-E416-4EA58C6508AB}"/>
              </a:ext>
            </a:extLst>
          </p:cNvPr>
          <p:cNvSpPr/>
          <p:nvPr/>
        </p:nvSpPr>
        <p:spPr>
          <a:xfrm>
            <a:off x="793790" y="4114800"/>
            <a:ext cx="121920" cy="2085142"/>
          </a:xfrm>
          <a:prstGeom prst="roundRect">
            <a:avLst>
              <a:gd name="adj" fmla="val 78139"/>
            </a:avLst>
          </a:prstGeom>
          <a:solidFill>
            <a:srgbClr val="B88E23"/>
          </a:solidFill>
          <a:ln/>
        </p:spPr>
      </p:sp>
      <p:sp>
        <p:nvSpPr>
          <p:cNvPr id="15" name="Text 13">
            <a:extLst>
              <a:ext uri="{FF2B5EF4-FFF2-40B4-BE49-F238E27FC236}">
                <a16:creationId xmlns:a16="http://schemas.microsoft.com/office/drawing/2014/main" id="{2D0F5713-4C8D-4F3C-FB94-3FED67BE6E59}"/>
              </a:ext>
            </a:extLst>
          </p:cNvPr>
          <p:cNvSpPr/>
          <p:nvPr/>
        </p:nvSpPr>
        <p:spPr>
          <a:xfrm>
            <a:off x="1173005" y="4372094"/>
            <a:ext cx="3559850" cy="708660"/>
          </a:xfrm>
          <a:prstGeom prst="rect">
            <a:avLst/>
          </a:prstGeom>
          <a:noFill/>
          <a:ln/>
        </p:spPr>
        <p:txBody>
          <a:bodyPr wrap="squar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Multi-Choice Strategy System</a:t>
            </a:r>
            <a:endParaRPr lang="en-US" sz="2200" dirty="0"/>
          </a:p>
        </p:txBody>
      </p:sp>
      <p:sp>
        <p:nvSpPr>
          <p:cNvPr id="16" name="Text 14">
            <a:extLst>
              <a:ext uri="{FF2B5EF4-FFF2-40B4-BE49-F238E27FC236}">
                <a16:creationId xmlns:a16="http://schemas.microsoft.com/office/drawing/2014/main" id="{57CDA07C-064A-4ED0-9846-8911A4148AFB}"/>
              </a:ext>
            </a:extLst>
          </p:cNvPr>
          <p:cNvSpPr/>
          <p:nvPr/>
        </p:nvSpPr>
        <p:spPr>
          <a:xfrm>
            <a:off x="1173005" y="5216843"/>
            <a:ext cx="3559850"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Apply for up to 2 scholarships with intelligent priority ranking.</a:t>
            </a:r>
            <a:endParaRPr lang="en-US" sz="1750" dirty="0"/>
          </a:p>
        </p:txBody>
      </p:sp>
      <p:pic>
        <p:nvPicPr>
          <p:cNvPr id="6" name="Picture 5">
            <a:extLst>
              <a:ext uri="{FF2B5EF4-FFF2-40B4-BE49-F238E27FC236}">
                <a16:creationId xmlns:a16="http://schemas.microsoft.com/office/drawing/2014/main" id="{7611EB75-EE1A-D8E2-4E18-A3BC79FCF0AE}"/>
              </a:ext>
            </a:extLst>
          </p:cNvPr>
          <p:cNvPicPr>
            <a:picLocks noChangeAspect="1"/>
          </p:cNvPicPr>
          <p:nvPr/>
        </p:nvPicPr>
        <p:blipFill>
          <a:blip r:embed="rId3"/>
          <a:stretch>
            <a:fillRect/>
          </a:stretch>
        </p:blipFill>
        <p:spPr>
          <a:xfrm>
            <a:off x="5503610" y="3657753"/>
            <a:ext cx="8576869" cy="3843065"/>
          </a:xfrm>
          <a:prstGeom prst="rect">
            <a:avLst/>
          </a:prstGeom>
        </p:spPr>
      </p:pic>
    </p:spTree>
    <p:extLst>
      <p:ext uri="{BB962C8B-B14F-4D97-AF65-F5344CB8AC3E}">
        <p14:creationId xmlns:p14="http://schemas.microsoft.com/office/powerpoint/2010/main" val="170072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946089"/>
            <a:ext cx="5288518" cy="430530"/>
          </a:xfrm>
          <a:prstGeom prst="rect">
            <a:avLst/>
          </a:prstGeom>
          <a:noFill/>
          <a:ln/>
        </p:spPr>
        <p:txBody>
          <a:bodyPr wrap="none" lIns="0" tIns="0" rIns="0" bIns="0" rtlCol="0" anchor="t"/>
          <a:lstStyle/>
          <a:p>
            <a:pPr marL="0" indent="0" algn="l">
              <a:lnSpc>
                <a:spcPts val="3300"/>
              </a:lnSpc>
              <a:buNone/>
            </a:pPr>
            <a:r>
              <a:rPr lang="en-US" sz="3200" dirty="0">
                <a:solidFill>
                  <a:srgbClr val="B88E23"/>
                </a:solidFill>
                <a:latin typeface="Libre Baskerville" pitchFamily="34" charset="0"/>
              </a:rPr>
              <a:t>🎓 Student Application Engine</a:t>
            </a:r>
          </a:p>
        </p:txBody>
      </p:sp>
      <p:sp>
        <p:nvSpPr>
          <p:cNvPr id="3" name="Text 1"/>
          <p:cNvSpPr/>
          <p:nvPr/>
        </p:nvSpPr>
        <p:spPr>
          <a:xfrm>
            <a:off x="793790" y="2724009"/>
            <a:ext cx="3032998" cy="317063"/>
          </a:xfrm>
          <a:prstGeom prst="rect">
            <a:avLst/>
          </a:prstGeom>
          <a:noFill/>
          <a:ln/>
        </p:spPr>
        <p:txBody>
          <a:bodyPr wrap="none" lIns="0" tIns="0" rIns="0" bIns="0" rtlCol="0" anchor="t"/>
          <a:lstStyle/>
          <a:p>
            <a:pPr marL="0" indent="0" algn="l">
              <a:lnSpc>
                <a:spcPts val="2450"/>
              </a:lnSpc>
              <a:buNone/>
            </a:pPr>
            <a:r>
              <a:rPr lang="en-US" sz="1950" dirty="0">
                <a:solidFill>
                  <a:srgbClr val="5C4E3D"/>
                </a:solidFill>
                <a:latin typeface="Libre Baskerville" pitchFamily="34" charset="0"/>
                <a:ea typeface="Libre Baskerville" pitchFamily="34" charset="-122"/>
                <a:cs typeface="Libre Baskerville" pitchFamily="34" charset="-120"/>
              </a:rPr>
              <a:t>Direct Student Benefits</a:t>
            </a:r>
            <a:endParaRPr lang="en-US" sz="1950" dirty="0"/>
          </a:p>
        </p:txBody>
      </p:sp>
      <p:pic>
        <p:nvPicPr>
          <p:cNvPr id="4" name="Image 0" descr="preencoded.png"/>
          <p:cNvPicPr>
            <a:picLocks noChangeAspect="1"/>
          </p:cNvPicPr>
          <p:nvPr/>
        </p:nvPicPr>
        <p:blipFill>
          <a:blip r:embed="rId3"/>
          <a:stretch>
            <a:fillRect/>
          </a:stretch>
        </p:blipFill>
        <p:spPr>
          <a:xfrm>
            <a:off x="781883" y="3223407"/>
            <a:ext cx="3923081" cy="3923081"/>
          </a:xfrm>
          <a:prstGeom prst="rect">
            <a:avLst/>
          </a:prstGeom>
        </p:spPr>
      </p:pic>
      <p:sp>
        <p:nvSpPr>
          <p:cNvPr id="5" name="Shape 2"/>
          <p:cNvSpPr/>
          <p:nvPr/>
        </p:nvSpPr>
        <p:spPr>
          <a:xfrm>
            <a:off x="7998382" y="1982867"/>
            <a:ext cx="380643" cy="380643"/>
          </a:xfrm>
          <a:prstGeom prst="roundRect">
            <a:avLst>
              <a:gd name="adj" fmla="val 18667"/>
            </a:avLst>
          </a:prstGeom>
          <a:solidFill>
            <a:srgbClr val="F7EDD4"/>
          </a:solidFill>
          <a:ln w="7620">
            <a:solidFill>
              <a:srgbClr val="DDD3BA"/>
            </a:solidFill>
            <a:prstDash val="solid"/>
          </a:ln>
        </p:spPr>
      </p:sp>
      <p:sp>
        <p:nvSpPr>
          <p:cNvPr id="6" name="Text 3"/>
          <p:cNvSpPr/>
          <p:nvPr/>
        </p:nvSpPr>
        <p:spPr>
          <a:xfrm>
            <a:off x="8548094" y="2040969"/>
            <a:ext cx="2905720" cy="264319"/>
          </a:xfrm>
          <a:prstGeom prst="rect">
            <a:avLst/>
          </a:prstGeom>
          <a:noFill/>
          <a:ln/>
        </p:spPr>
        <p:txBody>
          <a:bodyPr wrap="none" lIns="0" tIns="0" rIns="0" bIns="0" rtlCol="0" anchor="t"/>
          <a:lstStyle/>
          <a:p>
            <a:pPr marL="0" indent="0" algn="l">
              <a:lnSpc>
                <a:spcPts val="2050"/>
              </a:lnSpc>
              <a:buNone/>
            </a:pPr>
            <a:r>
              <a:rPr lang="en-US" sz="1650" dirty="0">
                <a:solidFill>
                  <a:srgbClr val="B88E23"/>
                </a:solidFill>
                <a:latin typeface="Libre Baskerville" pitchFamily="34" charset="0"/>
                <a:ea typeface="Libre Baskerville" pitchFamily="34" charset="-122"/>
                <a:cs typeface="Libre Baskerville" pitchFamily="34" charset="-120"/>
              </a:rPr>
              <a:t>User-Friendly Applications</a:t>
            </a:r>
            <a:endParaRPr lang="en-US" sz="1650" dirty="0"/>
          </a:p>
        </p:txBody>
      </p:sp>
      <p:sp>
        <p:nvSpPr>
          <p:cNvPr id="7" name="Text 4"/>
          <p:cNvSpPr/>
          <p:nvPr/>
        </p:nvSpPr>
        <p:spPr>
          <a:xfrm>
            <a:off x="8548094" y="2474357"/>
            <a:ext cx="5769650" cy="270629"/>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that anyone can complete in under 30 minutes.</a:t>
            </a:r>
            <a:endParaRPr lang="en-US" sz="1300" dirty="0"/>
          </a:p>
        </p:txBody>
      </p:sp>
      <p:sp>
        <p:nvSpPr>
          <p:cNvPr id="8" name="Shape 5"/>
          <p:cNvSpPr/>
          <p:nvPr/>
        </p:nvSpPr>
        <p:spPr>
          <a:xfrm>
            <a:off x="7998382" y="3083243"/>
            <a:ext cx="380643" cy="380643"/>
          </a:xfrm>
          <a:prstGeom prst="roundRect">
            <a:avLst>
              <a:gd name="adj" fmla="val 18667"/>
            </a:avLst>
          </a:prstGeom>
          <a:solidFill>
            <a:srgbClr val="F7EDD4"/>
          </a:solidFill>
          <a:ln w="7620">
            <a:solidFill>
              <a:srgbClr val="DDD3BA"/>
            </a:solidFill>
            <a:prstDash val="solid"/>
          </a:ln>
        </p:spPr>
      </p:sp>
      <p:sp>
        <p:nvSpPr>
          <p:cNvPr id="9" name="Text 6"/>
          <p:cNvSpPr/>
          <p:nvPr/>
        </p:nvSpPr>
        <p:spPr>
          <a:xfrm>
            <a:off x="8548094" y="3141345"/>
            <a:ext cx="2687241" cy="264319"/>
          </a:xfrm>
          <a:prstGeom prst="rect">
            <a:avLst/>
          </a:prstGeom>
          <a:noFill/>
          <a:ln/>
        </p:spPr>
        <p:txBody>
          <a:bodyPr wrap="none" lIns="0" tIns="0" rIns="0" bIns="0" rtlCol="0" anchor="t"/>
          <a:lstStyle/>
          <a:p>
            <a:pPr marL="0" indent="0" algn="l">
              <a:lnSpc>
                <a:spcPts val="2050"/>
              </a:lnSpc>
              <a:buNone/>
            </a:pPr>
            <a:r>
              <a:rPr lang="en-US" sz="1650" dirty="0">
                <a:solidFill>
                  <a:srgbClr val="B88E23"/>
                </a:solidFill>
                <a:latin typeface="Libre Baskerville" pitchFamily="34" charset="0"/>
                <a:ea typeface="Libre Baskerville" pitchFamily="34" charset="-122"/>
                <a:cs typeface="Libre Baskerville" pitchFamily="34" charset="-120"/>
              </a:rPr>
              <a:t>Multiple Chances to Win</a:t>
            </a:r>
            <a:endParaRPr lang="en-US" sz="1650" dirty="0"/>
          </a:p>
        </p:txBody>
      </p:sp>
      <p:sp>
        <p:nvSpPr>
          <p:cNvPr id="10" name="Text 7"/>
          <p:cNvSpPr/>
          <p:nvPr/>
        </p:nvSpPr>
        <p:spPr>
          <a:xfrm>
            <a:off x="8548094" y="3574733"/>
            <a:ext cx="5769650" cy="270629"/>
          </a:xfrm>
          <a:prstGeom prst="rect">
            <a:avLst/>
          </a:prstGeom>
          <a:noFill/>
          <a:ln/>
        </p:spPr>
        <p:txBody>
          <a:bodyPr wrap="none" lIns="0" tIns="0" rIns="0" bIns="0" rtlCol="0" anchor="t"/>
          <a:lstStyle/>
          <a:p>
            <a:pPr marL="0" indent="0" algn="l">
              <a:lnSpc>
                <a:spcPts val="2100"/>
              </a:lnSpc>
              <a:buNone/>
            </a:pPr>
            <a:r>
              <a:rPr lang="en-US" sz="1400" dirty="0">
                <a:solidFill>
                  <a:srgbClr val="454240"/>
                </a:solidFill>
                <a:latin typeface="DM Sans" pitchFamily="34" charset="0"/>
                <a:ea typeface="DM Sans" pitchFamily="34" charset="-122"/>
                <a:cs typeface="DM Sans" pitchFamily="34" charset="-120"/>
              </a:rPr>
              <a:t>with smart preference system doubling success rates.</a:t>
            </a:r>
            <a:endParaRPr lang="en-US" sz="1400" dirty="0"/>
          </a:p>
        </p:txBody>
      </p:sp>
      <p:sp>
        <p:nvSpPr>
          <p:cNvPr id="11" name="Shape 8"/>
          <p:cNvSpPr/>
          <p:nvPr/>
        </p:nvSpPr>
        <p:spPr>
          <a:xfrm>
            <a:off x="7998382" y="4183618"/>
            <a:ext cx="380643" cy="380643"/>
          </a:xfrm>
          <a:prstGeom prst="roundRect">
            <a:avLst>
              <a:gd name="adj" fmla="val 18667"/>
            </a:avLst>
          </a:prstGeom>
          <a:solidFill>
            <a:srgbClr val="F7EDD4"/>
          </a:solidFill>
          <a:ln w="7620">
            <a:solidFill>
              <a:srgbClr val="DDD3BA"/>
            </a:solidFill>
            <a:prstDash val="solid"/>
          </a:ln>
        </p:spPr>
      </p:sp>
      <p:sp>
        <p:nvSpPr>
          <p:cNvPr id="12" name="Text 9"/>
          <p:cNvSpPr/>
          <p:nvPr/>
        </p:nvSpPr>
        <p:spPr>
          <a:xfrm>
            <a:off x="8548094" y="4241721"/>
            <a:ext cx="2428875" cy="264319"/>
          </a:xfrm>
          <a:prstGeom prst="rect">
            <a:avLst/>
          </a:prstGeom>
          <a:noFill/>
          <a:ln/>
        </p:spPr>
        <p:txBody>
          <a:bodyPr wrap="none" lIns="0" tIns="0" rIns="0" bIns="0" rtlCol="0" anchor="t"/>
          <a:lstStyle/>
          <a:p>
            <a:pPr marL="0" indent="0" algn="l">
              <a:lnSpc>
                <a:spcPts val="2050"/>
              </a:lnSpc>
              <a:buNone/>
            </a:pPr>
            <a:r>
              <a:rPr lang="en-US" sz="1650" dirty="0">
                <a:solidFill>
                  <a:srgbClr val="B88E23"/>
                </a:solidFill>
                <a:latin typeface="Libre Baskerville" pitchFamily="34" charset="0"/>
                <a:ea typeface="Libre Baskerville" pitchFamily="34" charset="-122"/>
                <a:cs typeface="Libre Baskerville" pitchFamily="34" charset="-120"/>
              </a:rPr>
              <a:t>Never Lose Your Work</a:t>
            </a:r>
            <a:endParaRPr lang="en-US" sz="1650" dirty="0"/>
          </a:p>
        </p:txBody>
      </p:sp>
      <p:sp>
        <p:nvSpPr>
          <p:cNvPr id="13" name="Text 10"/>
          <p:cNvSpPr/>
          <p:nvPr/>
        </p:nvSpPr>
        <p:spPr>
          <a:xfrm>
            <a:off x="8548094" y="4675108"/>
            <a:ext cx="5769650" cy="270629"/>
          </a:xfrm>
          <a:prstGeom prst="rect">
            <a:avLst/>
          </a:prstGeom>
          <a:noFill/>
          <a:ln/>
        </p:spPr>
        <p:txBody>
          <a:bodyPr wrap="none" lIns="0" tIns="0" rIns="0" bIns="0" rtlCol="0" anchor="t"/>
          <a:lstStyle/>
          <a:p>
            <a:pPr marL="0" indent="0" algn="l">
              <a:lnSpc>
                <a:spcPts val="2100"/>
              </a:lnSpc>
              <a:buNone/>
            </a:pPr>
            <a:r>
              <a:rPr lang="en-US" sz="1400" dirty="0">
                <a:solidFill>
                  <a:srgbClr val="454240"/>
                </a:solidFill>
                <a:latin typeface="DM Sans" pitchFamily="34" charset="0"/>
                <a:ea typeface="DM Sans" pitchFamily="34" charset="-122"/>
                <a:cs typeface="DM Sans" pitchFamily="34" charset="-120"/>
              </a:rPr>
              <a:t>with automatic progress saving.</a:t>
            </a:r>
            <a:endParaRPr lang="en-US" sz="1400" dirty="0"/>
          </a:p>
        </p:txBody>
      </p:sp>
      <p:sp>
        <p:nvSpPr>
          <p:cNvPr id="14" name="Shape 11"/>
          <p:cNvSpPr/>
          <p:nvPr/>
        </p:nvSpPr>
        <p:spPr>
          <a:xfrm>
            <a:off x="7998382" y="5283994"/>
            <a:ext cx="380643" cy="380643"/>
          </a:xfrm>
          <a:prstGeom prst="roundRect">
            <a:avLst>
              <a:gd name="adj" fmla="val 18667"/>
            </a:avLst>
          </a:prstGeom>
          <a:solidFill>
            <a:srgbClr val="F7EDD4"/>
          </a:solidFill>
          <a:ln w="7620">
            <a:solidFill>
              <a:srgbClr val="DDD3BA"/>
            </a:solidFill>
            <a:prstDash val="solid"/>
          </a:ln>
        </p:spPr>
      </p:sp>
      <p:sp>
        <p:nvSpPr>
          <p:cNvPr id="15" name="Text 12"/>
          <p:cNvSpPr/>
          <p:nvPr/>
        </p:nvSpPr>
        <p:spPr>
          <a:xfrm>
            <a:off x="8548094" y="5342096"/>
            <a:ext cx="2557582" cy="264319"/>
          </a:xfrm>
          <a:prstGeom prst="rect">
            <a:avLst/>
          </a:prstGeom>
          <a:noFill/>
          <a:ln/>
        </p:spPr>
        <p:txBody>
          <a:bodyPr wrap="none" lIns="0" tIns="0" rIns="0" bIns="0" rtlCol="0" anchor="t"/>
          <a:lstStyle/>
          <a:p>
            <a:pPr marL="0" indent="0" algn="l">
              <a:lnSpc>
                <a:spcPts val="2050"/>
              </a:lnSpc>
              <a:buNone/>
            </a:pPr>
            <a:r>
              <a:rPr lang="en-US" sz="1650" dirty="0">
                <a:solidFill>
                  <a:srgbClr val="B88E23"/>
                </a:solidFill>
                <a:latin typeface="Libre Baskerville" pitchFamily="34" charset="0"/>
                <a:ea typeface="Libre Baskerville" pitchFamily="34" charset="-122"/>
                <a:cs typeface="Libre Baskerville" pitchFamily="34" charset="-120"/>
              </a:rPr>
              <a:t>Know Where You Stand</a:t>
            </a:r>
            <a:endParaRPr lang="en-US" sz="1650" dirty="0"/>
          </a:p>
        </p:txBody>
      </p:sp>
      <p:sp>
        <p:nvSpPr>
          <p:cNvPr id="16" name="Text 13"/>
          <p:cNvSpPr/>
          <p:nvPr/>
        </p:nvSpPr>
        <p:spPr>
          <a:xfrm>
            <a:off x="8548094" y="5775484"/>
            <a:ext cx="5769650" cy="541258"/>
          </a:xfrm>
          <a:prstGeom prst="rect">
            <a:avLst/>
          </a:prstGeom>
          <a:noFill/>
          <a:ln/>
        </p:spPr>
        <p:txBody>
          <a:bodyPr wrap="square" lIns="0" tIns="0" rIns="0" bIns="0" rtlCol="0" anchor="t"/>
          <a:lstStyle/>
          <a:p>
            <a:pPr marL="0" indent="0" algn="l">
              <a:lnSpc>
                <a:spcPts val="2100"/>
              </a:lnSpc>
              <a:buNone/>
            </a:pPr>
            <a:r>
              <a:rPr lang="en-US" sz="1400" dirty="0">
                <a:solidFill>
                  <a:srgbClr val="454240"/>
                </a:solidFill>
                <a:latin typeface="DM Sans" pitchFamily="34" charset="0"/>
                <a:ea typeface="DM Sans" pitchFamily="34" charset="-122"/>
                <a:cs typeface="DM Sans" pitchFamily="34" charset="-120"/>
              </a:rPr>
              <a:t>with live status updates, real-time application counts per specialty, and complete transparency.</a:t>
            </a:r>
            <a:endParaRPr lang="en-US" sz="1400" dirty="0"/>
          </a:p>
        </p:txBody>
      </p:sp>
      <p:sp>
        <p:nvSpPr>
          <p:cNvPr id="17" name="Shape 14"/>
          <p:cNvSpPr/>
          <p:nvPr/>
        </p:nvSpPr>
        <p:spPr>
          <a:xfrm>
            <a:off x="7998382" y="6654998"/>
            <a:ext cx="380643" cy="380643"/>
          </a:xfrm>
          <a:prstGeom prst="roundRect">
            <a:avLst>
              <a:gd name="adj" fmla="val 18667"/>
            </a:avLst>
          </a:prstGeom>
          <a:solidFill>
            <a:srgbClr val="F7EDD4"/>
          </a:solidFill>
          <a:ln w="7620">
            <a:solidFill>
              <a:srgbClr val="DDD3BA"/>
            </a:solidFill>
            <a:prstDash val="solid"/>
          </a:ln>
        </p:spPr>
      </p:sp>
      <p:sp>
        <p:nvSpPr>
          <p:cNvPr id="18" name="Text 15"/>
          <p:cNvSpPr/>
          <p:nvPr/>
        </p:nvSpPr>
        <p:spPr>
          <a:xfrm>
            <a:off x="8548094" y="6713101"/>
            <a:ext cx="2450783" cy="264319"/>
          </a:xfrm>
          <a:prstGeom prst="rect">
            <a:avLst/>
          </a:prstGeom>
          <a:noFill/>
          <a:ln/>
        </p:spPr>
        <p:txBody>
          <a:bodyPr wrap="none" lIns="0" tIns="0" rIns="0" bIns="0" rtlCol="0" anchor="t"/>
          <a:lstStyle/>
          <a:p>
            <a:pPr marL="0" indent="0" algn="l">
              <a:lnSpc>
                <a:spcPts val="2050"/>
              </a:lnSpc>
              <a:buNone/>
            </a:pPr>
            <a:r>
              <a:rPr lang="en-US" sz="1650" dirty="0">
                <a:solidFill>
                  <a:srgbClr val="B88E23"/>
                </a:solidFill>
                <a:latin typeface="Libre Baskerville" pitchFamily="34" charset="0"/>
                <a:ea typeface="Libre Baskerville" pitchFamily="34" charset="-122"/>
                <a:cs typeface="Libre Baskerville" pitchFamily="34" charset="-120"/>
              </a:rPr>
              <a:t>Fair Shot for Everyone</a:t>
            </a:r>
            <a:endParaRPr lang="en-US" sz="1650" dirty="0"/>
          </a:p>
        </p:txBody>
      </p:sp>
      <p:sp>
        <p:nvSpPr>
          <p:cNvPr id="19" name="Text 16"/>
          <p:cNvSpPr/>
          <p:nvPr/>
        </p:nvSpPr>
        <p:spPr>
          <a:xfrm>
            <a:off x="8548094" y="7146488"/>
            <a:ext cx="5769650" cy="270629"/>
          </a:xfrm>
          <a:prstGeom prst="rect">
            <a:avLst/>
          </a:prstGeom>
          <a:noFill/>
          <a:ln/>
        </p:spPr>
        <p:txBody>
          <a:bodyPr wrap="none" lIns="0" tIns="0" rIns="0" bIns="0" rtlCol="0" anchor="t"/>
          <a:lstStyle/>
          <a:p>
            <a:pPr marL="0" indent="0" algn="l">
              <a:lnSpc>
                <a:spcPts val="2100"/>
              </a:lnSpc>
              <a:buNone/>
            </a:pPr>
            <a:r>
              <a:rPr lang="en-US" sz="1400" dirty="0">
                <a:solidFill>
                  <a:srgbClr val="454240"/>
                </a:solidFill>
                <a:latin typeface="DM Sans" pitchFamily="34" charset="0"/>
                <a:ea typeface="DM Sans" pitchFamily="34" charset="-122"/>
                <a:cs typeface="DM Sans" pitchFamily="34" charset="-120"/>
              </a:rPr>
              <a:t>no matter geographic location or background.</a:t>
            </a:r>
            <a:endParaRPr lang="en-US" sz="1400" dirty="0"/>
          </a:p>
        </p:txBody>
      </p:sp>
      <p:sp>
        <p:nvSpPr>
          <p:cNvPr id="20" name="Text 0">
            <a:extLst>
              <a:ext uri="{FF2B5EF4-FFF2-40B4-BE49-F238E27FC236}">
                <a16:creationId xmlns:a16="http://schemas.microsoft.com/office/drawing/2014/main" id="{607A71BF-7042-844A-E16C-FDEE239DB655}"/>
              </a:ext>
            </a:extLst>
          </p:cNvPr>
          <p:cNvSpPr/>
          <p:nvPr/>
        </p:nvSpPr>
        <p:spPr>
          <a:xfrm>
            <a:off x="793790" y="485180"/>
            <a:ext cx="6895028" cy="708779"/>
          </a:xfrm>
          <a:prstGeom prst="rect">
            <a:avLst/>
          </a:prstGeom>
          <a:noFill/>
          <a:ln/>
        </p:spPr>
        <p:txBody>
          <a:bodyPr wrap="none" lIns="0" tIns="0" rIns="0" bIns="0" rtlCol="0" anchor="t"/>
          <a:lstStyle/>
          <a:p>
            <a:pPr marL="0" indent="0" algn="l">
              <a:lnSpc>
                <a:spcPts val="55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4502" y="608886"/>
            <a:ext cx="6606302" cy="622340"/>
          </a:xfrm>
          <a:prstGeom prst="rect">
            <a:avLst/>
          </a:prstGeom>
          <a:noFill/>
          <a:ln/>
        </p:spPr>
        <p:txBody>
          <a:bodyPr wrap="none" lIns="0" tIns="0" rIns="0" bIns="0" rtlCol="0" anchor="t"/>
          <a:lstStyle/>
          <a:p>
            <a:pPr marL="0" indent="0" algn="l">
              <a:lnSpc>
                <a:spcPts val="4900"/>
              </a:lnSpc>
              <a:buNone/>
            </a:pPr>
            <a:r>
              <a:rPr lang="en-US" sz="2200" dirty="0">
                <a:solidFill>
                  <a:srgbClr val="5C4E3D"/>
                </a:solidFill>
                <a:latin typeface="Libre Baskerville" pitchFamily="34" charset="0"/>
              </a:rPr>
              <a:t>5. Key Features &amp; Benefits</a:t>
            </a:r>
          </a:p>
        </p:txBody>
      </p:sp>
      <p:sp>
        <p:nvSpPr>
          <p:cNvPr id="3" name="Text 1"/>
          <p:cNvSpPr/>
          <p:nvPr/>
        </p:nvSpPr>
        <p:spPr>
          <a:xfrm>
            <a:off x="774502" y="1529953"/>
            <a:ext cx="6141363" cy="505539"/>
          </a:xfrm>
          <a:prstGeom prst="rect">
            <a:avLst/>
          </a:prstGeom>
          <a:noFill/>
          <a:ln/>
        </p:spPr>
        <p:txBody>
          <a:bodyPr wrap="none" lIns="0" tIns="0" rIns="0" bIns="0" rtlCol="0" anchor="t"/>
          <a:lstStyle/>
          <a:p>
            <a:pPr marL="0" indent="0" algn="l">
              <a:lnSpc>
                <a:spcPts val="3900"/>
              </a:lnSpc>
              <a:buNone/>
            </a:pPr>
            <a:r>
              <a:rPr lang="en-US" sz="3200" dirty="0">
                <a:solidFill>
                  <a:srgbClr val="B88E23"/>
                </a:solidFill>
                <a:latin typeface="Libre Baskerville" pitchFamily="34" charset="0"/>
              </a:rPr>
              <a:t>🏫 School Management Portal</a:t>
            </a:r>
          </a:p>
        </p:txBody>
      </p:sp>
      <p:sp>
        <p:nvSpPr>
          <p:cNvPr id="4" name="Text 2"/>
          <p:cNvSpPr/>
          <p:nvPr/>
        </p:nvSpPr>
        <p:spPr>
          <a:xfrm>
            <a:off x="774502" y="2334220"/>
            <a:ext cx="6256139" cy="373380"/>
          </a:xfrm>
          <a:prstGeom prst="rect">
            <a:avLst/>
          </a:prstGeom>
          <a:noFill/>
          <a:ln/>
        </p:spPr>
        <p:txBody>
          <a:bodyPr wrap="none" lIns="0" tIns="0" rIns="0" bIns="0" rtlCol="0" anchor="t"/>
          <a:lstStyle/>
          <a:p>
            <a:pPr marL="0" indent="0" algn="l">
              <a:lnSpc>
                <a:spcPts val="2900"/>
              </a:lnSpc>
              <a:buNone/>
            </a:pPr>
            <a:r>
              <a:rPr lang="en-US" sz="2350" dirty="0">
                <a:solidFill>
                  <a:srgbClr val="5C4E3D"/>
                </a:solidFill>
                <a:latin typeface="Libre Baskerville" pitchFamily="34" charset="0"/>
                <a:ea typeface="Libre Baskerville" pitchFamily="34" charset="-122"/>
                <a:cs typeface="Libre Baskerville" pitchFamily="34" charset="-120"/>
              </a:rPr>
              <a:t>Complete Administrative Control Center</a:t>
            </a:r>
            <a:endParaRPr lang="en-US" sz="2350" dirty="0"/>
          </a:p>
        </p:txBody>
      </p:sp>
      <p:sp>
        <p:nvSpPr>
          <p:cNvPr id="5" name="Shape 3"/>
          <p:cNvSpPr/>
          <p:nvPr/>
        </p:nvSpPr>
        <p:spPr>
          <a:xfrm>
            <a:off x="774502" y="3006328"/>
            <a:ext cx="6441162" cy="1511618"/>
          </a:xfrm>
          <a:prstGeom prst="roundRect">
            <a:avLst>
              <a:gd name="adj" fmla="val 5534"/>
            </a:avLst>
          </a:prstGeom>
          <a:solidFill>
            <a:srgbClr val="FFFDFA"/>
          </a:solidFill>
          <a:ln w="22860">
            <a:solidFill>
              <a:srgbClr val="B88E23"/>
            </a:solidFill>
            <a:prstDash val="solid"/>
          </a:ln>
        </p:spPr>
      </p:sp>
      <p:sp>
        <p:nvSpPr>
          <p:cNvPr id="6" name="Shape 4"/>
          <p:cNvSpPr/>
          <p:nvPr/>
        </p:nvSpPr>
        <p:spPr>
          <a:xfrm>
            <a:off x="774502" y="3006328"/>
            <a:ext cx="91440" cy="1511618"/>
          </a:xfrm>
          <a:prstGeom prst="roundRect">
            <a:avLst>
              <a:gd name="adj" fmla="val 91480"/>
            </a:avLst>
          </a:prstGeom>
          <a:solidFill>
            <a:srgbClr val="B88E23"/>
          </a:solidFill>
          <a:ln/>
        </p:spPr>
      </p:sp>
      <p:sp>
        <p:nvSpPr>
          <p:cNvPr id="7" name="Text 5"/>
          <p:cNvSpPr/>
          <p:nvPr/>
        </p:nvSpPr>
        <p:spPr>
          <a:xfrm>
            <a:off x="1087874" y="3228261"/>
            <a:ext cx="4861441"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Streamlined Application Management</a:t>
            </a:r>
            <a:endParaRPr lang="en-US" sz="1950" dirty="0"/>
          </a:p>
        </p:txBody>
      </p:sp>
      <p:sp>
        <p:nvSpPr>
          <p:cNvPr id="8" name="Text 6"/>
          <p:cNvSpPr/>
          <p:nvPr/>
        </p:nvSpPr>
        <p:spPr>
          <a:xfrm>
            <a:off x="1087874" y="3658791"/>
            <a:ext cx="5905857" cy="637223"/>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Efficiently manage individual applications with organized workflows.</a:t>
            </a:r>
            <a:endParaRPr lang="en-US" sz="1550" dirty="0"/>
          </a:p>
        </p:txBody>
      </p:sp>
      <p:sp>
        <p:nvSpPr>
          <p:cNvPr id="9" name="Shape 7"/>
          <p:cNvSpPr/>
          <p:nvPr/>
        </p:nvSpPr>
        <p:spPr>
          <a:xfrm>
            <a:off x="7414736" y="3006328"/>
            <a:ext cx="6441162" cy="1511618"/>
          </a:xfrm>
          <a:prstGeom prst="roundRect">
            <a:avLst>
              <a:gd name="adj" fmla="val 5534"/>
            </a:avLst>
          </a:prstGeom>
          <a:solidFill>
            <a:srgbClr val="FFFDFA"/>
          </a:solidFill>
          <a:ln w="22860">
            <a:solidFill>
              <a:srgbClr val="B88E23"/>
            </a:solidFill>
            <a:prstDash val="solid"/>
          </a:ln>
        </p:spPr>
      </p:sp>
      <p:sp>
        <p:nvSpPr>
          <p:cNvPr id="10" name="Shape 8"/>
          <p:cNvSpPr/>
          <p:nvPr/>
        </p:nvSpPr>
        <p:spPr>
          <a:xfrm>
            <a:off x="7414736" y="3006328"/>
            <a:ext cx="91440" cy="1511618"/>
          </a:xfrm>
          <a:prstGeom prst="roundRect">
            <a:avLst>
              <a:gd name="adj" fmla="val 91480"/>
            </a:avLst>
          </a:prstGeom>
          <a:solidFill>
            <a:srgbClr val="B88E23"/>
          </a:solidFill>
          <a:ln/>
        </p:spPr>
      </p:sp>
      <p:sp>
        <p:nvSpPr>
          <p:cNvPr id="11" name="Text 9"/>
          <p:cNvSpPr/>
          <p:nvPr/>
        </p:nvSpPr>
        <p:spPr>
          <a:xfrm>
            <a:off x="7728109" y="3228261"/>
            <a:ext cx="3761303"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Quality Assurance Dashboard</a:t>
            </a:r>
            <a:endParaRPr lang="en-US" sz="1950" dirty="0"/>
          </a:p>
        </p:txBody>
      </p:sp>
      <p:sp>
        <p:nvSpPr>
          <p:cNvPr id="12" name="Text 10"/>
          <p:cNvSpPr/>
          <p:nvPr/>
        </p:nvSpPr>
        <p:spPr>
          <a:xfrm>
            <a:off x="7728109" y="3658791"/>
            <a:ext cx="5905857" cy="318611"/>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Automated checks catch errors before submission.</a:t>
            </a:r>
            <a:endParaRPr lang="en-US" sz="1550" dirty="0"/>
          </a:p>
        </p:txBody>
      </p:sp>
      <p:sp>
        <p:nvSpPr>
          <p:cNvPr id="13" name="Shape 11"/>
          <p:cNvSpPr/>
          <p:nvPr/>
        </p:nvSpPr>
        <p:spPr>
          <a:xfrm>
            <a:off x="774502" y="4717018"/>
            <a:ext cx="6441162" cy="1193006"/>
          </a:xfrm>
          <a:prstGeom prst="roundRect">
            <a:avLst>
              <a:gd name="adj" fmla="val 7012"/>
            </a:avLst>
          </a:prstGeom>
          <a:solidFill>
            <a:srgbClr val="FFFDFA"/>
          </a:solidFill>
          <a:ln w="22860">
            <a:solidFill>
              <a:srgbClr val="B88E23"/>
            </a:solidFill>
            <a:prstDash val="solid"/>
          </a:ln>
        </p:spPr>
      </p:sp>
      <p:sp>
        <p:nvSpPr>
          <p:cNvPr id="14" name="Shape 12"/>
          <p:cNvSpPr/>
          <p:nvPr/>
        </p:nvSpPr>
        <p:spPr>
          <a:xfrm>
            <a:off x="774502" y="4717018"/>
            <a:ext cx="91440" cy="1193006"/>
          </a:xfrm>
          <a:prstGeom prst="roundRect">
            <a:avLst>
              <a:gd name="adj" fmla="val 91480"/>
            </a:avLst>
          </a:prstGeom>
          <a:solidFill>
            <a:srgbClr val="B88E23"/>
          </a:solidFill>
          <a:ln/>
        </p:spPr>
      </p:sp>
      <p:sp>
        <p:nvSpPr>
          <p:cNvPr id="15" name="Text 13"/>
          <p:cNvSpPr/>
          <p:nvPr/>
        </p:nvSpPr>
        <p:spPr>
          <a:xfrm>
            <a:off x="1087874" y="4938951"/>
            <a:ext cx="3686413"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Student Profile Management</a:t>
            </a:r>
            <a:endParaRPr lang="en-US" sz="1950" dirty="0"/>
          </a:p>
        </p:txBody>
      </p:sp>
      <p:sp>
        <p:nvSpPr>
          <p:cNvPr id="16" name="Text 14"/>
          <p:cNvSpPr/>
          <p:nvPr/>
        </p:nvSpPr>
        <p:spPr>
          <a:xfrm>
            <a:off x="1087874" y="5369481"/>
            <a:ext cx="5905857" cy="318611"/>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Complete candidate information management.</a:t>
            </a:r>
            <a:endParaRPr lang="en-US" sz="1550" dirty="0"/>
          </a:p>
        </p:txBody>
      </p:sp>
      <p:sp>
        <p:nvSpPr>
          <p:cNvPr id="17" name="Shape 15"/>
          <p:cNvSpPr/>
          <p:nvPr/>
        </p:nvSpPr>
        <p:spPr>
          <a:xfrm>
            <a:off x="7414736" y="4717018"/>
            <a:ext cx="6441162" cy="1193006"/>
          </a:xfrm>
          <a:prstGeom prst="roundRect">
            <a:avLst>
              <a:gd name="adj" fmla="val 7012"/>
            </a:avLst>
          </a:prstGeom>
          <a:solidFill>
            <a:srgbClr val="FFFDFA"/>
          </a:solidFill>
          <a:ln w="22860">
            <a:solidFill>
              <a:srgbClr val="B88E23"/>
            </a:solidFill>
            <a:prstDash val="solid"/>
          </a:ln>
        </p:spPr>
      </p:sp>
      <p:sp>
        <p:nvSpPr>
          <p:cNvPr id="18" name="Shape 16"/>
          <p:cNvSpPr/>
          <p:nvPr/>
        </p:nvSpPr>
        <p:spPr>
          <a:xfrm>
            <a:off x="7414736" y="4717018"/>
            <a:ext cx="91440" cy="1193006"/>
          </a:xfrm>
          <a:prstGeom prst="roundRect">
            <a:avLst>
              <a:gd name="adj" fmla="val 91480"/>
            </a:avLst>
          </a:prstGeom>
          <a:solidFill>
            <a:srgbClr val="B88E23"/>
          </a:solidFill>
          <a:ln/>
        </p:spPr>
      </p:sp>
      <p:sp>
        <p:nvSpPr>
          <p:cNvPr id="19" name="Text 17"/>
          <p:cNvSpPr/>
          <p:nvPr/>
        </p:nvSpPr>
        <p:spPr>
          <a:xfrm>
            <a:off x="7728109" y="4938951"/>
            <a:ext cx="3451979"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Collaborative Review Tools</a:t>
            </a:r>
            <a:endParaRPr lang="en-US" sz="1950" dirty="0"/>
          </a:p>
        </p:txBody>
      </p:sp>
      <p:sp>
        <p:nvSpPr>
          <p:cNvPr id="20" name="Text 18"/>
          <p:cNvSpPr/>
          <p:nvPr/>
        </p:nvSpPr>
        <p:spPr>
          <a:xfrm>
            <a:off x="7728109" y="5369481"/>
            <a:ext cx="5905857" cy="318611"/>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Multiple teachers can review and approve applications.</a:t>
            </a:r>
            <a:endParaRPr lang="en-US" sz="1550" dirty="0"/>
          </a:p>
        </p:txBody>
      </p:sp>
      <p:sp>
        <p:nvSpPr>
          <p:cNvPr id="21" name="Shape 19"/>
          <p:cNvSpPr/>
          <p:nvPr/>
        </p:nvSpPr>
        <p:spPr>
          <a:xfrm>
            <a:off x="774502" y="6109097"/>
            <a:ext cx="6441162" cy="1511618"/>
          </a:xfrm>
          <a:prstGeom prst="roundRect">
            <a:avLst>
              <a:gd name="adj" fmla="val 5534"/>
            </a:avLst>
          </a:prstGeom>
          <a:solidFill>
            <a:srgbClr val="FFFDFA"/>
          </a:solidFill>
          <a:ln w="22860">
            <a:solidFill>
              <a:srgbClr val="B88E23"/>
            </a:solidFill>
            <a:prstDash val="solid"/>
          </a:ln>
        </p:spPr>
      </p:sp>
      <p:sp>
        <p:nvSpPr>
          <p:cNvPr id="22" name="Shape 20"/>
          <p:cNvSpPr/>
          <p:nvPr/>
        </p:nvSpPr>
        <p:spPr>
          <a:xfrm>
            <a:off x="774502" y="6109097"/>
            <a:ext cx="91440" cy="1511618"/>
          </a:xfrm>
          <a:prstGeom prst="roundRect">
            <a:avLst>
              <a:gd name="adj" fmla="val 91480"/>
            </a:avLst>
          </a:prstGeom>
          <a:solidFill>
            <a:srgbClr val="B88E23"/>
          </a:solidFill>
          <a:ln/>
        </p:spPr>
      </p:sp>
      <p:sp>
        <p:nvSpPr>
          <p:cNvPr id="23" name="Text 21"/>
          <p:cNvSpPr/>
          <p:nvPr/>
        </p:nvSpPr>
        <p:spPr>
          <a:xfrm>
            <a:off x="1087874" y="6331029"/>
            <a:ext cx="3298984"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Basic Statistics Dashboard</a:t>
            </a:r>
            <a:endParaRPr lang="en-US" sz="1950" dirty="0"/>
          </a:p>
        </p:txBody>
      </p:sp>
      <p:sp>
        <p:nvSpPr>
          <p:cNvPr id="24" name="Text 22"/>
          <p:cNvSpPr/>
          <p:nvPr/>
        </p:nvSpPr>
        <p:spPr>
          <a:xfrm>
            <a:off x="1087874" y="6761559"/>
            <a:ext cx="5905857" cy="637223"/>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View candidate counts by gender, program type, and application status.</a:t>
            </a:r>
            <a:endParaRPr lang="en-US" sz="1550" dirty="0"/>
          </a:p>
        </p:txBody>
      </p:sp>
      <p:sp>
        <p:nvSpPr>
          <p:cNvPr id="25" name="Shape 23"/>
          <p:cNvSpPr/>
          <p:nvPr/>
        </p:nvSpPr>
        <p:spPr>
          <a:xfrm>
            <a:off x="7414736" y="6109097"/>
            <a:ext cx="6441162" cy="1511618"/>
          </a:xfrm>
          <a:prstGeom prst="roundRect">
            <a:avLst>
              <a:gd name="adj" fmla="val 5534"/>
            </a:avLst>
          </a:prstGeom>
          <a:solidFill>
            <a:srgbClr val="FFFDFA"/>
          </a:solidFill>
          <a:ln w="22860">
            <a:solidFill>
              <a:srgbClr val="B88E23"/>
            </a:solidFill>
            <a:prstDash val="solid"/>
          </a:ln>
        </p:spPr>
      </p:sp>
      <p:sp>
        <p:nvSpPr>
          <p:cNvPr id="26" name="Shape 24"/>
          <p:cNvSpPr/>
          <p:nvPr/>
        </p:nvSpPr>
        <p:spPr>
          <a:xfrm>
            <a:off x="7414736" y="6109097"/>
            <a:ext cx="91440" cy="1511618"/>
          </a:xfrm>
          <a:prstGeom prst="roundRect">
            <a:avLst>
              <a:gd name="adj" fmla="val 91480"/>
            </a:avLst>
          </a:prstGeom>
          <a:solidFill>
            <a:srgbClr val="B88E23"/>
          </a:solidFill>
          <a:ln/>
        </p:spPr>
      </p:sp>
      <p:sp>
        <p:nvSpPr>
          <p:cNvPr id="27" name="Text 25"/>
          <p:cNvSpPr/>
          <p:nvPr/>
        </p:nvSpPr>
        <p:spPr>
          <a:xfrm>
            <a:off x="7728109" y="6331029"/>
            <a:ext cx="2489478"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Data Import Tools</a:t>
            </a:r>
            <a:endParaRPr lang="en-US" sz="1950" dirty="0"/>
          </a:p>
        </p:txBody>
      </p:sp>
      <p:sp>
        <p:nvSpPr>
          <p:cNvPr id="28" name="Text 26"/>
          <p:cNvSpPr/>
          <p:nvPr/>
        </p:nvSpPr>
        <p:spPr>
          <a:xfrm>
            <a:off x="7728109" y="6761559"/>
            <a:ext cx="5905857" cy="318611"/>
          </a:xfrm>
          <a:prstGeom prst="rect">
            <a:avLst/>
          </a:prstGeom>
          <a:noFill/>
          <a:ln/>
        </p:spPr>
        <p:txBody>
          <a:bodyPr wrap="non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Bulk import student records and historical data.</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33962"/>
            <a:ext cx="5245418" cy="432911"/>
          </a:xfrm>
          <a:prstGeom prst="rect">
            <a:avLst/>
          </a:prstGeom>
          <a:noFill/>
          <a:ln/>
        </p:spPr>
        <p:txBody>
          <a:bodyPr wrap="none" lIns="0" tIns="0" rIns="0" bIns="0" rtlCol="0" anchor="t"/>
          <a:lstStyle/>
          <a:p>
            <a:pPr marL="0" indent="0" algn="l">
              <a:lnSpc>
                <a:spcPts val="3300"/>
              </a:lnSpc>
              <a:buNone/>
            </a:pPr>
            <a:r>
              <a:rPr lang="en-US" sz="3200" dirty="0">
                <a:solidFill>
                  <a:srgbClr val="B88E23"/>
                </a:solidFill>
                <a:latin typeface="Libre Baskerville" pitchFamily="34" charset="0"/>
              </a:rPr>
              <a:t>🏫 School Management Portal</a:t>
            </a:r>
          </a:p>
        </p:txBody>
      </p:sp>
      <p:sp>
        <p:nvSpPr>
          <p:cNvPr id="3" name="Text 1"/>
          <p:cNvSpPr/>
          <p:nvPr/>
        </p:nvSpPr>
        <p:spPr>
          <a:xfrm>
            <a:off x="795890" y="2015409"/>
            <a:ext cx="4406741" cy="318849"/>
          </a:xfrm>
          <a:prstGeom prst="rect">
            <a:avLst/>
          </a:prstGeom>
          <a:noFill/>
          <a:ln/>
        </p:spPr>
        <p:txBody>
          <a:bodyPr wrap="none" lIns="0" tIns="0" rIns="0" bIns="0" rtlCol="0" anchor="t"/>
          <a:lstStyle/>
          <a:p>
            <a:pPr marL="0" indent="0" algn="l">
              <a:lnSpc>
                <a:spcPts val="2500"/>
              </a:lnSpc>
              <a:buNone/>
            </a:pPr>
            <a:r>
              <a:rPr lang="en-US" sz="1950" dirty="0">
                <a:solidFill>
                  <a:srgbClr val="5C4E3D"/>
                </a:solidFill>
                <a:latin typeface="Libre Baskerville" pitchFamily="34" charset="0"/>
              </a:rPr>
              <a:t>Transformational School Benefits</a:t>
            </a:r>
          </a:p>
        </p:txBody>
      </p:sp>
      <p:pic>
        <p:nvPicPr>
          <p:cNvPr id="4" name="Image 0" descr="preencoded.png"/>
          <p:cNvPicPr>
            <a:picLocks noChangeAspect="1"/>
          </p:cNvPicPr>
          <p:nvPr/>
        </p:nvPicPr>
        <p:blipFill>
          <a:blip r:embed="rId3"/>
          <a:stretch>
            <a:fillRect/>
          </a:stretch>
        </p:blipFill>
        <p:spPr>
          <a:xfrm>
            <a:off x="793790" y="2634376"/>
            <a:ext cx="850583" cy="1020723"/>
          </a:xfrm>
          <a:prstGeom prst="rect">
            <a:avLst/>
          </a:prstGeom>
        </p:spPr>
      </p:pic>
      <p:sp>
        <p:nvSpPr>
          <p:cNvPr id="5" name="Text 2"/>
          <p:cNvSpPr/>
          <p:nvPr/>
        </p:nvSpPr>
        <p:spPr>
          <a:xfrm>
            <a:off x="1814393" y="2804398"/>
            <a:ext cx="2566511"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One-Stop Management</a:t>
            </a:r>
            <a:endParaRPr lang="en-US" sz="1650" dirty="0"/>
          </a:p>
        </p:txBody>
      </p:sp>
      <p:sp>
        <p:nvSpPr>
          <p:cNvPr id="6" name="Text 3"/>
          <p:cNvSpPr/>
          <p:nvPr/>
        </p:nvSpPr>
        <p:spPr>
          <a:xfrm>
            <a:off x="1814393" y="3172182"/>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for all student applications with digital workflows.</a:t>
            </a:r>
            <a:endParaRPr lang="en-US" sz="1300" dirty="0"/>
          </a:p>
        </p:txBody>
      </p:sp>
      <p:pic>
        <p:nvPicPr>
          <p:cNvPr id="7" name="Image 1" descr="preencoded.png"/>
          <p:cNvPicPr>
            <a:picLocks noChangeAspect="1"/>
          </p:cNvPicPr>
          <p:nvPr/>
        </p:nvPicPr>
        <p:blipFill>
          <a:blip r:embed="rId4"/>
          <a:stretch>
            <a:fillRect/>
          </a:stretch>
        </p:blipFill>
        <p:spPr>
          <a:xfrm>
            <a:off x="793790" y="3655099"/>
            <a:ext cx="850583" cy="1020723"/>
          </a:xfrm>
          <a:prstGeom prst="rect">
            <a:avLst/>
          </a:prstGeom>
        </p:spPr>
      </p:pic>
      <p:sp>
        <p:nvSpPr>
          <p:cNvPr id="8" name="Text 4"/>
          <p:cNvSpPr/>
          <p:nvPr/>
        </p:nvSpPr>
        <p:spPr>
          <a:xfrm>
            <a:off x="1814393" y="3825120"/>
            <a:ext cx="3336488"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Efficient Application Handling</a:t>
            </a:r>
            <a:endParaRPr lang="en-US" sz="1650" dirty="0"/>
          </a:p>
        </p:txBody>
      </p:sp>
      <p:sp>
        <p:nvSpPr>
          <p:cNvPr id="9" name="Text 5"/>
          <p:cNvSpPr/>
          <p:nvPr/>
        </p:nvSpPr>
        <p:spPr>
          <a:xfrm>
            <a:off x="1814393" y="4192905"/>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with streamlined workflows reducing administrative burden.</a:t>
            </a:r>
            <a:endParaRPr lang="en-US" sz="1300" dirty="0"/>
          </a:p>
        </p:txBody>
      </p:sp>
      <p:pic>
        <p:nvPicPr>
          <p:cNvPr id="10" name="Image 2" descr="preencoded.png"/>
          <p:cNvPicPr>
            <a:picLocks noChangeAspect="1"/>
          </p:cNvPicPr>
          <p:nvPr/>
        </p:nvPicPr>
        <p:blipFill>
          <a:blip r:embed="rId5"/>
          <a:stretch>
            <a:fillRect/>
          </a:stretch>
        </p:blipFill>
        <p:spPr>
          <a:xfrm>
            <a:off x="793790" y="4675822"/>
            <a:ext cx="850583" cy="1020723"/>
          </a:xfrm>
          <a:prstGeom prst="rect">
            <a:avLst/>
          </a:prstGeom>
        </p:spPr>
      </p:pic>
      <p:sp>
        <p:nvSpPr>
          <p:cNvPr id="11" name="Text 6"/>
          <p:cNvSpPr/>
          <p:nvPr/>
        </p:nvSpPr>
        <p:spPr>
          <a:xfrm>
            <a:off x="1814393" y="4845843"/>
            <a:ext cx="2267664"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Catch Mistakes Early</a:t>
            </a:r>
            <a:endParaRPr lang="en-US" sz="1650" dirty="0"/>
          </a:p>
        </p:txBody>
      </p:sp>
      <p:sp>
        <p:nvSpPr>
          <p:cNvPr id="12" name="Text 7"/>
          <p:cNvSpPr/>
          <p:nvPr/>
        </p:nvSpPr>
        <p:spPr>
          <a:xfrm>
            <a:off x="1814393" y="5213627"/>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with built-in quality checks preventing delays.</a:t>
            </a:r>
            <a:endParaRPr lang="en-US" sz="1300" dirty="0"/>
          </a:p>
        </p:txBody>
      </p:sp>
      <p:pic>
        <p:nvPicPr>
          <p:cNvPr id="13" name="Image 3" descr="preencoded.png"/>
          <p:cNvPicPr>
            <a:picLocks noChangeAspect="1"/>
          </p:cNvPicPr>
          <p:nvPr/>
        </p:nvPicPr>
        <p:blipFill>
          <a:blip r:embed="rId6"/>
          <a:stretch>
            <a:fillRect/>
          </a:stretch>
        </p:blipFill>
        <p:spPr>
          <a:xfrm>
            <a:off x="793790" y="5696545"/>
            <a:ext cx="850583" cy="1020723"/>
          </a:xfrm>
          <a:prstGeom prst="rect">
            <a:avLst/>
          </a:prstGeom>
        </p:spPr>
      </p:pic>
      <p:sp>
        <p:nvSpPr>
          <p:cNvPr id="14" name="Text 8"/>
          <p:cNvSpPr/>
          <p:nvPr/>
        </p:nvSpPr>
        <p:spPr>
          <a:xfrm>
            <a:off x="1814393" y="5866566"/>
            <a:ext cx="2587585"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Track Everything Easily</a:t>
            </a:r>
            <a:endParaRPr lang="en-US" sz="1650" dirty="0"/>
          </a:p>
        </p:txBody>
      </p:sp>
      <p:sp>
        <p:nvSpPr>
          <p:cNvPr id="15" name="Text 9"/>
          <p:cNvSpPr/>
          <p:nvPr/>
        </p:nvSpPr>
        <p:spPr>
          <a:xfrm>
            <a:off x="1814393" y="6234350"/>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with visual progress indicators and real-time updates.</a:t>
            </a:r>
            <a:endParaRPr lang="en-US" sz="1300" dirty="0"/>
          </a:p>
        </p:txBody>
      </p:sp>
      <p:pic>
        <p:nvPicPr>
          <p:cNvPr id="16" name="Image 4" descr="preencoded.png"/>
          <p:cNvPicPr>
            <a:picLocks noChangeAspect="1"/>
          </p:cNvPicPr>
          <p:nvPr/>
        </p:nvPicPr>
        <p:blipFill>
          <a:blip r:embed="rId7"/>
          <a:stretch>
            <a:fillRect/>
          </a:stretch>
        </p:blipFill>
        <p:spPr>
          <a:xfrm>
            <a:off x="793790" y="6717268"/>
            <a:ext cx="850583" cy="1020723"/>
          </a:xfrm>
          <a:prstGeom prst="rect">
            <a:avLst/>
          </a:prstGeom>
        </p:spPr>
      </p:pic>
      <p:sp>
        <p:nvSpPr>
          <p:cNvPr id="17" name="Text 10"/>
          <p:cNvSpPr/>
          <p:nvPr/>
        </p:nvSpPr>
        <p:spPr>
          <a:xfrm>
            <a:off x="1814393" y="6887289"/>
            <a:ext cx="2730341"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Go Completely Paperless</a:t>
            </a:r>
            <a:endParaRPr lang="en-US" sz="1650" dirty="0"/>
          </a:p>
        </p:txBody>
      </p:sp>
      <p:sp>
        <p:nvSpPr>
          <p:cNvPr id="18" name="Text 11"/>
          <p:cNvSpPr/>
          <p:nvPr/>
        </p:nvSpPr>
        <p:spPr>
          <a:xfrm>
            <a:off x="1814393" y="7255073"/>
            <a:ext cx="12022217" cy="272177"/>
          </a:xfrm>
          <a:prstGeom prst="rect">
            <a:avLst/>
          </a:prstGeom>
          <a:noFill/>
          <a:ln/>
        </p:spPr>
        <p:txBody>
          <a:bodyPr wrap="none" lIns="0" tIns="0" rIns="0" bIns="0" rtlCol="0" anchor="t"/>
          <a:lstStyle/>
          <a:p>
            <a:pPr marL="0" indent="0" algn="l">
              <a:lnSpc>
                <a:spcPts val="2100"/>
              </a:lnSpc>
              <a:buNone/>
            </a:pPr>
            <a:r>
              <a:rPr lang="en-US" sz="1300" dirty="0">
                <a:solidFill>
                  <a:srgbClr val="454240"/>
                </a:solidFill>
                <a:latin typeface="DM Sans" pitchFamily="34" charset="0"/>
                <a:ea typeface="DM Sans" pitchFamily="34" charset="-122"/>
                <a:cs typeface="DM Sans" pitchFamily="34" charset="-120"/>
              </a:rPr>
              <a:t>enabling teachers to focus 80% more time on education.</a:t>
            </a:r>
            <a:endParaRPr lang="en-US" sz="1300" dirty="0"/>
          </a:p>
        </p:txBody>
      </p:sp>
      <p:sp>
        <p:nvSpPr>
          <p:cNvPr id="19" name="Text 0">
            <a:extLst>
              <a:ext uri="{FF2B5EF4-FFF2-40B4-BE49-F238E27FC236}">
                <a16:creationId xmlns:a16="http://schemas.microsoft.com/office/drawing/2014/main" id="{29C146FB-A50B-D908-4959-A75426E8A693}"/>
              </a:ext>
            </a:extLst>
          </p:cNvPr>
          <p:cNvSpPr/>
          <p:nvPr/>
        </p:nvSpPr>
        <p:spPr>
          <a:xfrm>
            <a:off x="793790" y="485180"/>
            <a:ext cx="6895028" cy="708779"/>
          </a:xfrm>
          <a:prstGeom prst="rect">
            <a:avLst/>
          </a:prstGeom>
          <a:noFill/>
          <a:ln/>
        </p:spPr>
        <p:txBody>
          <a:bodyPr wrap="none" lIns="0" tIns="0" rIns="0" bIns="0" rtlCol="0" anchor="t"/>
          <a:lstStyle/>
          <a:p>
            <a:pPr marL="0" indent="0" algn="l">
              <a:lnSpc>
                <a:spcPts val="55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pic>
        <p:nvPicPr>
          <p:cNvPr id="21" name="Picture 20">
            <a:extLst>
              <a:ext uri="{FF2B5EF4-FFF2-40B4-BE49-F238E27FC236}">
                <a16:creationId xmlns:a16="http://schemas.microsoft.com/office/drawing/2014/main" id="{0F3649E2-A3BA-BB49-11FD-EC4CC5CCAB17}"/>
              </a:ext>
            </a:extLst>
          </p:cNvPr>
          <p:cNvPicPr>
            <a:picLocks noChangeAspect="1"/>
          </p:cNvPicPr>
          <p:nvPr/>
        </p:nvPicPr>
        <p:blipFill>
          <a:blip r:embed="rId8"/>
          <a:stretch>
            <a:fillRect/>
          </a:stretch>
        </p:blipFill>
        <p:spPr>
          <a:xfrm>
            <a:off x="6485456" y="3308270"/>
            <a:ext cx="7485936" cy="34245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03663"/>
            <a:ext cx="4650462" cy="356711"/>
          </a:xfrm>
          <a:prstGeom prst="rect">
            <a:avLst/>
          </a:prstGeom>
          <a:noFill/>
          <a:ln/>
        </p:spPr>
        <p:txBody>
          <a:bodyPr wrap="none" lIns="0" tIns="0" rIns="0" bIns="0" rtlCol="0" anchor="t"/>
          <a:lstStyle/>
          <a:p>
            <a:pPr marL="0" indent="0" algn="l">
              <a:lnSpc>
                <a:spcPts val="2800"/>
              </a:lnSpc>
              <a:buNone/>
            </a:pPr>
            <a:r>
              <a:rPr lang="en-US" sz="3200" dirty="0">
                <a:solidFill>
                  <a:srgbClr val="B88E23"/>
                </a:solidFill>
                <a:latin typeface="Libre Baskerville" pitchFamily="34" charset="0"/>
              </a:rPr>
              <a:t>🏛️ Provincial Command Center</a:t>
            </a:r>
          </a:p>
        </p:txBody>
      </p:sp>
      <p:sp>
        <p:nvSpPr>
          <p:cNvPr id="3" name="Text 1"/>
          <p:cNvSpPr/>
          <p:nvPr/>
        </p:nvSpPr>
        <p:spPr>
          <a:xfrm>
            <a:off x="793790" y="2183904"/>
            <a:ext cx="3811191" cy="267533"/>
          </a:xfrm>
          <a:prstGeom prst="rect">
            <a:avLst/>
          </a:prstGeom>
          <a:noFill/>
          <a:ln/>
        </p:spPr>
        <p:txBody>
          <a:bodyPr wrap="none" lIns="0" tIns="0" rIns="0" bIns="0" rtlCol="0" anchor="t"/>
          <a:lstStyle/>
          <a:p>
            <a:pPr marL="0" indent="0" algn="l">
              <a:lnSpc>
                <a:spcPts val="2100"/>
              </a:lnSpc>
              <a:buNone/>
            </a:pPr>
            <a:r>
              <a:rPr lang="en-US" sz="1950" dirty="0">
                <a:solidFill>
                  <a:srgbClr val="5C4E3D"/>
                </a:solidFill>
                <a:latin typeface="Libre Baskerville" pitchFamily="34" charset="0"/>
              </a:rPr>
              <a:t>Strategic Management Capabilities</a:t>
            </a:r>
          </a:p>
        </p:txBody>
      </p:sp>
      <p:sp>
        <p:nvSpPr>
          <p:cNvPr id="5" name="Shape 2"/>
          <p:cNvSpPr/>
          <p:nvPr/>
        </p:nvSpPr>
        <p:spPr>
          <a:xfrm>
            <a:off x="7654766" y="2267957"/>
            <a:ext cx="6372939" cy="1108115"/>
          </a:xfrm>
          <a:prstGeom prst="roundRect">
            <a:avLst>
              <a:gd name="adj" fmla="val 6601"/>
            </a:avLst>
          </a:prstGeom>
          <a:solidFill>
            <a:srgbClr val="FFFDFA"/>
          </a:solidFill>
          <a:ln/>
        </p:spPr>
      </p:sp>
      <p:sp>
        <p:nvSpPr>
          <p:cNvPr id="6" name="Shape 3"/>
          <p:cNvSpPr/>
          <p:nvPr/>
        </p:nvSpPr>
        <p:spPr>
          <a:xfrm>
            <a:off x="7654766" y="2252717"/>
            <a:ext cx="6372939" cy="60960"/>
          </a:xfrm>
          <a:prstGeom prst="roundRect">
            <a:avLst>
              <a:gd name="adj" fmla="val 98305"/>
            </a:avLst>
          </a:prstGeom>
          <a:solidFill>
            <a:srgbClr val="B88E23"/>
          </a:solidFill>
          <a:ln/>
        </p:spPr>
      </p:sp>
      <p:sp>
        <p:nvSpPr>
          <p:cNvPr id="7" name="Shape 4"/>
          <p:cNvSpPr/>
          <p:nvPr/>
        </p:nvSpPr>
        <p:spPr>
          <a:xfrm>
            <a:off x="10627162" y="2061359"/>
            <a:ext cx="428030" cy="428030"/>
          </a:xfrm>
          <a:prstGeom prst="roundRect">
            <a:avLst>
              <a:gd name="adj" fmla="val 213630"/>
            </a:avLst>
          </a:prstGeom>
          <a:solidFill>
            <a:srgbClr val="B88E23"/>
          </a:solidFill>
          <a:ln/>
        </p:spPr>
      </p:sp>
      <p:sp>
        <p:nvSpPr>
          <p:cNvPr id="8" name="Text 5"/>
          <p:cNvSpPr/>
          <p:nvPr/>
        </p:nvSpPr>
        <p:spPr>
          <a:xfrm>
            <a:off x="10810697" y="2148081"/>
            <a:ext cx="171212" cy="213955"/>
          </a:xfrm>
          <a:prstGeom prst="rect">
            <a:avLst/>
          </a:prstGeom>
          <a:noFill/>
          <a:ln/>
        </p:spPr>
        <p:txBody>
          <a:bodyPr wrap="none" lIns="0" tIns="0" rIns="0" bIns="0" rtlCol="0" anchor="t"/>
          <a:lstStyle/>
          <a:p>
            <a:pPr marL="0" indent="0" algn="l">
              <a:lnSpc>
                <a:spcPts val="2150"/>
              </a:lnSpc>
              <a:buNone/>
            </a:pPr>
            <a:r>
              <a:rPr lang="en-US" sz="1300" dirty="0">
                <a:solidFill>
                  <a:srgbClr val="000000"/>
                </a:solidFill>
                <a:latin typeface="Libre Baskerville" pitchFamily="34" charset="0"/>
                <a:ea typeface="Libre Baskerville" pitchFamily="34" charset="-122"/>
                <a:cs typeface="Libre Baskerville" pitchFamily="34" charset="-120"/>
              </a:rPr>
              <a:t>1</a:t>
            </a:r>
            <a:endParaRPr lang="en-US" sz="1300" dirty="0"/>
          </a:p>
        </p:txBody>
      </p:sp>
      <p:sp>
        <p:nvSpPr>
          <p:cNvPr id="9" name="Text 6"/>
          <p:cNvSpPr/>
          <p:nvPr/>
        </p:nvSpPr>
        <p:spPr>
          <a:xfrm>
            <a:off x="7812643" y="2624550"/>
            <a:ext cx="2962989" cy="222885"/>
          </a:xfrm>
          <a:prstGeom prst="rect">
            <a:avLst/>
          </a:prstGeom>
          <a:noFill/>
          <a:ln/>
        </p:spPr>
        <p:txBody>
          <a:bodyPr wrap="none" lIns="0" tIns="0" rIns="0" bIns="0" rtlCol="0" anchor="t"/>
          <a:lstStyle/>
          <a:p>
            <a:pPr marL="0" indent="0" algn="l">
              <a:lnSpc>
                <a:spcPts val="1750"/>
              </a:lnSpc>
              <a:buNone/>
            </a:pPr>
            <a:r>
              <a:rPr lang="en-US" sz="1600" dirty="0">
                <a:solidFill>
                  <a:srgbClr val="454240"/>
                </a:solidFill>
                <a:latin typeface="Libre Baskerville" pitchFamily="34" charset="0"/>
                <a:ea typeface="Libre Baskerville" pitchFamily="34" charset="-122"/>
                <a:cs typeface="Libre Baskerville" pitchFamily="34" charset="-120"/>
              </a:rPr>
              <a:t>School Performance Monitoring</a:t>
            </a:r>
            <a:endParaRPr lang="en-US" sz="1600" dirty="0"/>
          </a:p>
        </p:txBody>
      </p:sp>
      <p:sp>
        <p:nvSpPr>
          <p:cNvPr id="10" name="Text 7"/>
          <p:cNvSpPr/>
          <p:nvPr/>
        </p:nvSpPr>
        <p:spPr>
          <a:xfrm>
            <a:off x="7812643" y="2990071"/>
            <a:ext cx="6057186" cy="228124"/>
          </a:xfrm>
          <a:prstGeom prst="rect">
            <a:avLst/>
          </a:prstGeom>
          <a:noFill/>
          <a:ln/>
        </p:spPr>
        <p:txBody>
          <a:bodyPr wrap="none" lIns="0" tIns="0" rIns="0" bIns="0" rtlCol="0" anchor="t"/>
          <a:lstStyle/>
          <a:p>
            <a:pPr marL="0" indent="0" algn="l">
              <a:lnSpc>
                <a:spcPts val="1750"/>
              </a:lnSpc>
              <a:buNone/>
            </a:pPr>
            <a:r>
              <a:rPr lang="en-US" sz="1200" dirty="0">
                <a:solidFill>
                  <a:srgbClr val="454240"/>
                </a:solidFill>
                <a:latin typeface="DM Sans" pitchFamily="34" charset="0"/>
                <a:ea typeface="DM Sans" pitchFamily="34" charset="-122"/>
                <a:cs typeface="DM Sans" pitchFamily="34" charset="-120"/>
              </a:rPr>
              <a:t>Analytics and reporting on all schools in the region.</a:t>
            </a:r>
            <a:endParaRPr lang="en-US" sz="1200" dirty="0"/>
          </a:p>
        </p:txBody>
      </p:sp>
      <p:sp>
        <p:nvSpPr>
          <p:cNvPr id="11" name="Shape 8"/>
          <p:cNvSpPr/>
          <p:nvPr/>
        </p:nvSpPr>
        <p:spPr>
          <a:xfrm>
            <a:off x="7654766" y="3732664"/>
            <a:ext cx="6372939" cy="1108115"/>
          </a:xfrm>
          <a:prstGeom prst="roundRect">
            <a:avLst>
              <a:gd name="adj" fmla="val 6601"/>
            </a:avLst>
          </a:prstGeom>
          <a:solidFill>
            <a:srgbClr val="FFFDFA"/>
          </a:solidFill>
          <a:ln/>
        </p:spPr>
      </p:sp>
      <p:sp>
        <p:nvSpPr>
          <p:cNvPr id="12" name="Shape 9"/>
          <p:cNvSpPr/>
          <p:nvPr/>
        </p:nvSpPr>
        <p:spPr>
          <a:xfrm>
            <a:off x="7654766" y="3717424"/>
            <a:ext cx="6372939" cy="60960"/>
          </a:xfrm>
          <a:prstGeom prst="roundRect">
            <a:avLst>
              <a:gd name="adj" fmla="val 98305"/>
            </a:avLst>
          </a:prstGeom>
          <a:solidFill>
            <a:srgbClr val="B88E23"/>
          </a:solidFill>
          <a:ln/>
        </p:spPr>
      </p:sp>
      <p:sp>
        <p:nvSpPr>
          <p:cNvPr id="13" name="Shape 10"/>
          <p:cNvSpPr/>
          <p:nvPr/>
        </p:nvSpPr>
        <p:spPr>
          <a:xfrm>
            <a:off x="10627221" y="3518709"/>
            <a:ext cx="428030" cy="428030"/>
          </a:xfrm>
          <a:prstGeom prst="roundRect">
            <a:avLst>
              <a:gd name="adj" fmla="val 213630"/>
            </a:avLst>
          </a:prstGeom>
          <a:solidFill>
            <a:srgbClr val="B88E23"/>
          </a:solidFill>
          <a:ln/>
        </p:spPr>
      </p:sp>
      <p:sp>
        <p:nvSpPr>
          <p:cNvPr id="14" name="Text 11"/>
          <p:cNvSpPr/>
          <p:nvPr/>
        </p:nvSpPr>
        <p:spPr>
          <a:xfrm>
            <a:off x="10785495" y="3590027"/>
            <a:ext cx="171212" cy="213955"/>
          </a:xfrm>
          <a:prstGeom prst="rect">
            <a:avLst/>
          </a:prstGeom>
          <a:noFill/>
          <a:ln/>
        </p:spPr>
        <p:txBody>
          <a:bodyPr wrap="none" lIns="0" tIns="0" rIns="0" bIns="0" rtlCol="0" anchor="t"/>
          <a:lstStyle/>
          <a:p>
            <a:pPr marL="0" indent="0" algn="l">
              <a:lnSpc>
                <a:spcPts val="2150"/>
              </a:lnSpc>
              <a:buNone/>
            </a:pPr>
            <a:r>
              <a:rPr lang="en-US" sz="1300" dirty="0">
                <a:solidFill>
                  <a:srgbClr val="000000"/>
                </a:solidFill>
                <a:latin typeface="Libre Baskerville" pitchFamily="34" charset="0"/>
                <a:ea typeface="Libre Baskerville" pitchFamily="34" charset="-122"/>
                <a:cs typeface="Libre Baskerville" pitchFamily="34" charset="-120"/>
              </a:rPr>
              <a:t>2</a:t>
            </a:r>
            <a:endParaRPr lang="en-US" sz="1300" dirty="0"/>
          </a:p>
        </p:txBody>
      </p:sp>
      <p:sp>
        <p:nvSpPr>
          <p:cNvPr id="15" name="Text 12"/>
          <p:cNvSpPr/>
          <p:nvPr/>
        </p:nvSpPr>
        <p:spPr>
          <a:xfrm>
            <a:off x="7812643" y="4089257"/>
            <a:ext cx="2383631" cy="222885"/>
          </a:xfrm>
          <a:prstGeom prst="rect">
            <a:avLst/>
          </a:prstGeom>
          <a:noFill/>
          <a:ln/>
        </p:spPr>
        <p:txBody>
          <a:bodyPr wrap="none" lIns="0" tIns="0" rIns="0" bIns="0" rtlCol="0" anchor="t"/>
          <a:lstStyle/>
          <a:p>
            <a:pPr marL="0" indent="0" algn="l">
              <a:lnSpc>
                <a:spcPts val="1750"/>
              </a:lnSpc>
              <a:buNone/>
            </a:pPr>
            <a:r>
              <a:rPr lang="en-US" sz="1600" dirty="0">
                <a:solidFill>
                  <a:srgbClr val="454240"/>
                </a:solidFill>
                <a:latin typeface="Libre Baskerville" pitchFamily="34" charset="0"/>
                <a:ea typeface="Libre Baskerville" pitchFamily="34" charset="-122"/>
                <a:cs typeface="Libre Baskerville" pitchFamily="34" charset="-120"/>
              </a:rPr>
              <a:t>User Management System</a:t>
            </a:r>
            <a:endParaRPr lang="en-US" sz="1600" dirty="0"/>
          </a:p>
        </p:txBody>
      </p:sp>
      <p:sp>
        <p:nvSpPr>
          <p:cNvPr id="16" name="Text 13"/>
          <p:cNvSpPr/>
          <p:nvPr/>
        </p:nvSpPr>
        <p:spPr>
          <a:xfrm>
            <a:off x="7812643" y="4454778"/>
            <a:ext cx="6057186" cy="228124"/>
          </a:xfrm>
          <a:prstGeom prst="rect">
            <a:avLst/>
          </a:prstGeom>
          <a:noFill/>
          <a:ln/>
        </p:spPr>
        <p:txBody>
          <a:bodyPr wrap="none" lIns="0" tIns="0" rIns="0" bIns="0" rtlCol="0" anchor="t"/>
          <a:lstStyle/>
          <a:p>
            <a:pPr marL="0" indent="0" algn="l">
              <a:lnSpc>
                <a:spcPts val="1750"/>
              </a:lnSpc>
              <a:buNone/>
            </a:pPr>
            <a:r>
              <a:rPr lang="en-US" sz="1200" dirty="0">
                <a:solidFill>
                  <a:srgbClr val="454240"/>
                </a:solidFill>
                <a:latin typeface="DM Sans" pitchFamily="34" charset="0"/>
                <a:ea typeface="DM Sans" pitchFamily="34" charset="-122"/>
                <a:cs typeface="DM Sans" pitchFamily="34" charset="-120"/>
              </a:rPr>
              <a:t>Create and manage hundreds of school accounts.</a:t>
            </a:r>
            <a:endParaRPr lang="en-US" sz="1200" dirty="0"/>
          </a:p>
        </p:txBody>
      </p:sp>
      <p:sp>
        <p:nvSpPr>
          <p:cNvPr id="17" name="Shape 14"/>
          <p:cNvSpPr/>
          <p:nvPr/>
        </p:nvSpPr>
        <p:spPr>
          <a:xfrm>
            <a:off x="7654766" y="5197371"/>
            <a:ext cx="6372939" cy="1108115"/>
          </a:xfrm>
          <a:prstGeom prst="roundRect">
            <a:avLst>
              <a:gd name="adj" fmla="val 6601"/>
            </a:avLst>
          </a:prstGeom>
          <a:solidFill>
            <a:srgbClr val="FFFDFA"/>
          </a:solidFill>
          <a:ln/>
        </p:spPr>
      </p:sp>
      <p:sp>
        <p:nvSpPr>
          <p:cNvPr id="18" name="Shape 15"/>
          <p:cNvSpPr/>
          <p:nvPr/>
        </p:nvSpPr>
        <p:spPr>
          <a:xfrm>
            <a:off x="7654766" y="5182131"/>
            <a:ext cx="6372939" cy="60960"/>
          </a:xfrm>
          <a:prstGeom prst="roundRect">
            <a:avLst>
              <a:gd name="adj" fmla="val 98305"/>
            </a:avLst>
          </a:prstGeom>
          <a:solidFill>
            <a:srgbClr val="B88E23"/>
          </a:solidFill>
          <a:ln/>
        </p:spPr>
      </p:sp>
      <p:sp>
        <p:nvSpPr>
          <p:cNvPr id="19" name="Shape 16"/>
          <p:cNvSpPr/>
          <p:nvPr/>
        </p:nvSpPr>
        <p:spPr>
          <a:xfrm>
            <a:off x="10627221" y="4983416"/>
            <a:ext cx="428030" cy="428030"/>
          </a:xfrm>
          <a:prstGeom prst="roundRect">
            <a:avLst>
              <a:gd name="adj" fmla="val 213630"/>
            </a:avLst>
          </a:prstGeom>
          <a:solidFill>
            <a:srgbClr val="B88E23"/>
          </a:solidFill>
          <a:ln/>
        </p:spPr>
      </p:sp>
      <p:sp>
        <p:nvSpPr>
          <p:cNvPr id="20" name="Text 17"/>
          <p:cNvSpPr/>
          <p:nvPr/>
        </p:nvSpPr>
        <p:spPr>
          <a:xfrm>
            <a:off x="10785495" y="5055622"/>
            <a:ext cx="171212" cy="213955"/>
          </a:xfrm>
          <a:prstGeom prst="rect">
            <a:avLst/>
          </a:prstGeom>
          <a:noFill/>
          <a:ln/>
        </p:spPr>
        <p:txBody>
          <a:bodyPr wrap="none" lIns="0" tIns="0" rIns="0" bIns="0" rtlCol="0" anchor="t"/>
          <a:lstStyle/>
          <a:p>
            <a:pPr marL="0" indent="0" algn="l">
              <a:lnSpc>
                <a:spcPts val="2150"/>
              </a:lnSpc>
              <a:buNone/>
            </a:pPr>
            <a:r>
              <a:rPr lang="en-US" sz="1300" dirty="0">
                <a:solidFill>
                  <a:srgbClr val="000000"/>
                </a:solidFill>
                <a:latin typeface="Libre Baskerville" pitchFamily="34" charset="0"/>
                <a:ea typeface="Libre Baskerville" pitchFamily="34" charset="-122"/>
                <a:cs typeface="Libre Baskerville" pitchFamily="34" charset="-120"/>
              </a:rPr>
              <a:t>3</a:t>
            </a:r>
            <a:endParaRPr lang="en-US" sz="1300" dirty="0"/>
          </a:p>
        </p:txBody>
      </p:sp>
      <p:sp>
        <p:nvSpPr>
          <p:cNvPr id="21" name="Text 18"/>
          <p:cNvSpPr/>
          <p:nvPr/>
        </p:nvSpPr>
        <p:spPr>
          <a:xfrm>
            <a:off x="7812643" y="5553963"/>
            <a:ext cx="2320528" cy="222885"/>
          </a:xfrm>
          <a:prstGeom prst="rect">
            <a:avLst/>
          </a:prstGeom>
          <a:noFill/>
          <a:ln/>
        </p:spPr>
        <p:txBody>
          <a:bodyPr wrap="none" lIns="0" tIns="0" rIns="0" bIns="0" rtlCol="0" anchor="t"/>
          <a:lstStyle/>
          <a:p>
            <a:pPr marL="0" indent="0" algn="l">
              <a:lnSpc>
                <a:spcPts val="1750"/>
              </a:lnSpc>
              <a:buNone/>
            </a:pPr>
            <a:r>
              <a:rPr lang="en-US" sz="1600" dirty="0">
                <a:solidFill>
                  <a:srgbClr val="454240"/>
                </a:solidFill>
                <a:latin typeface="Libre Baskerville" pitchFamily="34" charset="0"/>
                <a:ea typeface="Libre Baskerville" pitchFamily="34" charset="-122"/>
                <a:cs typeface="Libre Baskerville" pitchFamily="34" charset="-120"/>
              </a:rPr>
              <a:t>Regional Data Dashboard</a:t>
            </a:r>
            <a:endParaRPr lang="en-US" sz="1600" dirty="0"/>
          </a:p>
        </p:txBody>
      </p:sp>
      <p:sp>
        <p:nvSpPr>
          <p:cNvPr id="22" name="Text 19"/>
          <p:cNvSpPr/>
          <p:nvPr/>
        </p:nvSpPr>
        <p:spPr>
          <a:xfrm>
            <a:off x="7812643" y="5919485"/>
            <a:ext cx="6057186" cy="228124"/>
          </a:xfrm>
          <a:prstGeom prst="rect">
            <a:avLst/>
          </a:prstGeom>
          <a:noFill/>
          <a:ln/>
        </p:spPr>
        <p:txBody>
          <a:bodyPr wrap="none" lIns="0" tIns="0" rIns="0" bIns="0" rtlCol="0" anchor="t"/>
          <a:lstStyle/>
          <a:p>
            <a:pPr marL="0" indent="0" algn="l">
              <a:lnSpc>
                <a:spcPts val="1750"/>
              </a:lnSpc>
              <a:buNone/>
            </a:pPr>
            <a:r>
              <a:rPr lang="en-US" sz="1200" dirty="0">
                <a:solidFill>
                  <a:srgbClr val="454240"/>
                </a:solidFill>
                <a:latin typeface="DM Sans" pitchFamily="34" charset="0"/>
                <a:ea typeface="DM Sans" pitchFamily="34" charset="-122"/>
                <a:cs typeface="DM Sans" pitchFamily="34" charset="-120"/>
              </a:rPr>
              <a:t>Overview of educational statistics and regional metrics.</a:t>
            </a:r>
            <a:endParaRPr lang="en-US" sz="1200" dirty="0"/>
          </a:p>
        </p:txBody>
      </p:sp>
      <p:sp>
        <p:nvSpPr>
          <p:cNvPr id="23" name="Shape 20"/>
          <p:cNvSpPr/>
          <p:nvPr/>
        </p:nvSpPr>
        <p:spPr>
          <a:xfrm>
            <a:off x="7654766" y="6662078"/>
            <a:ext cx="6372939" cy="1108115"/>
          </a:xfrm>
          <a:prstGeom prst="roundRect">
            <a:avLst>
              <a:gd name="adj" fmla="val 6601"/>
            </a:avLst>
          </a:prstGeom>
          <a:solidFill>
            <a:srgbClr val="FFFDFA"/>
          </a:solidFill>
          <a:ln/>
        </p:spPr>
      </p:sp>
      <p:sp>
        <p:nvSpPr>
          <p:cNvPr id="24" name="Shape 21"/>
          <p:cNvSpPr/>
          <p:nvPr/>
        </p:nvSpPr>
        <p:spPr>
          <a:xfrm>
            <a:off x="7654766" y="6646838"/>
            <a:ext cx="6372939" cy="60960"/>
          </a:xfrm>
          <a:prstGeom prst="roundRect">
            <a:avLst>
              <a:gd name="adj" fmla="val 98305"/>
            </a:avLst>
          </a:prstGeom>
          <a:solidFill>
            <a:srgbClr val="B88E23"/>
          </a:solidFill>
          <a:ln/>
        </p:spPr>
      </p:sp>
      <p:sp>
        <p:nvSpPr>
          <p:cNvPr id="25" name="Shape 22"/>
          <p:cNvSpPr/>
          <p:nvPr/>
        </p:nvSpPr>
        <p:spPr>
          <a:xfrm>
            <a:off x="10627221" y="6448123"/>
            <a:ext cx="428030" cy="428030"/>
          </a:xfrm>
          <a:prstGeom prst="roundRect">
            <a:avLst>
              <a:gd name="adj" fmla="val 213630"/>
            </a:avLst>
          </a:prstGeom>
          <a:solidFill>
            <a:srgbClr val="B88E23"/>
          </a:solidFill>
          <a:ln/>
        </p:spPr>
      </p:sp>
      <p:sp>
        <p:nvSpPr>
          <p:cNvPr id="26" name="Text 23"/>
          <p:cNvSpPr/>
          <p:nvPr/>
        </p:nvSpPr>
        <p:spPr>
          <a:xfrm>
            <a:off x="10785495" y="6493843"/>
            <a:ext cx="171212" cy="213955"/>
          </a:xfrm>
          <a:prstGeom prst="rect">
            <a:avLst/>
          </a:prstGeom>
          <a:noFill/>
          <a:ln/>
        </p:spPr>
        <p:txBody>
          <a:bodyPr wrap="none" lIns="0" tIns="0" rIns="0" bIns="0" rtlCol="0" anchor="t"/>
          <a:lstStyle/>
          <a:p>
            <a:pPr marL="0" indent="0" algn="l">
              <a:lnSpc>
                <a:spcPts val="2150"/>
              </a:lnSpc>
              <a:buNone/>
            </a:pPr>
            <a:r>
              <a:rPr lang="en-US" sz="1300" dirty="0">
                <a:solidFill>
                  <a:srgbClr val="000000"/>
                </a:solidFill>
                <a:latin typeface="Libre Baskerville" pitchFamily="34" charset="0"/>
                <a:ea typeface="Libre Baskerville" pitchFamily="34" charset="-122"/>
                <a:cs typeface="Libre Baskerville" pitchFamily="34" charset="-120"/>
              </a:rPr>
              <a:t>4</a:t>
            </a:r>
            <a:endParaRPr lang="en-US" sz="1300" dirty="0"/>
          </a:p>
        </p:txBody>
      </p:sp>
      <p:sp>
        <p:nvSpPr>
          <p:cNvPr id="27" name="Text 24"/>
          <p:cNvSpPr/>
          <p:nvPr/>
        </p:nvSpPr>
        <p:spPr>
          <a:xfrm>
            <a:off x="7812643" y="7018670"/>
            <a:ext cx="2120384" cy="222885"/>
          </a:xfrm>
          <a:prstGeom prst="rect">
            <a:avLst/>
          </a:prstGeom>
          <a:noFill/>
          <a:ln/>
        </p:spPr>
        <p:txBody>
          <a:bodyPr wrap="none" lIns="0" tIns="0" rIns="0" bIns="0" rtlCol="0" anchor="t"/>
          <a:lstStyle/>
          <a:p>
            <a:pPr marL="0" indent="0" algn="l">
              <a:lnSpc>
                <a:spcPts val="1750"/>
              </a:lnSpc>
              <a:buNone/>
            </a:pPr>
            <a:r>
              <a:rPr lang="en-US" sz="1600" dirty="0">
                <a:solidFill>
                  <a:srgbClr val="454240"/>
                </a:solidFill>
                <a:latin typeface="Libre Baskerville" pitchFamily="34" charset="0"/>
                <a:ea typeface="Libre Baskerville" pitchFamily="34" charset="-122"/>
                <a:cs typeface="Libre Baskerville" pitchFamily="34" charset="-120"/>
              </a:rPr>
              <a:t>Collaboration Platform</a:t>
            </a:r>
            <a:endParaRPr lang="en-US" sz="1600" dirty="0"/>
          </a:p>
        </p:txBody>
      </p:sp>
      <p:sp>
        <p:nvSpPr>
          <p:cNvPr id="28" name="Text 25"/>
          <p:cNvSpPr/>
          <p:nvPr/>
        </p:nvSpPr>
        <p:spPr>
          <a:xfrm>
            <a:off x="7812643" y="7384192"/>
            <a:ext cx="6057186" cy="228124"/>
          </a:xfrm>
          <a:prstGeom prst="rect">
            <a:avLst/>
          </a:prstGeom>
          <a:noFill/>
          <a:ln/>
        </p:spPr>
        <p:txBody>
          <a:bodyPr wrap="none" lIns="0" tIns="0" rIns="0" bIns="0" rtlCol="0" anchor="t"/>
          <a:lstStyle/>
          <a:p>
            <a:pPr marL="0" indent="0" algn="l">
              <a:lnSpc>
                <a:spcPts val="1750"/>
              </a:lnSpc>
              <a:buNone/>
            </a:pPr>
            <a:r>
              <a:rPr lang="en-US" sz="1200" dirty="0">
                <a:solidFill>
                  <a:srgbClr val="454240"/>
                </a:solidFill>
                <a:latin typeface="DM Sans" pitchFamily="34" charset="0"/>
                <a:ea typeface="DM Sans" pitchFamily="34" charset="-122"/>
                <a:cs typeface="DM Sans" pitchFamily="34" charset="-120"/>
              </a:rPr>
              <a:t>Connect schools and share best practices.</a:t>
            </a:r>
            <a:endParaRPr lang="en-US" sz="1200" dirty="0"/>
          </a:p>
        </p:txBody>
      </p:sp>
      <p:sp>
        <p:nvSpPr>
          <p:cNvPr id="29" name="Text 0">
            <a:extLst>
              <a:ext uri="{FF2B5EF4-FFF2-40B4-BE49-F238E27FC236}">
                <a16:creationId xmlns:a16="http://schemas.microsoft.com/office/drawing/2014/main" id="{B3146E68-0FF6-3A4D-469F-54453D155123}"/>
              </a:ext>
            </a:extLst>
          </p:cNvPr>
          <p:cNvSpPr/>
          <p:nvPr/>
        </p:nvSpPr>
        <p:spPr>
          <a:xfrm>
            <a:off x="793790" y="485180"/>
            <a:ext cx="6895028" cy="708779"/>
          </a:xfrm>
          <a:prstGeom prst="rect">
            <a:avLst/>
          </a:prstGeom>
          <a:noFill/>
          <a:ln/>
        </p:spPr>
        <p:txBody>
          <a:bodyPr wrap="none" lIns="0" tIns="0" rIns="0" bIns="0" rtlCol="0" anchor="t"/>
          <a:lstStyle/>
          <a:p>
            <a:pPr marL="0" indent="0" algn="l">
              <a:lnSpc>
                <a:spcPts val="55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pic>
        <p:nvPicPr>
          <p:cNvPr id="31" name="Picture 30">
            <a:extLst>
              <a:ext uri="{FF2B5EF4-FFF2-40B4-BE49-F238E27FC236}">
                <a16:creationId xmlns:a16="http://schemas.microsoft.com/office/drawing/2014/main" id="{7D795072-7493-1847-11E7-F6516A38833F}"/>
              </a:ext>
            </a:extLst>
          </p:cNvPr>
          <p:cNvPicPr>
            <a:picLocks noChangeAspect="1"/>
          </p:cNvPicPr>
          <p:nvPr/>
        </p:nvPicPr>
        <p:blipFill>
          <a:blip r:embed="rId3"/>
          <a:stretch>
            <a:fillRect/>
          </a:stretch>
        </p:blipFill>
        <p:spPr>
          <a:xfrm>
            <a:off x="793790" y="3717424"/>
            <a:ext cx="6334355" cy="29004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1F136-BEBA-7A8F-1534-53441025E2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57333F-06C1-4CCF-05FB-DF74A4D1B2EE}"/>
              </a:ext>
            </a:extLst>
          </p:cNvPr>
          <p:cNvSpPr/>
          <p:nvPr/>
        </p:nvSpPr>
        <p:spPr>
          <a:xfrm>
            <a:off x="774502" y="608886"/>
            <a:ext cx="6606302" cy="622340"/>
          </a:xfrm>
          <a:prstGeom prst="rect">
            <a:avLst/>
          </a:prstGeom>
          <a:noFill/>
          <a:ln/>
        </p:spPr>
        <p:txBody>
          <a:bodyPr wrap="none" lIns="0" tIns="0" rIns="0" bIns="0" rtlCol="0" anchor="t"/>
          <a:lstStyle/>
          <a:p>
            <a:pPr marL="0" indent="0" algn="l">
              <a:lnSpc>
                <a:spcPts val="4900"/>
              </a:lnSpc>
              <a:buNone/>
            </a:pPr>
            <a:r>
              <a:rPr lang="en-US" sz="2200" dirty="0">
                <a:solidFill>
                  <a:srgbClr val="5C4E3D"/>
                </a:solidFill>
                <a:latin typeface="Libre Baskerville" pitchFamily="34" charset="0"/>
              </a:rPr>
              <a:t>5. Key Features &amp; Benefits</a:t>
            </a:r>
          </a:p>
        </p:txBody>
      </p:sp>
      <p:sp>
        <p:nvSpPr>
          <p:cNvPr id="3" name="Text 1">
            <a:extLst>
              <a:ext uri="{FF2B5EF4-FFF2-40B4-BE49-F238E27FC236}">
                <a16:creationId xmlns:a16="http://schemas.microsoft.com/office/drawing/2014/main" id="{E7E67035-870F-C6DC-363E-A57FC7E00D92}"/>
              </a:ext>
            </a:extLst>
          </p:cNvPr>
          <p:cNvSpPr/>
          <p:nvPr/>
        </p:nvSpPr>
        <p:spPr>
          <a:xfrm>
            <a:off x="774502" y="1529953"/>
            <a:ext cx="9875569" cy="505539"/>
          </a:xfrm>
          <a:prstGeom prst="rect">
            <a:avLst/>
          </a:prstGeom>
          <a:noFill/>
          <a:ln/>
        </p:spPr>
        <p:txBody>
          <a:bodyPr wrap="none" lIns="0" tIns="0" rIns="0" bIns="0" rtlCol="0" anchor="t"/>
          <a:lstStyle/>
          <a:p>
            <a:pPr marL="0" indent="0" algn="l">
              <a:lnSpc>
                <a:spcPts val="3900"/>
              </a:lnSpc>
              <a:buNone/>
            </a:pPr>
            <a:r>
              <a:rPr lang="en-US" sz="3200" dirty="0">
                <a:solidFill>
                  <a:srgbClr val="B88E23"/>
                </a:solidFill>
                <a:latin typeface="Libre Baskerville" pitchFamily="34" charset="0"/>
              </a:rPr>
              <a:t>📊 Ministry Leadership Dashboard</a:t>
            </a:r>
          </a:p>
        </p:txBody>
      </p:sp>
      <p:sp>
        <p:nvSpPr>
          <p:cNvPr id="4" name="Text 2">
            <a:extLst>
              <a:ext uri="{FF2B5EF4-FFF2-40B4-BE49-F238E27FC236}">
                <a16:creationId xmlns:a16="http://schemas.microsoft.com/office/drawing/2014/main" id="{60178CF6-11A5-A11C-57C3-FC8705CCC541}"/>
              </a:ext>
            </a:extLst>
          </p:cNvPr>
          <p:cNvSpPr/>
          <p:nvPr/>
        </p:nvSpPr>
        <p:spPr>
          <a:xfrm>
            <a:off x="774502" y="2334220"/>
            <a:ext cx="6256139" cy="373380"/>
          </a:xfrm>
          <a:prstGeom prst="rect">
            <a:avLst/>
          </a:prstGeom>
          <a:noFill/>
          <a:ln/>
        </p:spPr>
        <p:txBody>
          <a:bodyPr wrap="none" lIns="0" tIns="0" rIns="0" bIns="0" rtlCol="0" anchor="t"/>
          <a:lstStyle/>
          <a:p>
            <a:pPr marL="0" indent="0" algn="l">
              <a:lnSpc>
                <a:spcPts val="2900"/>
              </a:lnSpc>
              <a:buNone/>
            </a:pPr>
            <a:r>
              <a:rPr lang="en-US" sz="2350" dirty="0">
                <a:solidFill>
                  <a:srgbClr val="5C4E3D"/>
                </a:solidFill>
                <a:latin typeface="Libre Baskerville" pitchFamily="34" charset="0"/>
                <a:ea typeface="Libre Baskerville" pitchFamily="34" charset="-122"/>
                <a:cs typeface="Libre Baskerville" pitchFamily="34" charset="-120"/>
              </a:rPr>
              <a:t>National Command Features</a:t>
            </a:r>
          </a:p>
        </p:txBody>
      </p:sp>
      <p:sp>
        <p:nvSpPr>
          <p:cNvPr id="13" name="Shape 11">
            <a:extLst>
              <a:ext uri="{FF2B5EF4-FFF2-40B4-BE49-F238E27FC236}">
                <a16:creationId xmlns:a16="http://schemas.microsoft.com/office/drawing/2014/main" id="{3E8338EB-B754-28CE-6B81-E9CE1FD46453}"/>
              </a:ext>
            </a:extLst>
          </p:cNvPr>
          <p:cNvSpPr/>
          <p:nvPr/>
        </p:nvSpPr>
        <p:spPr>
          <a:xfrm>
            <a:off x="774502" y="4717018"/>
            <a:ext cx="6441162" cy="1193006"/>
          </a:xfrm>
          <a:prstGeom prst="roundRect">
            <a:avLst>
              <a:gd name="adj" fmla="val 7012"/>
            </a:avLst>
          </a:prstGeom>
          <a:solidFill>
            <a:srgbClr val="FFFDFA"/>
          </a:solidFill>
          <a:ln w="22860">
            <a:solidFill>
              <a:srgbClr val="B88E23"/>
            </a:solidFill>
            <a:prstDash val="solid"/>
          </a:ln>
        </p:spPr>
      </p:sp>
      <p:sp>
        <p:nvSpPr>
          <p:cNvPr id="14" name="Shape 12">
            <a:extLst>
              <a:ext uri="{FF2B5EF4-FFF2-40B4-BE49-F238E27FC236}">
                <a16:creationId xmlns:a16="http://schemas.microsoft.com/office/drawing/2014/main" id="{2C6B5F72-4E27-28A6-F03F-3027903CF600}"/>
              </a:ext>
            </a:extLst>
          </p:cNvPr>
          <p:cNvSpPr/>
          <p:nvPr/>
        </p:nvSpPr>
        <p:spPr>
          <a:xfrm>
            <a:off x="774502" y="4717018"/>
            <a:ext cx="91440" cy="1193006"/>
          </a:xfrm>
          <a:prstGeom prst="roundRect">
            <a:avLst>
              <a:gd name="adj" fmla="val 91480"/>
            </a:avLst>
          </a:prstGeom>
          <a:solidFill>
            <a:srgbClr val="B88E23"/>
          </a:solidFill>
          <a:ln/>
        </p:spPr>
      </p:sp>
      <p:sp>
        <p:nvSpPr>
          <p:cNvPr id="15" name="Text 13">
            <a:extLst>
              <a:ext uri="{FF2B5EF4-FFF2-40B4-BE49-F238E27FC236}">
                <a16:creationId xmlns:a16="http://schemas.microsoft.com/office/drawing/2014/main" id="{56B26090-1310-01E5-4A44-477ED2332EBB}"/>
              </a:ext>
            </a:extLst>
          </p:cNvPr>
          <p:cNvSpPr/>
          <p:nvPr/>
        </p:nvSpPr>
        <p:spPr>
          <a:xfrm>
            <a:off x="1087874" y="4938951"/>
            <a:ext cx="3686413"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University &amp; Program Configuration</a:t>
            </a:r>
          </a:p>
        </p:txBody>
      </p:sp>
      <p:sp>
        <p:nvSpPr>
          <p:cNvPr id="16" name="Text 14">
            <a:extLst>
              <a:ext uri="{FF2B5EF4-FFF2-40B4-BE49-F238E27FC236}">
                <a16:creationId xmlns:a16="http://schemas.microsoft.com/office/drawing/2014/main" id="{6176EA7C-6FBB-5CD2-24C8-765CB5F495E5}"/>
              </a:ext>
            </a:extLst>
          </p:cNvPr>
          <p:cNvSpPr/>
          <p:nvPr/>
        </p:nvSpPr>
        <p:spPr>
          <a:xfrm>
            <a:off x="1087874" y="5369481"/>
            <a:ext cx="5905857" cy="318611"/>
          </a:xfrm>
          <a:prstGeom prst="rect">
            <a:avLst/>
          </a:prstGeom>
          <a:noFill/>
          <a:ln/>
        </p:spPr>
        <p:txBody>
          <a:bodyPr wrap="none" lIns="0" tIns="0" rIns="0" bIns="0" rtlCol="0" anchor="t"/>
          <a:lstStyle/>
          <a:p>
            <a:pPr marL="0" indent="0" algn="l">
              <a:lnSpc>
                <a:spcPts val="2500"/>
              </a:lnSpc>
              <a:buNone/>
            </a:pPr>
            <a:r>
              <a:rPr lang="en-US" sz="1600" dirty="0">
                <a:solidFill>
                  <a:srgbClr val="454240"/>
                </a:solidFill>
                <a:latin typeface="DM Sans" pitchFamily="34" charset="0"/>
                <a:ea typeface="DM Sans" pitchFamily="34" charset="-122"/>
                <a:cs typeface="DM Sans" pitchFamily="34" charset="-120"/>
              </a:rPr>
              <a:t>Manage multiple institutions and specialties.</a:t>
            </a:r>
          </a:p>
        </p:txBody>
      </p:sp>
      <p:sp>
        <p:nvSpPr>
          <p:cNvPr id="21" name="Shape 19">
            <a:extLst>
              <a:ext uri="{FF2B5EF4-FFF2-40B4-BE49-F238E27FC236}">
                <a16:creationId xmlns:a16="http://schemas.microsoft.com/office/drawing/2014/main" id="{3DF5D836-CCBF-483D-51C9-F5F7092BF807}"/>
              </a:ext>
            </a:extLst>
          </p:cNvPr>
          <p:cNvSpPr/>
          <p:nvPr/>
        </p:nvSpPr>
        <p:spPr>
          <a:xfrm>
            <a:off x="774502" y="6109097"/>
            <a:ext cx="6441162" cy="1511618"/>
          </a:xfrm>
          <a:prstGeom prst="roundRect">
            <a:avLst>
              <a:gd name="adj" fmla="val 5534"/>
            </a:avLst>
          </a:prstGeom>
          <a:solidFill>
            <a:srgbClr val="FFFDFA"/>
          </a:solidFill>
          <a:ln w="22860">
            <a:solidFill>
              <a:srgbClr val="B88E23"/>
            </a:solidFill>
            <a:prstDash val="solid"/>
          </a:ln>
        </p:spPr>
      </p:sp>
      <p:sp>
        <p:nvSpPr>
          <p:cNvPr id="22" name="Shape 20">
            <a:extLst>
              <a:ext uri="{FF2B5EF4-FFF2-40B4-BE49-F238E27FC236}">
                <a16:creationId xmlns:a16="http://schemas.microsoft.com/office/drawing/2014/main" id="{F7492BFC-9AF5-7E40-47C3-A2C4AAD692E1}"/>
              </a:ext>
            </a:extLst>
          </p:cNvPr>
          <p:cNvSpPr/>
          <p:nvPr/>
        </p:nvSpPr>
        <p:spPr>
          <a:xfrm>
            <a:off x="774502" y="6109097"/>
            <a:ext cx="91440" cy="1511618"/>
          </a:xfrm>
          <a:prstGeom prst="roundRect">
            <a:avLst>
              <a:gd name="adj" fmla="val 91480"/>
            </a:avLst>
          </a:prstGeom>
          <a:solidFill>
            <a:srgbClr val="B88E23"/>
          </a:solidFill>
          <a:ln/>
        </p:spPr>
      </p:sp>
      <p:sp>
        <p:nvSpPr>
          <p:cNvPr id="23" name="Text 21">
            <a:extLst>
              <a:ext uri="{FF2B5EF4-FFF2-40B4-BE49-F238E27FC236}">
                <a16:creationId xmlns:a16="http://schemas.microsoft.com/office/drawing/2014/main" id="{3A32CD06-B41F-684D-20D1-0DAA9CEA5349}"/>
              </a:ext>
            </a:extLst>
          </p:cNvPr>
          <p:cNvSpPr/>
          <p:nvPr/>
        </p:nvSpPr>
        <p:spPr>
          <a:xfrm>
            <a:off x="1087874" y="6331029"/>
            <a:ext cx="3298984"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System Configuration</a:t>
            </a:r>
          </a:p>
        </p:txBody>
      </p:sp>
      <p:sp>
        <p:nvSpPr>
          <p:cNvPr id="24" name="Text 22">
            <a:extLst>
              <a:ext uri="{FF2B5EF4-FFF2-40B4-BE49-F238E27FC236}">
                <a16:creationId xmlns:a16="http://schemas.microsoft.com/office/drawing/2014/main" id="{0336A5EC-748C-4A2A-3662-9AAC05BD79DC}"/>
              </a:ext>
            </a:extLst>
          </p:cNvPr>
          <p:cNvSpPr/>
          <p:nvPr/>
        </p:nvSpPr>
        <p:spPr>
          <a:xfrm>
            <a:off x="1087874" y="6761559"/>
            <a:ext cx="5905857" cy="637223"/>
          </a:xfrm>
          <a:prstGeom prst="rect">
            <a:avLst/>
          </a:prstGeom>
          <a:noFill/>
          <a:ln/>
        </p:spPr>
        <p:txBody>
          <a:bodyPr wrap="square" lIns="0" tIns="0" rIns="0" bIns="0" rtlCol="0" anchor="t"/>
          <a:lstStyle/>
          <a:p>
            <a:pPr marL="0" indent="0" algn="l">
              <a:lnSpc>
                <a:spcPts val="2500"/>
              </a:lnSpc>
              <a:buNone/>
            </a:pPr>
            <a:r>
              <a:rPr lang="en-US" sz="1600" dirty="0">
                <a:solidFill>
                  <a:srgbClr val="454240"/>
                </a:solidFill>
                <a:latin typeface="DM Sans" pitchFamily="34" charset="0"/>
                <a:ea typeface="DM Sans" pitchFamily="34" charset="-122"/>
                <a:cs typeface="DM Sans" pitchFamily="34" charset="-120"/>
              </a:rPr>
              <a:t>Manage national scholarship settings and parameters.</a:t>
            </a:r>
          </a:p>
        </p:txBody>
      </p:sp>
      <p:sp>
        <p:nvSpPr>
          <p:cNvPr id="29" name="Shape 15">
            <a:extLst>
              <a:ext uri="{FF2B5EF4-FFF2-40B4-BE49-F238E27FC236}">
                <a16:creationId xmlns:a16="http://schemas.microsoft.com/office/drawing/2014/main" id="{56C1A87A-F7EB-15AB-54EF-CC2594B31AC1}"/>
              </a:ext>
            </a:extLst>
          </p:cNvPr>
          <p:cNvSpPr/>
          <p:nvPr/>
        </p:nvSpPr>
        <p:spPr>
          <a:xfrm>
            <a:off x="774502" y="3006327"/>
            <a:ext cx="6441162" cy="1488757"/>
          </a:xfrm>
          <a:prstGeom prst="roundRect">
            <a:avLst>
              <a:gd name="adj" fmla="val 7012"/>
            </a:avLst>
          </a:prstGeom>
          <a:solidFill>
            <a:srgbClr val="FFFDFA"/>
          </a:solidFill>
          <a:ln w="22860">
            <a:solidFill>
              <a:srgbClr val="B88E23"/>
            </a:solidFill>
            <a:prstDash val="solid"/>
          </a:ln>
        </p:spPr>
      </p:sp>
      <p:sp>
        <p:nvSpPr>
          <p:cNvPr id="30" name="Shape 16">
            <a:extLst>
              <a:ext uri="{FF2B5EF4-FFF2-40B4-BE49-F238E27FC236}">
                <a16:creationId xmlns:a16="http://schemas.microsoft.com/office/drawing/2014/main" id="{F502B205-1D19-4446-EDD4-82BE181C150E}"/>
              </a:ext>
            </a:extLst>
          </p:cNvPr>
          <p:cNvSpPr/>
          <p:nvPr/>
        </p:nvSpPr>
        <p:spPr>
          <a:xfrm>
            <a:off x="774502" y="3006327"/>
            <a:ext cx="91440" cy="1488757"/>
          </a:xfrm>
          <a:prstGeom prst="roundRect">
            <a:avLst>
              <a:gd name="adj" fmla="val 91480"/>
            </a:avLst>
          </a:prstGeom>
          <a:solidFill>
            <a:srgbClr val="B88E23"/>
          </a:solidFill>
          <a:ln/>
        </p:spPr>
      </p:sp>
      <p:sp>
        <p:nvSpPr>
          <p:cNvPr id="31" name="Text 17">
            <a:extLst>
              <a:ext uri="{FF2B5EF4-FFF2-40B4-BE49-F238E27FC236}">
                <a16:creationId xmlns:a16="http://schemas.microsoft.com/office/drawing/2014/main" id="{60A572E4-7AE7-D39A-D0D0-51D276DCEAF9}"/>
              </a:ext>
            </a:extLst>
          </p:cNvPr>
          <p:cNvSpPr/>
          <p:nvPr/>
        </p:nvSpPr>
        <p:spPr>
          <a:xfrm>
            <a:off x="1087875" y="3228260"/>
            <a:ext cx="3451979" cy="388235"/>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Data Import System</a:t>
            </a:r>
          </a:p>
        </p:txBody>
      </p:sp>
      <p:sp>
        <p:nvSpPr>
          <p:cNvPr id="32" name="Text 18">
            <a:extLst>
              <a:ext uri="{FF2B5EF4-FFF2-40B4-BE49-F238E27FC236}">
                <a16:creationId xmlns:a16="http://schemas.microsoft.com/office/drawing/2014/main" id="{67611184-EDB3-1C43-66B5-690DED4FF686}"/>
              </a:ext>
            </a:extLst>
          </p:cNvPr>
          <p:cNvSpPr/>
          <p:nvPr/>
        </p:nvSpPr>
        <p:spPr>
          <a:xfrm>
            <a:off x="1087875" y="3658791"/>
            <a:ext cx="5905857" cy="397596"/>
          </a:xfrm>
          <a:prstGeom prst="rect">
            <a:avLst/>
          </a:prstGeom>
          <a:noFill/>
          <a:ln/>
        </p:spPr>
        <p:txBody>
          <a:bodyPr wrap="none" lIns="0" tIns="0" rIns="0" bIns="0" rtlCol="0" anchor="t"/>
          <a:lstStyle/>
          <a:p>
            <a:pPr marL="0" indent="0" algn="l">
              <a:lnSpc>
                <a:spcPts val="2500"/>
              </a:lnSpc>
              <a:buNone/>
            </a:pPr>
            <a:r>
              <a:rPr lang="en-US" sz="1600" dirty="0">
                <a:solidFill>
                  <a:srgbClr val="454240"/>
                </a:solidFill>
                <a:latin typeface="DM Sans" pitchFamily="34" charset="0"/>
                <a:ea typeface="DM Sans" pitchFamily="34" charset="-122"/>
                <a:cs typeface="DM Sans" pitchFamily="34" charset="-120"/>
              </a:rPr>
              <a:t>Import data from external sources and databases.</a:t>
            </a:r>
          </a:p>
        </p:txBody>
      </p:sp>
      <p:pic>
        <p:nvPicPr>
          <p:cNvPr id="34" name="Picture 33">
            <a:extLst>
              <a:ext uri="{FF2B5EF4-FFF2-40B4-BE49-F238E27FC236}">
                <a16:creationId xmlns:a16="http://schemas.microsoft.com/office/drawing/2014/main" id="{7EC80DEF-E449-0828-E696-EADC1D2181B2}"/>
              </a:ext>
            </a:extLst>
          </p:cNvPr>
          <p:cNvPicPr>
            <a:picLocks noChangeAspect="1"/>
          </p:cNvPicPr>
          <p:nvPr/>
        </p:nvPicPr>
        <p:blipFill>
          <a:blip r:embed="rId3"/>
          <a:stretch>
            <a:fillRect/>
          </a:stretch>
        </p:blipFill>
        <p:spPr>
          <a:xfrm>
            <a:off x="7619137" y="2996760"/>
            <a:ext cx="6645504" cy="3251340"/>
          </a:xfrm>
          <a:prstGeom prst="rect">
            <a:avLst/>
          </a:prstGeom>
        </p:spPr>
      </p:pic>
    </p:spTree>
    <p:extLst>
      <p:ext uri="{BB962C8B-B14F-4D97-AF65-F5344CB8AC3E}">
        <p14:creationId xmlns:p14="http://schemas.microsoft.com/office/powerpoint/2010/main" val="1707542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827BD-A228-4E38-17A2-221D7C7DBD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00155C-C065-6940-AEC2-6BE7962C9410}"/>
              </a:ext>
            </a:extLst>
          </p:cNvPr>
          <p:cNvSpPr/>
          <p:nvPr/>
        </p:nvSpPr>
        <p:spPr>
          <a:xfrm>
            <a:off x="774502" y="608886"/>
            <a:ext cx="6606302" cy="622340"/>
          </a:xfrm>
          <a:prstGeom prst="rect">
            <a:avLst/>
          </a:prstGeom>
          <a:noFill/>
          <a:ln/>
        </p:spPr>
        <p:txBody>
          <a:bodyPr wrap="none" lIns="0" tIns="0" rIns="0" bIns="0" rtlCol="0" anchor="t"/>
          <a:lstStyle/>
          <a:p>
            <a:pPr marL="0" indent="0" algn="l">
              <a:lnSpc>
                <a:spcPts val="4900"/>
              </a:lnSpc>
              <a:buNone/>
            </a:pPr>
            <a:r>
              <a:rPr lang="en-US" sz="2200" dirty="0">
                <a:solidFill>
                  <a:srgbClr val="5C4E3D"/>
                </a:solidFill>
                <a:latin typeface="Libre Baskerville" pitchFamily="34" charset="0"/>
              </a:rPr>
              <a:t>5. Key Features &amp; Benefits</a:t>
            </a:r>
          </a:p>
        </p:txBody>
      </p:sp>
      <p:sp>
        <p:nvSpPr>
          <p:cNvPr id="3" name="Text 1">
            <a:extLst>
              <a:ext uri="{FF2B5EF4-FFF2-40B4-BE49-F238E27FC236}">
                <a16:creationId xmlns:a16="http://schemas.microsoft.com/office/drawing/2014/main" id="{67EBC7C4-02AF-599D-2ACC-C5E40932B976}"/>
              </a:ext>
            </a:extLst>
          </p:cNvPr>
          <p:cNvSpPr/>
          <p:nvPr/>
        </p:nvSpPr>
        <p:spPr>
          <a:xfrm>
            <a:off x="774502" y="1529953"/>
            <a:ext cx="9875569" cy="505539"/>
          </a:xfrm>
          <a:prstGeom prst="rect">
            <a:avLst/>
          </a:prstGeom>
          <a:noFill/>
          <a:ln/>
        </p:spPr>
        <p:txBody>
          <a:bodyPr wrap="none" lIns="0" tIns="0" rIns="0" bIns="0" rtlCol="0" anchor="t"/>
          <a:lstStyle/>
          <a:p>
            <a:pPr marL="0" indent="0" algn="l">
              <a:lnSpc>
                <a:spcPts val="3900"/>
              </a:lnSpc>
              <a:buNone/>
            </a:pPr>
            <a:r>
              <a:rPr lang="en-US" sz="3200" dirty="0">
                <a:solidFill>
                  <a:srgbClr val="B88E23"/>
                </a:solidFill>
                <a:latin typeface="Libre Baskerville" pitchFamily="34" charset="0"/>
              </a:rPr>
              <a:t>📊 Ministry Leadership Dashboard</a:t>
            </a:r>
          </a:p>
        </p:txBody>
      </p:sp>
      <p:sp>
        <p:nvSpPr>
          <p:cNvPr id="4" name="Text 2">
            <a:extLst>
              <a:ext uri="{FF2B5EF4-FFF2-40B4-BE49-F238E27FC236}">
                <a16:creationId xmlns:a16="http://schemas.microsoft.com/office/drawing/2014/main" id="{A5424F02-FBF9-693F-FF48-895035C6C608}"/>
              </a:ext>
            </a:extLst>
          </p:cNvPr>
          <p:cNvSpPr/>
          <p:nvPr/>
        </p:nvSpPr>
        <p:spPr>
          <a:xfrm>
            <a:off x="774502" y="2334220"/>
            <a:ext cx="6256139" cy="373380"/>
          </a:xfrm>
          <a:prstGeom prst="rect">
            <a:avLst/>
          </a:prstGeom>
          <a:noFill/>
          <a:ln/>
        </p:spPr>
        <p:txBody>
          <a:bodyPr wrap="none" lIns="0" tIns="0" rIns="0" bIns="0" rtlCol="0" anchor="t"/>
          <a:lstStyle/>
          <a:p>
            <a:pPr marL="0" indent="0" algn="l">
              <a:lnSpc>
                <a:spcPts val="2900"/>
              </a:lnSpc>
              <a:buNone/>
            </a:pPr>
            <a:r>
              <a:rPr lang="en-US" sz="2350" dirty="0">
                <a:solidFill>
                  <a:srgbClr val="5C4E3D"/>
                </a:solidFill>
                <a:latin typeface="Libre Baskerville" pitchFamily="34" charset="0"/>
                <a:ea typeface="Libre Baskerville" pitchFamily="34" charset="-122"/>
                <a:cs typeface="Libre Baskerville" pitchFamily="34" charset="-120"/>
              </a:rPr>
              <a:t>National Command Features</a:t>
            </a:r>
          </a:p>
        </p:txBody>
      </p:sp>
      <p:sp>
        <p:nvSpPr>
          <p:cNvPr id="5" name="Shape 3">
            <a:extLst>
              <a:ext uri="{FF2B5EF4-FFF2-40B4-BE49-F238E27FC236}">
                <a16:creationId xmlns:a16="http://schemas.microsoft.com/office/drawing/2014/main" id="{C3DC4C6D-4D5E-A59C-514D-FA944D65B8C5}"/>
              </a:ext>
            </a:extLst>
          </p:cNvPr>
          <p:cNvSpPr/>
          <p:nvPr/>
        </p:nvSpPr>
        <p:spPr>
          <a:xfrm>
            <a:off x="774502" y="3006328"/>
            <a:ext cx="6441162" cy="1511618"/>
          </a:xfrm>
          <a:prstGeom prst="roundRect">
            <a:avLst>
              <a:gd name="adj" fmla="val 5534"/>
            </a:avLst>
          </a:prstGeom>
          <a:solidFill>
            <a:srgbClr val="FFFDFA"/>
          </a:solidFill>
          <a:ln w="22860">
            <a:solidFill>
              <a:srgbClr val="B88E23"/>
            </a:solidFill>
            <a:prstDash val="solid"/>
          </a:ln>
        </p:spPr>
      </p:sp>
      <p:sp>
        <p:nvSpPr>
          <p:cNvPr id="6" name="Shape 4">
            <a:extLst>
              <a:ext uri="{FF2B5EF4-FFF2-40B4-BE49-F238E27FC236}">
                <a16:creationId xmlns:a16="http://schemas.microsoft.com/office/drawing/2014/main" id="{410BF992-A0EC-5382-0BC6-7271D74DABD6}"/>
              </a:ext>
            </a:extLst>
          </p:cNvPr>
          <p:cNvSpPr/>
          <p:nvPr/>
        </p:nvSpPr>
        <p:spPr>
          <a:xfrm>
            <a:off x="774502" y="3006328"/>
            <a:ext cx="91440" cy="1511618"/>
          </a:xfrm>
          <a:prstGeom prst="roundRect">
            <a:avLst>
              <a:gd name="adj" fmla="val 91480"/>
            </a:avLst>
          </a:prstGeom>
          <a:solidFill>
            <a:srgbClr val="B88E23"/>
          </a:solidFill>
          <a:ln/>
        </p:spPr>
      </p:sp>
      <p:sp>
        <p:nvSpPr>
          <p:cNvPr id="7" name="Text 5">
            <a:extLst>
              <a:ext uri="{FF2B5EF4-FFF2-40B4-BE49-F238E27FC236}">
                <a16:creationId xmlns:a16="http://schemas.microsoft.com/office/drawing/2014/main" id="{A7101BBA-F092-F099-2A5D-E4B33D9997E6}"/>
              </a:ext>
            </a:extLst>
          </p:cNvPr>
          <p:cNvSpPr/>
          <p:nvPr/>
        </p:nvSpPr>
        <p:spPr>
          <a:xfrm>
            <a:off x="1087874" y="3228261"/>
            <a:ext cx="4861441"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Comprehensive National Analytics</a:t>
            </a:r>
          </a:p>
        </p:txBody>
      </p:sp>
      <p:sp>
        <p:nvSpPr>
          <p:cNvPr id="8" name="Text 6">
            <a:extLst>
              <a:ext uri="{FF2B5EF4-FFF2-40B4-BE49-F238E27FC236}">
                <a16:creationId xmlns:a16="http://schemas.microsoft.com/office/drawing/2014/main" id="{9D901BA0-1219-6B0D-227D-10F645FE74B8}"/>
              </a:ext>
            </a:extLst>
          </p:cNvPr>
          <p:cNvSpPr/>
          <p:nvPr/>
        </p:nvSpPr>
        <p:spPr>
          <a:xfrm>
            <a:off x="1087874" y="3658791"/>
            <a:ext cx="5905857" cy="637223"/>
          </a:xfrm>
          <a:prstGeom prst="rect">
            <a:avLst/>
          </a:prstGeom>
          <a:noFill/>
          <a:ln/>
        </p:spPr>
        <p:txBody>
          <a:bodyPr wrap="square" lIns="0" tIns="0" rIns="0" bIns="0" rtlCol="0" anchor="t"/>
          <a:lstStyle/>
          <a:p>
            <a:pPr marL="0" indent="0" algn="l">
              <a:lnSpc>
                <a:spcPts val="2500"/>
              </a:lnSpc>
              <a:buNone/>
            </a:pPr>
            <a:r>
              <a:rPr lang="en-US" sz="1600" dirty="0">
                <a:solidFill>
                  <a:srgbClr val="454240"/>
                </a:solidFill>
                <a:latin typeface="DM Sans" pitchFamily="34" charset="0"/>
                <a:ea typeface="DM Sans" pitchFamily="34" charset="-122"/>
                <a:cs typeface="DM Sans" pitchFamily="34" charset="-120"/>
              </a:rPr>
              <a:t>Monitor all regions with up-to-date data and reporting.</a:t>
            </a:r>
          </a:p>
        </p:txBody>
      </p:sp>
      <p:sp>
        <p:nvSpPr>
          <p:cNvPr id="9" name="Shape 7">
            <a:extLst>
              <a:ext uri="{FF2B5EF4-FFF2-40B4-BE49-F238E27FC236}">
                <a16:creationId xmlns:a16="http://schemas.microsoft.com/office/drawing/2014/main" id="{7CFB8E82-4C74-D68A-E04F-B665D48758B0}"/>
              </a:ext>
            </a:extLst>
          </p:cNvPr>
          <p:cNvSpPr/>
          <p:nvPr/>
        </p:nvSpPr>
        <p:spPr>
          <a:xfrm>
            <a:off x="774502" y="4857553"/>
            <a:ext cx="6441162" cy="1511618"/>
          </a:xfrm>
          <a:prstGeom prst="roundRect">
            <a:avLst>
              <a:gd name="adj" fmla="val 5534"/>
            </a:avLst>
          </a:prstGeom>
          <a:solidFill>
            <a:srgbClr val="FFFDFA"/>
          </a:solidFill>
          <a:ln w="22860">
            <a:solidFill>
              <a:srgbClr val="B88E23"/>
            </a:solidFill>
            <a:prstDash val="solid"/>
          </a:ln>
        </p:spPr>
      </p:sp>
      <p:sp>
        <p:nvSpPr>
          <p:cNvPr id="10" name="Shape 8">
            <a:extLst>
              <a:ext uri="{FF2B5EF4-FFF2-40B4-BE49-F238E27FC236}">
                <a16:creationId xmlns:a16="http://schemas.microsoft.com/office/drawing/2014/main" id="{7358D6B7-BD84-60CE-2DF9-46EDD9BE8A2C}"/>
              </a:ext>
            </a:extLst>
          </p:cNvPr>
          <p:cNvSpPr/>
          <p:nvPr/>
        </p:nvSpPr>
        <p:spPr>
          <a:xfrm>
            <a:off x="774502" y="4857553"/>
            <a:ext cx="91440" cy="1511618"/>
          </a:xfrm>
          <a:prstGeom prst="roundRect">
            <a:avLst>
              <a:gd name="adj" fmla="val 91480"/>
            </a:avLst>
          </a:prstGeom>
          <a:solidFill>
            <a:srgbClr val="B88E23"/>
          </a:solidFill>
          <a:ln/>
        </p:spPr>
      </p:sp>
      <p:sp>
        <p:nvSpPr>
          <p:cNvPr id="11" name="Text 9">
            <a:extLst>
              <a:ext uri="{FF2B5EF4-FFF2-40B4-BE49-F238E27FC236}">
                <a16:creationId xmlns:a16="http://schemas.microsoft.com/office/drawing/2014/main" id="{833A4189-7702-514D-2270-D28EC09D772F}"/>
              </a:ext>
            </a:extLst>
          </p:cNvPr>
          <p:cNvSpPr/>
          <p:nvPr/>
        </p:nvSpPr>
        <p:spPr>
          <a:xfrm>
            <a:off x="1087875" y="5079486"/>
            <a:ext cx="3761303"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Advanced Reporting Suite</a:t>
            </a:r>
          </a:p>
        </p:txBody>
      </p:sp>
      <p:sp>
        <p:nvSpPr>
          <p:cNvPr id="12" name="Text 10">
            <a:extLst>
              <a:ext uri="{FF2B5EF4-FFF2-40B4-BE49-F238E27FC236}">
                <a16:creationId xmlns:a16="http://schemas.microsoft.com/office/drawing/2014/main" id="{D5017BCA-F837-4DF5-E342-FCDFD4ED0B48}"/>
              </a:ext>
            </a:extLst>
          </p:cNvPr>
          <p:cNvSpPr/>
          <p:nvPr/>
        </p:nvSpPr>
        <p:spPr>
          <a:xfrm>
            <a:off x="1087875" y="5510016"/>
            <a:ext cx="5905857" cy="318611"/>
          </a:xfrm>
          <a:prstGeom prst="rect">
            <a:avLst/>
          </a:prstGeom>
          <a:noFill/>
          <a:ln/>
        </p:spPr>
        <p:txBody>
          <a:bodyPr wrap="none" lIns="0" tIns="0" rIns="0" bIns="0" rtlCol="0" anchor="t"/>
          <a:lstStyle/>
          <a:p>
            <a:pPr marL="0" indent="0" algn="l">
              <a:lnSpc>
                <a:spcPts val="2500"/>
              </a:lnSpc>
              <a:buNone/>
            </a:pPr>
            <a:r>
              <a:rPr lang="en-US" sz="1600" dirty="0">
                <a:solidFill>
                  <a:srgbClr val="454240"/>
                </a:solidFill>
                <a:latin typeface="DM Sans" pitchFamily="34" charset="0"/>
                <a:ea typeface="DM Sans" pitchFamily="34" charset="-122"/>
                <a:cs typeface="DM Sans" pitchFamily="34" charset="-120"/>
              </a:rPr>
              <a:t>Generate insights for strategic decision-making.</a:t>
            </a:r>
          </a:p>
        </p:txBody>
      </p:sp>
      <p:sp>
        <p:nvSpPr>
          <p:cNvPr id="17" name="Shape 15">
            <a:extLst>
              <a:ext uri="{FF2B5EF4-FFF2-40B4-BE49-F238E27FC236}">
                <a16:creationId xmlns:a16="http://schemas.microsoft.com/office/drawing/2014/main" id="{B2DAFA54-CF28-B32D-B95F-A7DCC308845B}"/>
              </a:ext>
            </a:extLst>
          </p:cNvPr>
          <p:cNvSpPr/>
          <p:nvPr/>
        </p:nvSpPr>
        <p:spPr>
          <a:xfrm>
            <a:off x="774502" y="6661785"/>
            <a:ext cx="6441162" cy="1193006"/>
          </a:xfrm>
          <a:prstGeom prst="roundRect">
            <a:avLst>
              <a:gd name="adj" fmla="val 7012"/>
            </a:avLst>
          </a:prstGeom>
          <a:solidFill>
            <a:srgbClr val="FFFDFA"/>
          </a:solidFill>
          <a:ln w="22860">
            <a:solidFill>
              <a:srgbClr val="B88E23"/>
            </a:solidFill>
            <a:prstDash val="solid"/>
          </a:ln>
        </p:spPr>
      </p:sp>
      <p:sp>
        <p:nvSpPr>
          <p:cNvPr id="18" name="Shape 16">
            <a:extLst>
              <a:ext uri="{FF2B5EF4-FFF2-40B4-BE49-F238E27FC236}">
                <a16:creationId xmlns:a16="http://schemas.microsoft.com/office/drawing/2014/main" id="{6B1DEC35-93FD-D093-B941-A29581575CEF}"/>
              </a:ext>
            </a:extLst>
          </p:cNvPr>
          <p:cNvSpPr/>
          <p:nvPr/>
        </p:nvSpPr>
        <p:spPr>
          <a:xfrm>
            <a:off x="774502" y="6661785"/>
            <a:ext cx="91440" cy="1193006"/>
          </a:xfrm>
          <a:prstGeom prst="roundRect">
            <a:avLst>
              <a:gd name="adj" fmla="val 91480"/>
            </a:avLst>
          </a:prstGeom>
          <a:solidFill>
            <a:srgbClr val="B88E23"/>
          </a:solidFill>
          <a:ln/>
        </p:spPr>
      </p:sp>
      <p:sp>
        <p:nvSpPr>
          <p:cNvPr id="19" name="Text 17">
            <a:extLst>
              <a:ext uri="{FF2B5EF4-FFF2-40B4-BE49-F238E27FC236}">
                <a16:creationId xmlns:a16="http://schemas.microsoft.com/office/drawing/2014/main" id="{86485EF6-6BB4-D472-E556-5E2018B8B5F3}"/>
              </a:ext>
            </a:extLst>
          </p:cNvPr>
          <p:cNvSpPr/>
          <p:nvPr/>
        </p:nvSpPr>
        <p:spPr>
          <a:xfrm>
            <a:off x="1087875" y="6883718"/>
            <a:ext cx="3451979" cy="311110"/>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Student Result Import</a:t>
            </a:r>
          </a:p>
        </p:txBody>
      </p:sp>
      <p:sp>
        <p:nvSpPr>
          <p:cNvPr id="20" name="Text 18">
            <a:extLst>
              <a:ext uri="{FF2B5EF4-FFF2-40B4-BE49-F238E27FC236}">
                <a16:creationId xmlns:a16="http://schemas.microsoft.com/office/drawing/2014/main" id="{B9200A4B-EAC1-9B0F-AE4F-A84A986B31E7}"/>
              </a:ext>
            </a:extLst>
          </p:cNvPr>
          <p:cNvSpPr/>
          <p:nvPr/>
        </p:nvSpPr>
        <p:spPr>
          <a:xfrm>
            <a:off x="1087875" y="7314248"/>
            <a:ext cx="5905857" cy="318611"/>
          </a:xfrm>
          <a:prstGeom prst="rect">
            <a:avLst/>
          </a:prstGeom>
          <a:noFill/>
          <a:ln/>
        </p:spPr>
        <p:txBody>
          <a:bodyPr wrap="none" lIns="0" tIns="0" rIns="0" bIns="0" rtlCol="0" anchor="t"/>
          <a:lstStyle/>
          <a:p>
            <a:pPr marL="0" indent="0" algn="l">
              <a:lnSpc>
                <a:spcPts val="2500"/>
              </a:lnSpc>
              <a:buNone/>
            </a:pPr>
            <a:r>
              <a:rPr lang="en-US" sz="1600" dirty="0">
                <a:solidFill>
                  <a:srgbClr val="454240"/>
                </a:solidFill>
                <a:latin typeface="DM Sans" pitchFamily="34" charset="0"/>
                <a:ea typeface="DM Sans" pitchFamily="34" charset="-122"/>
                <a:cs typeface="DM Sans" pitchFamily="34" charset="-120"/>
              </a:rPr>
              <a:t>Centralized import of student exam results.</a:t>
            </a:r>
          </a:p>
        </p:txBody>
      </p:sp>
      <p:pic>
        <p:nvPicPr>
          <p:cNvPr id="26" name="Picture 25">
            <a:extLst>
              <a:ext uri="{FF2B5EF4-FFF2-40B4-BE49-F238E27FC236}">
                <a16:creationId xmlns:a16="http://schemas.microsoft.com/office/drawing/2014/main" id="{CF02372D-645D-93C2-59DD-3C3D5C90A5B5}"/>
              </a:ext>
            </a:extLst>
          </p:cNvPr>
          <p:cNvPicPr>
            <a:picLocks noChangeAspect="1"/>
          </p:cNvPicPr>
          <p:nvPr/>
        </p:nvPicPr>
        <p:blipFill>
          <a:blip r:embed="rId3"/>
          <a:stretch>
            <a:fillRect/>
          </a:stretch>
        </p:blipFill>
        <p:spPr>
          <a:xfrm>
            <a:off x="7533767" y="3022731"/>
            <a:ext cx="6730873" cy="3390489"/>
          </a:xfrm>
          <a:prstGeom prst="rect">
            <a:avLst/>
          </a:prstGeom>
        </p:spPr>
      </p:pic>
    </p:spTree>
    <p:extLst>
      <p:ext uri="{BB962C8B-B14F-4D97-AF65-F5344CB8AC3E}">
        <p14:creationId xmlns:p14="http://schemas.microsoft.com/office/powerpoint/2010/main" val="3878944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796F2-01EC-A636-91EB-6D68B2E50B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C9BFBA4-C638-B694-0205-01758C5E1732}"/>
              </a:ext>
            </a:extLst>
          </p:cNvPr>
          <p:cNvSpPr/>
          <p:nvPr/>
        </p:nvSpPr>
        <p:spPr>
          <a:xfrm>
            <a:off x="774502" y="608886"/>
            <a:ext cx="6606302" cy="622340"/>
          </a:xfrm>
          <a:prstGeom prst="rect">
            <a:avLst/>
          </a:prstGeom>
          <a:noFill/>
          <a:ln/>
        </p:spPr>
        <p:txBody>
          <a:bodyPr wrap="none" lIns="0" tIns="0" rIns="0" bIns="0" rtlCol="0" anchor="t"/>
          <a:lstStyle/>
          <a:p>
            <a:pPr marL="0" indent="0" algn="l">
              <a:lnSpc>
                <a:spcPts val="4900"/>
              </a:lnSpc>
              <a:buNone/>
            </a:pPr>
            <a:r>
              <a:rPr lang="en-US" sz="2200" dirty="0">
                <a:solidFill>
                  <a:srgbClr val="5C4E3D"/>
                </a:solidFill>
                <a:latin typeface="Libre Baskerville" pitchFamily="34" charset="0"/>
              </a:rPr>
              <a:t>5. Key Features &amp; Benefits</a:t>
            </a:r>
          </a:p>
        </p:txBody>
      </p:sp>
      <p:sp>
        <p:nvSpPr>
          <p:cNvPr id="3" name="Text 1">
            <a:extLst>
              <a:ext uri="{FF2B5EF4-FFF2-40B4-BE49-F238E27FC236}">
                <a16:creationId xmlns:a16="http://schemas.microsoft.com/office/drawing/2014/main" id="{B0ADE3DC-4EC4-3EE2-03B7-365B5642FDAF}"/>
              </a:ext>
            </a:extLst>
          </p:cNvPr>
          <p:cNvSpPr/>
          <p:nvPr/>
        </p:nvSpPr>
        <p:spPr>
          <a:xfrm>
            <a:off x="774502" y="1529953"/>
            <a:ext cx="9875569" cy="505539"/>
          </a:xfrm>
          <a:prstGeom prst="rect">
            <a:avLst/>
          </a:prstGeom>
          <a:noFill/>
          <a:ln/>
        </p:spPr>
        <p:txBody>
          <a:bodyPr wrap="none" lIns="0" tIns="0" rIns="0" bIns="0" rtlCol="0" anchor="t"/>
          <a:lstStyle/>
          <a:p>
            <a:pPr marL="0" indent="0" algn="l">
              <a:lnSpc>
                <a:spcPts val="3900"/>
              </a:lnSpc>
              <a:buNone/>
            </a:pPr>
            <a:r>
              <a:rPr lang="en-US" sz="3200" dirty="0">
                <a:solidFill>
                  <a:srgbClr val="B88E23"/>
                </a:solidFill>
                <a:latin typeface="Libre Baskerville" pitchFamily="34" charset="0"/>
              </a:rPr>
              <a:t>📊 Ministry Leadership Dashboard</a:t>
            </a:r>
          </a:p>
        </p:txBody>
      </p:sp>
      <p:sp>
        <p:nvSpPr>
          <p:cNvPr id="4" name="Text 2">
            <a:extLst>
              <a:ext uri="{FF2B5EF4-FFF2-40B4-BE49-F238E27FC236}">
                <a16:creationId xmlns:a16="http://schemas.microsoft.com/office/drawing/2014/main" id="{096E7617-2E0F-6719-3ED3-702BCEED0FBC}"/>
              </a:ext>
            </a:extLst>
          </p:cNvPr>
          <p:cNvSpPr/>
          <p:nvPr/>
        </p:nvSpPr>
        <p:spPr>
          <a:xfrm>
            <a:off x="774502" y="2334220"/>
            <a:ext cx="6256139" cy="373380"/>
          </a:xfrm>
          <a:prstGeom prst="rect">
            <a:avLst/>
          </a:prstGeom>
          <a:noFill/>
          <a:ln/>
        </p:spPr>
        <p:txBody>
          <a:bodyPr wrap="none" lIns="0" tIns="0" rIns="0" bIns="0" rtlCol="0" anchor="t"/>
          <a:lstStyle/>
          <a:p>
            <a:pPr marL="0" indent="0" algn="l">
              <a:lnSpc>
                <a:spcPts val="2900"/>
              </a:lnSpc>
              <a:buNone/>
            </a:pPr>
            <a:r>
              <a:rPr lang="en-US" sz="2350" dirty="0">
                <a:solidFill>
                  <a:srgbClr val="5C4E3D"/>
                </a:solidFill>
                <a:latin typeface="Libre Baskerville" pitchFamily="34" charset="0"/>
                <a:ea typeface="Libre Baskerville" pitchFamily="34" charset="-122"/>
                <a:cs typeface="Libre Baskerville" pitchFamily="34" charset="-120"/>
              </a:rPr>
              <a:t>National Leadership Benefits</a:t>
            </a:r>
          </a:p>
        </p:txBody>
      </p:sp>
      <p:sp>
        <p:nvSpPr>
          <p:cNvPr id="13" name="Text 2">
            <a:extLst>
              <a:ext uri="{FF2B5EF4-FFF2-40B4-BE49-F238E27FC236}">
                <a16:creationId xmlns:a16="http://schemas.microsoft.com/office/drawing/2014/main" id="{F286CF4E-107B-A07E-2617-FC9255577B32}"/>
              </a:ext>
            </a:extLst>
          </p:cNvPr>
          <p:cNvSpPr/>
          <p:nvPr/>
        </p:nvSpPr>
        <p:spPr>
          <a:xfrm>
            <a:off x="504229" y="3151585"/>
            <a:ext cx="3095387" cy="643771"/>
          </a:xfrm>
          <a:prstGeom prst="rect">
            <a:avLst/>
          </a:prstGeom>
          <a:noFill/>
          <a:ln/>
        </p:spPr>
        <p:txBody>
          <a:bodyPr wrap="none" lIns="0" tIns="0" rIns="0" bIns="0" rtlCol="0" anchor="t"/>
          <a:lstStyle/>
          <a:p>
            <a:pPr marL="0" indent="0" algn="ctr">
              <a:lnSpc>
                <a:spcPts val="5050"/>
              </a:lnSpc>
              <a:buNone/>
            </a:pPr>
            <a:r>
              <a:rPr lang="en-US" sz="5050" dirty="0">
                <a:solidFill>
                  <a:srgbClr val="454240"/>
                </a:solidFill>
                <a:latin typeface="Libre Baskerville" pitchFamily="34" charset="0"/>
                <a:ea typeface="Libre Baskerville" pitchFamily="34" charset="-122"/>
                <a:cs typeface="Libre Baskerville" pitchFamily="34" charset="-120"/>
              </a:rPr>
              <a:t>100%</a:t>
            </a:r>
            <a:endParaRPr lang="en-US" sz="5050" dirty="0"/>
          </a:p>
        </p:txBody>
      </p:sp>
      <p:sp>
        <p:nvSpPr>
          <p:cNvPr id="14" name="Text 3">
            <a:extLst>
              <a:ext uri="{FF2B5EF4-FFF2-40B4-BE49-F238E27FC236}">
                <a16:creationId xmlns:a16="http://schemas.microsoft.com/office/drawing/2014/main" id="{D311A4FC-AD65-6D0E-3A2C-50BB1BB7F620}"/>
              </a:ext>
            </a:extLst>
          </p:cNvPr>
          <p:cNvSpPr/>
          <p:nvPr/>
        </p:nvSpPr>
        <p:spPr>
          <a:xfrm>
            <a:off x="504229" y="4039195"/>
            <a:ext cx="3095387" cy="609600"/>
          </a:xfrm>
          <a:prstGeom prst="rect">
            <a:avLst/>
          </a:prstGeom>
          <a:noFill/>
          <a:ln/>
        </p:spPr>
        <p:txBody>
          <a:bodyPr wrap="square" lIns="0" tIns="0" rIns="0" bIns="0" rtlCol="0" anchor="t"/>
          <a:lstStyle/>
          <a:p>
            <a:pPr marL="0" indent="0" algn="ctr">
              <a:lnSpc>
                <a:spcPts val="2400"/>
              </a:lnSpc>
              <a:buNone/>
            </a:pPr>
            <a:r>
              <a:rPr lang="en-US" sz="1900" dirty="0">
                <a:solidFill>
                  <a:srgbClr val="454240"/>
                </a:solidFill>
                <a:latin typeface="Libre Baskerville" pitchFamily="34" charset="0"/>
                <a:ea typeface="Libre Baskerville" pitchFamily="34" charset="-122"/>
                <a:cs typeface="Libre Baskerville" pitchFamily="34" charset="-120"/>
              </a:rPr>
              <a:t>Complete National Oversight</a:t>
            </a:r>
            <a:endParaRPr lang="en-US" sz="1900" dirty="0"/>
          </a:p>
        </p:txBody>
      </p:sp>
      <p:sp>
        <p:nvSpPr>
          <p:cNvPr id="15" name="Text 4">
            <a:extLst>
              <a:ext uri="{FF2B5EF4-FFF2-40B4-BE49-F238E27FC236}">
                <a16:creationId xmlns:a16="http://schemas.microsoft.com/office/drawing/2014/main" id="{A0C6EF97-E4FD-CD76-CE20-3CB046FB27D9}"/>
              </a:ext>
            </a:extLst>
          </p:cNvPr>
          <p:cNvSpPr/>
          <p:nvPr/>
        </p:nvSpPr>
        <p:spPr>
          <a:xfrm>
            <a:off x="504229" y="4765834"/>
            <a:ext cx="3095387" cy="624364"/>
          </a:xfrm>
          <a:prstGeom prst="rect">
            <a:avLst/>
          </a:prstGeom>
          <a:noFill/>
          <a:ln/>
        </p:spPr>
        <p:txBody>
          <a:bodyPr wrap="square" lIns="0" tIns="0" rIns="0" bIns="0" rtlCol="0" anchor="t"/>
          <a:lstStyle/>
          <a:p>
            <a:pPr marL="0" indent="0" algn="ctr">
              <a:lnSpc>
                <a:spcPts val="2450"/>
              </a:lnSpc>
              <a:buNone/>
            </a:pPr>
            <a:r>
              <a:rPr lang="en-US" sz="1500" dirty="0">
                <a:solidFill>
                  <a:srgbClr val="454240"/>
                </a:solidFill>
                <a:latin typeface="DM Sans" pitchFamily="34" charset="0"/>
                <a:ea typeface="DM Sans" pitchFamily="34" charset="-122"/>
                <a:cs typeface="DM Sans" pitchFamily="34" charset="-120"/>
              </a:rPr>
              <a:t>with centralized monitoring of all scholarship activities.</a:t>
            </a:r>
            <a:endParaRPr lang="en-US" sz="1500" dirty="0"/>
          </a:p>
        </p:txBody>
      </p:sp>
      <p:sp>
        <p:nvSpPr>
          <p:cNvPr id="16" name="Text 5">
            <a:extLst>
              <a:ext uri="{FF2B5EF4-FFF2-40B4-BE49-F238E27FC236}">
                <a16:creationId xmlns:a16="http://schemas.microsoft.com/office/drawing/2014/main" id="{A47C011F-12BE-39A9-951C-E89CEB566390}"/>
              </a:ext>
            </a:extLst>
          </p:cNvPr>
          <p:cNvSpPr/>
          <p:nvPr/>
        </p:nvSpPr>
        <p:spPr>
          <a:xfrm>
            <a:off x="3843456" y="3151585"/>
            <a:ext cx="3095387" cy="643771"/>
          </a:xfrm>
          <a:prstGeom prst="rect">
            <a:avLst/>
          </a:prstGeom>
          <a:noFill/>
          <a:ln/>
        </p:spPr>
        <p:txBody>
          <a:bodyPr wrap="none" lIns="0" tIns="0" rIns="0" bIns="0" rtlCol="0" anchor="t"/>
          <a:lstStyle/>
          <a:p>
            <a:pPr marL="0" indent="0" algn="ctr">
              <a:lnSpc>
                <a:spcPts val="5050"/>
              </a:lnSpc>
              <a:buNone/>
            </a:pPr>
            <a:r>
              <a:rPr lang="en-US" sz="5050" dirty="0">
                <a:solidFill>
                  <a:srgbClr val="454240"/>
                </a:solidFill>
                <a:latin typeface="Libre Baskerville" pitchFamily="34" charset="0"/>
                <a:ea typeface="Libre Baskerville" pitchFamily="34" charset="-122"/>
                <a:cs typeface="Libre Baskerville" pitchFamily="34" charset="-120"/>
              </a:rPr>
              <a:t>↑</a:t>
            </a:r>
            <a:endParaRPr lang="en-US" sz="5050" dirty="0"/>
          </a:p>
        </p:txBody>
      </p:sp>
      <p:sp>
        <p:nvSpPr>
          <p:cNvPr id="21" name="Text 6">
            <a:extLst>
              <a:ext uri="{FF2B5EF4-FFF2-40B4-BE49-F238E27FC236}">
                <a16:creationId xmlns:a16="http://schemas.microsoft.com/office/drawing/2014/main" id="{87C1B23B-7205-A45C-796D-1BC2A1B4F678}"/>
              </a:ext>
            </a:extLst>
          </p:cNvPr>
          <p:cNvSpPr/>
          <p:nvPr/>
        </p:nvSpPr>
        <p:spPr>
          <a:xfrm>
            <a:off x="3843456" y="4039195"/>
            <a:ext cx="3095387" cy="609600"/>
          </a:xfrm>
          <a:prstGeom prst="rect">
            <a:avLst/>
          </a:prstGeom>
          <a:noFill/>
          <a:ln/>
        </p:spPr>
        <p:txBody>
          <a:bodyPr wrap="square" lIns="0" tIns="0" rIns="0" bIns="0" rtlCol="0" anchor="t"/>
          <a:lstStyle/>
          <a:p>
            <a:pPr marL="0" indent="0" algn="ctr">
              <a:lnSpc>
                <a:spcPts val="2400"/>
              </a:lnSpc>
              <a:buNone/>
            </a:pPr>
            <a:r>
              <a:rPr lang="en-US" sz="1900" dirty="0">
                <a:solidFill>
                  <a:srgbClr val="454240"/>
                </a:solidFill>
                <a:latin typeface="Libre Baskerville" pitchFamily="34" charset="0"/>
                <a:ea typeface="Libre Baskerville" pitchFamily="34" charset="-122"/>
                <a:cs typeface="Libre Baskerville" pitchFamily="34" charset="-120"/>
              </a:rPr>
              <a:t>Strategic Decision Support</a:t>
            </a:r>
            <a:endParaRPr lang="en-US" sz="1900" dirty="0"/>
          </a:p>
        </p:txBody>
      </p:sp>
      <p:sp>
        <p:nvSpPr>
          <p:cNvPr id="22" name="Text 7">
            <a:extLst>
              <a:ext uri="{FF2B5EF4-FFF2-40B4-BE49-F238E27FC236}">
                <a16:creationId xmlns:a16="http://schemas.microsoft.com/office/drawing/2014/main" id="{4C3FCE74-1DCF-BF3F-2402-318D977A8D00}"/>
              </a:ext>
            </a:extLst>
          </p:cNvPr>
          <p:cNvSpPr/>
          <p:nvPr/>
        </p:nvSpPr>
        <p:spPr>
          <a:xfrm>
            <a:off x="3843456" y="4765834"/>
            <a:ext cx="3095387" cy="624364"/>
          </a:xfrm>
          <a:prstGeom prst="rect">
            <a:avLst/>
          </a:prstGeom>
          <a:noFill/>
          <a:ln/>
        </p:spPr>
        <p:txBody>
          <a:bodyPr wrap="square" lIns="0" tIns="0" rIns="0" bIns="0" rtlCol="0" anchor="t"/>
          <a:lstStyle/>
          <a:p>
            <a:pPr marL="0" indent="0" algn="ctr">
              <a:lnSpc>
                <a:spcPts val="2450"/>
              </a:lnSpc>
              <a:buNone/>
            </a:pPr>
            <a:r>
              <a:rPr lang="en-US" sz="1500" dirty="0">
                <a:solidFill>
                  <a:srgbClr val="454240"/>
                </a:solidFill>
                <a:latin typeface="DM Sans" pitchFamily="34" charset="0"/>
                <a:ea typeface="DM Sans" pitchFamily="34" charset="-122"/>
                <a:cs typeface="DM Sans" pitchFamily="34" charset="-120"/>
              </a:rPr>
              <a:t>through comprehensive analytics and reporting capabilities.</a:t>
            </a:r>
            <a:endParaRPr lang="en-US" sz="1500" dirty="0"/>
          </a:p>
        </p:txBody>
      </p:sp>
      <p:sp>
        <p:nvSpPr>
          <p:cNvPr id="23" name="Text 8">
            <a:extLst>
              <a:ext uri="{FF2B5EF4-FFF2-40B4-BE49-F238E27FC236}">
                <a16:creationId xmlns:a16="http://schemas.microsoft.com/office/drawing/2014/main" id="{DBE2813A-EA47-4F13-1FA6-805DD15D7650}"/>
              </a:ext>
            </a:extLst>
          </p:cNvPr>
          <p:cNvSpPr/>
          <p:nvPr/>
        </p:nvSpPr>
        <p:spPr>
          <a:xfrm>
            <a:off x="7182683" y="3151585"/>
            <a:ext cx="3095387" cy="643771"/>
          </a:xfrm>
          <a:prstGeom prst="rect">
            <a:avLst/>
          </a:prstGeom>
          <a:noFill/>
          <a:ln/>
        </p:spPr>
        <p:txBody>
          <a:bodyPr wrap="none" lIns="0" tIns="0" rIns="0" bIns="0" rtlCol="0" anchor="t"/>
          <a:lstStyle/>
          <a:p>
            <a:pPr marL="0" indent="0" algn="ctr">
              <a:lnSpc>
                <a:spcPts val="5050"/>
              </a:lnSpc>
              <a:buNone/>
            </a:pPr>
            <a:r>
              <a:rPr lang="en-US" sz="5050" dirty="0">
                <a:solidFill>
                  <a:srgbClr val="454240"/>
                </a:solidFill>
                <a:latin typeface="Libre Baskerville" pitchFamily="34" charset="0"/>
                <a:ea typeface="Libre Baskerville" pitchFamily="34" charset="-122"/>
                <a:cs typeface="Libre Baskerville" pitchFamily="34" charset="-120"/>
              </a:rPr>
              <a:t>↓</a:t>
            </a:r>
            <a:endParaRPr lang="en-US" sz="5050" dirty="0"/>
          </a:p>
        </p:txBody>
      </p:sp>
      <p:sp>
        <p:nvSpPr>
          <p:cNvPr id="24" name="Text 9">
            <a:extLst>
              <a:ext uri="{FF2B5EF4-FFF2-40B4-BE49-F238E27FC236}">
                <a16:creationId xmlns:a16="http://schemas.microsoft.com/office/drawing/2014/main" id="{B88FAE27-955B-F2E2-8737-300F318FF852}"/>
              </a:ext>
            </a:extLst>
          </p:cNvPr>
          <p:cNvSpPr/>
          <p:nvPr/>
        </p:nvSpPr>
        <p:spPr>
          <a:xfrm>
            <a:off x="7182683" y="4039195"/>
            <a:ext cx="3095387" cy="609600"/>
          </a:xfrm>
          <a:prstGeom prst="rect">
            <a:avLst/>
          </a:prstGeom>
          <a:noFill/>
          <a:ln/>
        </p:spPr>
        <p:txBody>
          <a:bodyPr wrap="square" lIns="0" tIns="0" rIns="0" bIns="0" rtlCol="0" anchor="t"/>
          <a:lstStyle/>
          <a:p>
            <a:pPr marL="0" indent="0" algn="ctr">
              <a:lnSpc>
                <a:spcPts val="2400"/>
              </a:lnSpc>
              <a:buNone/>
            </a:pPr>
            <a:r>
              <a:rPr lang="en-US" sz="1900" dirty="0">
                <a:solidFill>
                  <a:srgbClr val="454240"/>
                </a:solidFill>
                <a:latin typeface="Libre Baskerville" pitchFamily="34" charset="0"/>
                <a:ea typeface="Libre Baskerville" pitchFamily="34" charset="-122"/>
                <a:cs typeface="Libre Baskerville" pitchFamily="34" charset="-120"/>
              </a:rPr>
              <a:t>Significant Cost Reduction</a:t>
            </a:r>
            <a:endParaRPr lang="en-US" sz="1900" dirty="0"/>
          </a:p>
        </p:txBody>
      </p:sp>
      <p:sp>
        <p:nvSpPr>
          <p:cNvPr id="25" name="Text 10">
            <a:extLst>
              <a:ext uri="{FF2B5EF4-FFF2-40B4-BE49-F238E27FC236}">
                <a16:creationId xmlns:a16="http://schemas.microsoft.com/office/drawing/2014/main" id="{5F6BA9D0-ACBB-BF41-2451-8B9A36C60F9E}"/>
              </a:ext>
            </a:extLst>
          </p:cNvPr>
          <p:cNvSpPr/>
          <p:nvPr/>
        </p:nvSpPr>
        <p:spPr>
          <a:xfrm>
            <a:off x="7182683" y="4765834"/>
            <a:ext cx="3095387" cy="936546"/>
          </a:xfrm>
          <a:prstGeom prst="rect">
            <a:avLst/>
          </a:prstGeom>
          <a:noFill/>
          <a:ln/>
        </p:spPr>
        <p:txBody>
          <a:bodyPr wrap="square" lIns="0" tIns="0" rIns="0" bIns="0" rtlCol="0" anchor="t"/>
          <a:lstStyle/>
          <a:p>
            <a:pPr marL="0" indent="0" algn="ctr">
              <a:lnSpc>
                <a:spcPts val="2450"/>
              </a:lnSpc>
              <a:buNone/>
            </a:pPr>
            <a:r>
              <a:rPr lang="en-US" sz="1500" dirty="0">
                <a:solidFill>
                  <a:srgbClr val="454240"/>
                </a:solidFill>
                <a:latin typeface="DM Sans" pitchFamily="34" charset="0"/>
                <a:ea typeface="DM Sans" pitchFamily="34" charset="-122"/>
                <a:cs typeface="DM Sans" pitchFamily="34" charset="-120"/>
              </a:rPr>
              <a:t>by eliminating paper-based processes and manual workflows nationwide.</a:t>
            </a:r>
            <a:endParaRPr lang="en-US" sz="1500" dirty="0"/>
          </a:p>
        </p:txBody>
      </p:sp>
      <p:sp>
        <p:nvSpPr>
          <p:cNvPr id="27" name="Text 11">
            <a:extLst>
              <a:ext uri="{FF2B5EF4-FFF2-40B4-BE49-F238E27FC236}">
                <a16:creationId xmlns:a16="http://schemas.microsoft.com/office/drawing/2014/main" id="{98828AED-A91E-DEEC-1BB9-4CC2CA6E5384}"/>
              </a:ext>
            </a:extLst>
          </p:cNvPr>
          <p:cNvSpPr/>
          <p:nvPr/>
        </p:nvSpPr>
        <p:spPr>
          <a:xfrm>
            <a:off x="10521910" y="3151585"/>
            <a:ext cx="3095387" cy="643771"/>
          </a:xfrm>
          <a:prstGeom prst="rect">
            <a:avLst/>
          </a:prstGeom>
          <a:noFill/>
          <a:ln/>
        </p:spPr>
        <p:txBody>
          <a:bodyPr wrap="none" lIns="0" tIns="0" rIns="0" bIns="0" rtlCol="0" anchor="t"/>
          <a:lstStyle/>
          <a:p>
            <a:pPr marL="0" indent="0" algn="ctr">
              <a:lnSpc>
                <a:spcPts val="5050"/>
              </a:lnSpc>
              <a:buNone/>
            </a:pPr>
            <a:r>
              <a:rPr lang="en-US" sz="5050" dirty="0">
                <a:solidFill>
                  <a:srgbClr val="454240"/>
                </a:solidFill>
                <a:latin typeface="Libre Baskerville" pitchFamily="34" charset="0"/>
                <a:ea typeface="Libre Baskerville" pitchFamily="34" charset="-122"/>
                <a:cs typeface="Libre Baskerville" pitchFamily="34" charset="-120"/>
              </a:rPr>
              <a:t>↑</a:t>
            </a:r>
            <a:endParaRPr lang="en-US" sz="5050" dirty="0"/>
          </a:p>
        </p:txBody>
      </p:sp>
      <p:sp>
        <p:nvSpPr>
          <p:cNvPr id="28" name="Text 12">
            <a:extLst>
              <a:ext uri="{FF2B5EF4-FFF2-40B4-BE49-F238E27FC236}">
                <a16:creationId xmlns:a16="http://schemas.microsoft.com/office/drawing/2014/main" id="{A39FF7FD-40C6-4013-A083-FDD073F50CB2}"/>
              </a:ext>
            </a:extLst>
          </p:cNvPr>
          <p:cNvSpPr/>
          <p:nvPr/>
        </p:nvSpPr>
        <p:spPr>
          <a:xfrm>
            <a:off x="10776346" y="4039195"/>
            <a:ext cx="2586514" cy="304800"/>
          </a:xfrm>
          <a:prstGeom prst="rect">
            <a:avLst/>
          </a:prstGeom>
          <a:noFill/>
          <a:ln/>
        </p:spPr>
        <p:txBody>
          <a:bodyPr wrap="none" lIns="0" tIns="0" rIns="0" bIns="0" rtlCol="0" anchor="t"/>
          <a:lstStyle/>
          <a:p>
            <a:pPr marL="0" indent="0" algn="ctr">
              <a:lnSpc>
                <a:spcPts val="2400"/>
              </a:lnSpc>
              <a:buNone/>
            </a:pPr>
            <a:r>
              <a:rPr lang="en-US" sz="1900" dirty="0">
                <a:solidFill>
                  <a:srgbClr val="454240"/>
                </a:solidFill>
                <a:latin typeface="Libre Baskerville" pitchFamily="34" charset="0"/>
                <a:ea typeface="Libre Baskerville" pitchFamily="34" charset="-122"/>
                <a:cs typeface="Libre Baskerville" pitchFamily="34" charset="-120"/>
              </a:rPr>
              <a:t>Improved Efficiency</a:t>
            </a:r>
            <a:endParaRPr lang="en-US" sz="1900" dirty="0"/>
          </a:p>
        </p:txBody>
      </p:sp>
      <p:sp>
        <p:nvSpPr>
          <p:cNvPr id="29" name="Text 13">
            <a:extLst>
              <a:ext uri="{FF2B5EF4-FFF2-40B4-BE49-F238E27FC236}">
                <a16:creationId xmlns:a16="http://schemas.microsoft.com/office/drawing/2014/main" id="{1AFA2B08-95D2-182B-3E47-948C37A56534}"/>
              </a:ext>
            </a:extLst>
          </p:cNvPr>
          <p:cNvSpPr/>
          <p:nvPr/>
        </p:nvSpPr>
        <p:spPr>
          <a:xfrm>
            <a:off x="10521910" y="4461034"/>
            <a:ext cx="3095387" cy="624364"/>
          </a:xfrm>
          <a:prstGeom prst="rect">
            <a:avLst/>
          </a:prstGeom>
          <a:noFill/>
          <a:ln/>
        </p:spPr>
        <p:txBody>
          <a:bodyPr wrap="square" lIns="0" tIns="0" rIns="0" bIns="0" rtlCol="0" anchor="t"/>
          <a:lstStyle/>
          <a:p>
            <a:pPr marL="0" indent="0" algn="ctr">
              <a:lnSpc>
                <a:spcPts val="2450"/>
              </a:lnSpc>
              <a:buNone/>
            </a:pPr>
            <a:r>
              <a:rPr lang="en-US" sz="1500" dirty="0">
                <a:solidFill>
                  <a:srgbClr val="454240"/>
                </a:solidFill>
                <a:latin typeface="DM Sans" pitchFamily="34" charset="0"/>
                <a:ea typeface="DM Sans" pitchFamily="34" charset="-122"/>
                <a:cs typeface="DM Sans" pitchFamily="34" charset="-120"/>
              </a:rPr>
              <a:t>with streamlined digital processes reducing administrative burden.</a:t>
            </a:r>
            <a:endParaRPr lang="en-US" sz="1500" dirty="0"/>
          </a:p>
        </p:txBody>
      </p:sp>
      <p:sp>
        <p:nvSpPr>
          <p:cNvPr id="30" name="Text 14">
            <a:extLst>
              <a:ext uri="{FF2B5EF4-FFF2-40B4-BE49-F238E27FC236}">
                <a16:creationId xmlns:a16="http://schemas.microsoft.com/office/drawing/2014/main" id="{362E728D-5257-869B-3E11-28E29D480F62}"/>
              </a:ext>
            </a:extLst>
          </p:cNvPr>
          <p:cNvSpPr/>
          <p:nvPr/>
        </p:nvSpPr>
        <p:spPr>
          <a:xfrm>
            <a:off x="5513070" y="5868174"/>
            <a:ext cx="3095387" cy="643771"/>
          </a:xfrm>
          <a:prstGeom prst="rect">
            <a:avLst/>
          </a:prstGeom>
          <a:noFill/>
          <a:ln/>
        </p:spPr>
        <p:txBody>
          <a:bodyPr wrap="none" lIns="0" tIns="0" rIns="0" bIns="0" rtlCol="0" anchor="t"/>
          <a:lstStyle/>
          <a:p>
            <a:pPr marL="0" indent="0" algn="ctr">
              <a:lnSpc>
                <a:spcPts val="5050"/>
              </a:lnSpc>
              <a:buNone/>
            </a:pPr>
            <a:r>
              <a:rPr lang="en-US" sz="5050" dirty="0">
                <a:solidFill>
                  <a:srgbClr val="454240"/>
                </a:solidFill>
                <a:latin typeface="Libre Baskerville" pitchFamily="34" charset="0"/>
                <a:ea typeface="Libre Baskerville" pitchFamily="34" charset="-122"/>
                <a:cs typeface="Libre Baskerville" pitchFamily="34" charset="-120"/>
              </a:rPr>
              <a:t>↑</a:t>
            </a:r>
            <a:endParaRPr lang="en-US" sz="5050" dirty="0"/>
          </a:p>
        </p:txBody>
      </p:sp>
      <p:sp>
        <p:nvSpPr>
          <p:cNvPr id="31" name="Text 15">
            <a:extLst>
              <a:ext uri="{FF2B5EF4-FFF2-40B4-BE49-F238E27FC236}">
                <a16:creationId xmlns:a16="http://schemas.microsoft.com/office/drawing/2014/main" id="{E88CD312-A678-E1D8-2224-8A6634FD285B}"/>
              </a:ext>
            </a:extLst>
          </p:cNvPr>
          <p:cNvSpPr/>
          <p:nvPr/>
        </p:nvSpPr>
        <p:spPr>
          <a:xfrm>
            <a:off x="5545574" y="6755784"/>
            <a:ext cx="3030260" cy="304800"/>
          </a:xfrm>
          <a:prstGeom prst="rect">
            <a:avLst/>
          </a:prstGeom>
          <a:noFill/>
          <a:ln/>
        </p:spPr>
        <p:txBody>
          <a:bodyPr wrap="none" lIns="0" tIns="0" rIns="0" bIns="0" rtlCol="0" anchor="t"/>
          <a:lstStyle/>
          <a:p>
            <a:pPr marL="0" indent="0" algn="ctr">
              <a:lnSpc>
                <a:spcPts val="2400"/>
              </a:lnSpc>
              <a:buNone/>
            </a:pPr>
            <a:r>
              <a:rPr lang="en-US" sz="1900" dirty="0">
                <a:solidFill>
                  <a:srgbClr val="454240"/>
                </a:solidFill>
                <a:latin typeface="Libre Baskerville" pitchFamily="34" charset="0"/>
                <a:ea typeface="Libre Baskerville" pitchFamily="34" charset="-122"/>
                <a:cs typeface="Libre Baskerville" pitchFamily="34" charset="-120"/>
              </a:rPr>
              <a:t>Enhanced Transparency</a:t>
            </a:r>
            <a:endParaRPr lang="en-US" sz="1900" dirty="0"/>
          </a:p>
        </p:txBody>
      </p:sp>
      <p:sp>
        <p:nvSpPr>
          <p:cNvPr id="32" name="Text 16">
            <a:extLst>
              <a:ext uri="{FF2B5EF4-FFF2-40B4-BE49-F238E27FC236}">
                <a16:creationId xmlns:a16="http://schemas.microsoft.com/office/drawing/2014/main" id="{DC8B593F-089F-5F05-0B49-5B07EC703267}"/>
              </a:ext>
            </a:extLst>
          </p:cNvPr>
          <p:cNvSpPr/>
          <p:nvPr/>
        </p:nvSpPr>
        <p:spPr>
          <a:xfrm>
            <a:off x="5513070" y="7177623"/>
            <a:ext cx="3095387" cy="624364"/>
          </a:xfrm>
          <a:prstGeom prst="rect">
            <a:avLst/>
          </a:prstGeom>
          <a:noFill/>
          <a:ln/>
        </p:spPr>
        <p:txBody>
          <a:bodyPr wrap="square" lIns="0" tIns="0" rIns="0" bIns="0" rtlCol="0" anchor="t"/>
          <a:lstStyle/>
          <a:p>
            <a:pPr marL="0" indent="0" algn="ctr">
              <a:lnSpc>
                <a:spcPts val="2450"/>
              </a:lnSpc>
              <a:buNone/>
            </a:pPr>
            <a:r>
              <a:rPr lang="en-US" sz="1500" dirty="0">
                <a:solidFill>
                  <a:srgbClr val="454240"/>
                </a:solidFill>
                <a:latin typeface="DM Sans" pitchFamily="34" charset="0"/>
                <a:ea typeface="DM Sans" pitchFamily="34" charset="-122"/>
                <a:cs typeface="DM Sans" pitchFamily="34" charset="-120"/>
              </a:rPr>
              <a:t>providing complete visibility into national scholarship distribution.</a:t>
            </a:r>
            <a:endParaRPr lang="en-US" sz="1500" dirty="0"/>
          </a:p>
        </p:txBody>
      </p:sp>
    </p:spTree>
    <p:extLst>
      <p:ext uri="{BB962C8B-B14F-4D97-AF65-F5344CB8AC3E}">
        <p14:creationId xmlns:p14="http://schemas.microsoft.com/office/powerpoint/2010/main" val="761017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07419" y="1389870"/>
            <a:ext cx="5480566" cy="432911"/>
          </a:xfrm>
          <a:prstGeom prst="rect">
            <a:avLst/>
          </a:prstGeom>
          <a:noFill/>
          <a:ln/>
        </p:spPr>
        <p:txBody>
          <a:bodyPr wrap="none" lIns="0" tIns="0" rIns="0" bIns="0" rtlCol="0" anchor="t"/>
          <a:lstStyle/>
          <a:p>
            <a:pPr marL="0" indent="0" algn="l">
              <a:lnSpc>
                <a:spcPts val="3300"/>
              </a:lnSpc>
              <a:buNone/>
            </a:pPr>
            <a:r>
              <a:rPr lang="en-US" sz="3600" dirty="0">
                <a:solidFill>
                  <a:srgbClr val="B88E23"/>
                </a:solidFill>
                <a:latin typeface="Libre Baskerville" pitchFamily="34" charset="0"/>
              </a:rPr>
              <a:t>🤖 Automated Selection Engine</a:t>
            </a:r>
          </a:p>
        </p:txBody>
      </p:sp>
      <p:sp>
        <p:nvSpPr>
          <p:cNvPr id="3" name="Text 1"/>
          <p:cNvSpPr/>
          <p:nvPr/>
        </p:nvSpPr>
        <p:spPr>
          <a:xfrm>
            <a:off x="881889" y="2076926"/>
            <a:ext cx="4741069" cy="318849"/>
          </a:xfrm>
          <a:prstGeom prst="rect">
            <a:avLst/>
          </a:prstGeom>
          <a:noFill/>
          <a:ln/>
        </p:spPr>
        <p:txBody>
          <a:bodyPr wrap="none" lIns="0" tIns="0" rIns="0" bIns="0" rtlCol="0" anchor="t"/>
          <a:lstStyle/>
          <a:p>
            <a:pPr marL="0" indent="0" algn="l">
              <a:lnSpc>
                <a:spcPts val="2500"/>
              </a:lnSpc>
              <a:buNone/>
            </a:pPr>
            <a:r>
              <a:rPr lang="en-US" sz="2400" dirty="0">
                <a:solidFill>
                  <a:srgbClr val="5C4E3D"/>
                </a:solidFill>
                <a:latin typeface="Libre Baskerville" pitchFamily="34" charset="0"/>
              </a:rPr>
              <a:t>Revolutionary Selection Technology</a:t>
            </a:r>
          </a:p>
        </p:txBody>
      </p:sp>
      <p:pic>
        <p:nvPicPr>
          <p:cNvPr id="4" name="Image 0" descr="preencoded.png"/>
          <p:cNvPicPr>
            <a:picLocks noChangeAspect="1"/>
          </p:cNvPicPr>
          <p:nvPr/>
        </p:nvPicPr>
        <p:blipFill>
          <a:blip r:embed="rId3"/>
          <a:stretch>
            <a:fillRect/>
          </a:stretch>
        </p:blipFill>
        <p:spPr>
          <a:xfrm>
            <a:off x="793790" y="2279690"/>
            <a:ext cx="4657361" cy="4657361"/>
          </a:xfrm>
          <a:prstGeom prst="rect">
            <a:avLst/>
          </a:prstGeom>
        </p:spPr>
      </p:pic>
      <p:sp>
        <p:nvSpPr>
          <p:cNvPr id="5" name="Shape 2"/>
          <p:cNvSpPr/>
          <p:nvPr/>
        </p:nvSpPr>
        <p:spPr>
          <a:xfrm>
            <a:off x="10675858" y="2076926"/>
            <a:ext cx="22860" cy="5252680"/>
          </a:xfrm>
          <a:prstGeom prst="roundRect">
            <a:avLst>
              <a:gd name="adj" fmla="val 312558"/>
            </a:avLst>
          </a:prstGeom>
          <a:solidFill>
            <a:srgbClr val="DDD3BA"/>
          </a:solidFill>
          <a:ln/>
        </p:spPr>
      </p:sp>
      <p:sp>
        <p:nvSpPr>
          <p:cNvPr id="6" name="Shape 3"/>
          <p:cNvSpPr/>
          <p:nvPr/>
        </p:nvSpPr>
        <p:spPr>
          <a:xfrm>
            <a:off x="10008513" y="2256830"/>
            <a:ext cx="510302" cy="22860"/>
          </a:xfrm>
          <a:prstGeom prst="roundRect">
            <a:avLst>
              <a:gd name="adj" fmla="val 312558"/>
            </a:avLst>
          </a:prstGeom>
          <a:solidFill>
            <a:srgbClr val="DDD3BA"/>
          </a:solidFill>
          <a:ln/>
        </p:spPr>
      </p:sp>
      <p:sp>
        <p:nvSpPr>
          <p:cNvPr id="7" name="Shape 4"/>
          <p:cNvSpPr/>
          <p:nvPr/>
        </p:nvSpPr>
        <p:spPr>
          <a:xfrm>
            <a:off x="10495955" y="2076926"/>
            <a:ext cx="382667" cy="382667"/>
          </a:xfrm>
          <a:prstGeom prst="roundRect">
            <a:avLst>
              <a:gd name="adj" fmla="val 18672"/>
            </a:avLst>
          </a:prstGeom>
          <a:solidFill>
            <a:srgbClr val="F7EDD4"/>
          </a:solidFill>
          <a:ln w="7620">
            <a:solidFill>
              <a:srgbClr val="DDD3BA"/>
            </a:solidFill>
            <a:prstDash val="solid"/>
          </a:ln>
        </p:spPr>
      </p:sp>
      <p:sp>
        <p:nvSpPr>
          <p:cNvPr id="8" name="Text 5"/>
          <p:cNvSpPr/>
          <p:nvPr/>
        </p:nvSpPr>
        <p:spPr>
          <a:xfrm>
            <a:off x="10559713" y="2156550"/>
            <a:ext cx="255151" cy="318968"/>
          </a:xfrm>
          <a:prstGeom prst="rect">
            <a:avLst/>
          </a:prstGeom>
          <a:noFill/>
          <a:ln/>
        </p:spPr>
        <p:txBody>
          <a:bodyPr wrap="none" lIns="0" tIns="0" rIns="0" bIns="0" rtlCol="0" anchor="t"/>
          <a:lstStyle/>
          <a:p>
            <a:pPr marL="0" indent="0" algn="ctr">
              <a:lnSpc>
                <a:spcPts val="2000"/>
              </a:lnSpc>
              <a:buNone/>
            </a:pPr>
            <a:r>
              <a:rPr lang="en-US" sz="2000" dirty="0">
                <a:solidFill>
                  <a:srgbClr val="454240"/>
                </a:solidFill>
                <a:latin typeface="Libre Baskerville" pitchFamily="34" charset="0"/>
                <a:ea typeface="Libre Baskerville" pitchFamily="34" charset="-122"/>
                <a:cs typeface="Libre Baskerville" pitchFamily="34" charset="-120"/>
              </a:rPr>
              <a:t>1</a:t>
            </a:r>
            <a:endParaRPr lang="en-US" sz="2000" dirty="0"/>
          </a:p>
        </p:txBody>
      </p:sp>
      <p:sp>
        <p:nvSpPr>
          <p:cNvPr id="9" name="Text 6"/>
          <p:cNvSpPr/>
          <p:nvPr/>
        </p:nvSpPr>
        <p:spPr>
          <a:xfrm>
            <a:off x="7530346" y="2135386"/>
            <a:ext cx="2306360" cy="531495"/>
          </a:xfrm>
          <a:prstGeom prst="rect">
            <a:avLst/>
          </a:prstGeom>
          <a:noFill/>
          <a:ln/>
        </p:spPr>
        <p:txBody>
          <a:bodyPr wrap="square" lIns="0" tIns="0" rIns="0" bIns="0" rtlCol="0" anchor="t"/>
          <a:lstStyle/>
          <a:p>
            <a:pPr marL="0" indent="0" algn="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Multi-Criteria Analysis</a:t>
            </a:r>
            <a:endParaRPr lang="en-US" sz="1650" dirty="0"/>
          </a:p>
        </p:txBody>
      </p:sp>
      <p:sp>
        <p:nvSpPr>
          <p:cNvPr id="10" name="Text 7"/>
          <p:cNvSpPr/>
          <p:nvPr/>
        </p:nvSpPr>
        <p:spPr>
          <a:xfrm>
            <a:off x="7530346" y="2836902"/>
            <a:ext cx="2306360" cy="816531"/>
          </a:xfrm>
          <a:prstGeom prst="rect">
            <a:avLst/>
          </a:prstGeom>
          <a:noFill/>
          <a:ln/>
        </p:spPr>
        <p:txBody>
          <a:bodyPr wrap="square" lIns="0" tIns="0" rIns="0" bIns="0" rtlCol="0" anchor="t"/>
          <a:lstStyle/>
          <a:p>
            <a:pPr marL="0" indent="0" algn="r">
              <a:lnSpc>
                <a:spcPts val="2100"/>
              </a:lnSpc>
              <a:buNone/>
            </a:pPr>
            <a:r>
              <a:rPr lang="en-US" sz="1400" dirty="0">
                <a:solidFill>
                  <a:srgbClr val="454240"/>
                </a:solidFill>
                <a:latin typeface="DM Sans" pitchFamily="34" charset="0"/>
                <a:ea typeface="DM Sans" pitchFamily="34" charset="-122"/>
                <a:cs typeface="DM Sans" pitchFamily="34" charset="-120"/>
              </a:rPr>
              <a:t>Evaluates academic merit, socioeconomic need, and geographic equity.</a:t>
            </a:r>
            <a:endParaRPr lang="en-US" sz="1400" dirty="0"/>
          </a:p>
        </p:txBody>
      </p:sp>
      <p:sp>
        <p:nvSpPr>
          <p:cNvPr id="11" name="Shape 8"/>
          <p:cNvSpPr/>
          <p:nvPr/>
        </p:nvSpPr>
        <p:spPr>
          <a:xfrm>
            <a:off x="10855762" y="3277433"/>
            <a:ext cx="510302" cy="22860"/>
          </a:xfrm>
          <a:prstGeom prst="roundRect">
            <a:avLst>
              <a:gd name="adj" fmla="val 312558"/>
            </a:avLst>
          </a:prstGeom>
          <a:solidFill>
            <a:srgbClr val="DDD3BA"/>
          </a:solidFill>
          <a:ln/>
        </p:spPr>
      </p:sp>
      <p:sp>
        <p:nvSpPr>
          <p:cNvPr id="12" name="Shape 9"/>
          <p:cNvSpPr/>
          <p:nvPr/>
        </p:nvSpPr>
        <p:spPr>
          <a:xfrm>
            <a:off x="10495955" y="3097530"/>
            <a:ext cx="382667" cy="382667"/>
          </a:xfrm>
          <a:prstGeom prst="roundRect">
            <a:avLst>
              <a:gd name="adj" fmla="val 18672"/>
            </a:avLst>
          </a:prstGeom>
          <a:solidFill>
            <a:srgbClr val="F7EDD4"/>
          </a:solidFill>
          <a:ln w="7620">
            <a:solidFill>
              <a:srgbClr val="DDD3BA"/>
            </a:solidFill>
            <a:prstDash val="solid"/>
          </a:ln>
        </p:spPr>
      </p:sp>
      <p:sp>
        <p:nvSpPr>
          <p:cNvPr id="13" name="Text 10"/>
          <p:cNvSpPr/>
          <p:nvPr/>
        </p:nvSpPr>
        <p:spPr>
          <a:xfrm>
            <a:off x="10559713" y="3193078"/>
            <a:ext cx="255151" cy="318968"/>
          </a:xfrm>
          <a:prstGeom prst="rect">
            <a:avLst/>
          </a:prstGeom>
          <a:noFill/>
          <a:ln/>
        </p:spPr>
        <p:txBody>
          <a:bodyPr wrap="none" lIns="0" tIns="0" rIns="0" bIns="0" rtlCol="0" anchor="t"/>
          <a:lstStyle/>
          <a:p>
            <a:pPr marL="0" indent="0" algn="ctr">
              <a:lnSpc>
                <a:spcPts val="2000"/>
              </a:lnSpc>
              <a:buNone/>
            </a:pPr>
            <a:r>
              <a:rPr lang="en-US" sz="2000" dirty="0">
                <a:solidFill>
                  <a:srgbClr val="454240"/>
                </a:solidFill>
                <a:latin typeface="Libre Baskerville" pitchFamily="34" charset="0"/>
                <a:ea typeface="Libre Baskerville" pitchFamily="34" charset="-122"/>
                <a:cs typeface="Libre Baskerville" pitchFamily="34" charset="-120"/>
              </a:rPr>
              <a:t>2</a:t>
            </a:r>
            <a:endParaRPr lang="en-US" sz="2000" dirty="0"/>
          </a:p>
        </p:txBody>
      </p:sp>
      <p:sp>
        <p:nvSpPr>
          <p:cNvPr id="14" name="Text 11"/>
          <p:cNvSpPr/>
          <p:nvPr/>
        </p:nvSpPr>
        <p:spPr>
          <a:xfrm>
            <a:off x="11537871" y="3155990"/>
            <a:ext cx="2248853"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Bias-Free Processing</a:t>
            </a:r>
            <a:endParaRPr lang="en-US" sz="1650" dirty="0"/>
          </a:p>
        </p:txBody>
      </p:sp>
      <p:sp>
        <p:nvSpPr>
          <p:cNvPr id="15" name="Text 12"/>
          <p:cNvSpPr/>
          <p:nvPr/>
        </p:nvSpPr>
        <p:spPr>
          <a:xfrm>
            <a:off x="11537871" y="3591758"/>
            <a:ext cx="2306360" cy="544354"/>
          </a:xfrm>
          <a:prstGeom prst="rect">
            <a:avLst/>
          </a:prstGeom>
          <a:noFill/>
          <a:ln/>
        </p:spPr>
        <p:txBody>
          <a:bodyPr wrap="square" lIns="0" tIns="0" rIns="0" bIns="0" rtlCol="0" anchor="t"/>
          <a:lstStyle/>
          <a:p>
            <a:pPr marL="0" indent="0" algn="l">
              <a:lnSpc>
                <a:spcPts val="2100"/>
              </a:lnSpc>
              <a:buNone/>
            </a:pPr>
            <a:r>
              <a:rPr lang="en-US" sz="1400" dirty="0">
                <a:solidFill>
                  <a:srgbClr val="454240"/>
                </a:solidFill>
                <a:latin typeface="DM Sans" pitchFamily="34" charset="0"/>
                <a:ea typeface="DM Sans" pitchFamily="34" charset="-122"/>
                <a:cs typeface="DM Sans" pitchFamily="34" charset="-120"/>
              </a:rPr>
              <a:t>Eliminates human prejudice with objective algorithms.</a:t>
            </a:r>
            <a:endParaRPr lang="en-US" sz="1400" dirty="0"/>
          </a:p>
        </p:txBody>
      </p:sp>
      <p:sp>
        <p:nvSpPr>
          <p:cNvPr id="16" name="Shape 13"/>
          <p:cNvSpPr/>
          <p:nvPr/>
        </p:nvSpPr>
        <p:spPr>
          <a:xfrm>
            <a:off x="10008513" y="4173498"/>
            <a:ext cx="510302" cy="22860"/>
          </a:xfrm>
          <a:prstGeom prst="roundRect">
            <a:avLst>
              <a:gd name="adj" fmla="val 312558"/>
            </a:avLst>
          </a:prstGeom>
          <a:solidFill>
            <a:srgbClr val="DDD3BA"/>
          </a:solidFill>
          <a:ln/>
        </p:spPr>
      </p:sp>
      <p:sp>
        <p:nvSpPr>
          <p:cNvPr id="17" name="Shape 14"/>
          <p:cNvSpPr/>
          <p:nvPr/>
        </p:nvSpPr>
        <p:spPr>
          <a:xfrm>
            <a:off x="10495955" y="3993594"/>
            <a:ext cx="382667" cy="382667"/>
          </a:xfrm>
          <a:prstGeom prst="roundRect">
            <a:avLst>
              <a:gd name="adj" fmla="val 18672"/>
            </a:avLst>
          </a:prstGeom>
          <a:solidFill>
            <a:srgbClr val="F7EDD4"/>
          </a:solidFill>
          <a:ln w="7620">
            <a:solidFill>
              <a:srgbClr val="DDD3BA"/>
            </a:solidFill>
            <a:prstDash val="solid"/>
          </a:ln>
        </p:spPr>
      </p:sp>
      <p:sp>
        <p:nvSpPr>
          <p:cNvPr id="18" name="Text 15"/>
          <p:cNvSpPr/>
          <p:nvPr/>
        </p:nvSpPr>
        <p:spPr>
          <a:xfrm>
            <a:off x="10559713" y="4091226"/>
            <a:ext cx="255151" cy="318968"/>
          </a:xfrm>
          <a:prstGeom prst="rect">
            <a:avLst/>
          </a:prstGeom>
          <a:noFill/>
          <a:ln/>
        </p:spPr>
        <p:txBody>
          <a:bodyPr wrap="none" lIns="0" tIns="0" rIns="0" bIns="0" rtlCol="0" anchor="t"/>
          <a:lstStyle/>
          <a:p>
            <a:pPr marL="0" indent="0" algn="ctr">
              <a:lnSpc>
                <a:spcPts val="2000"/>
              </a:lnSpc>
              <a:buNone/>
            </a:pPr>
            <a:r>
              <a:rPr lang="en-US" sz="2000" dirty="0">
                <a:solidFill>
                  <a:srgbClr val="454240"/>
                </a:solidFill>
                <a:latin typeface="Libre Baskerville" pitchFamily="34" charset="0"/>
                <a:ea typeface="Libre Baskerville" pitchFamily="34" charset="-122"/>
                <a:cs typeface="Libre Baskerville" pitchFamily="34" charset="-120"/>
              </a:rPr>
              <a:t>3</a:t>
            </a:r>
            <a:endParaRPr lang="en-US" sz="2000" dirty="0"/>
          </a:p>
        </p:txBody>
      </p:sp>
      <p:sp>
        <p:nvSpPr>
          <p:cNvPr id="19" name="Text 16"/>
          <p:cNvSpPr/>
          <p:nvPr/>
        </p:nvSpPr>
        <p:spPr>
          <a:xfrm>
            <a:off x="7530346" y="4052054"/>
            <a:ext cx="2306360" cy="531495"/>
          </a:xfrm>
          <a:prstGeom prst="rect">
            <a:avLst/>
          </a:prstGeom>
          <a:noFill/>
          <a:ln/>
        </p:spPr>
        <p:txBody>
          <a:bodyPr wrap="square" lIns="0" tIns="0" rIns="0" bIns="0" rtlCol="0" anchor="t"/>
          <a:lstStyle/>
          <a:p>
            <a:pPr marL="0" indent="0" algn="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Dynamic Quota Management</a:t>
            </a:r>
            <a:endParaRPr lang="en-US" sz="1650" dirty="0"/>
          </a:p>
        </p:txBody>
      </p:sp>
      <p:sp>
        <p:nvSpPr>
          <p:cNvPr id="20" name="Text 17"/>
          <p:cNvSpPr/>
          <p:nvPr/>
        </p:nvSpPr>
        <p:spPr>
          <a:xfrm>
            <a:off x="7530346" y="4753570"/>
            <a:ext cx="2306360" cy="544354"/>
          </a:xfrm>
          <a:prstGeom prst="rect">
            <a:avLst/>
          </a:prstGeom>
          <a:noFill/>
          <a:ln/>
        </p:spPr>
        <p:txBody>
          <a:bodyPr wrap="square" lIns="0" tIns="0" rIns="0" bIns="0" rtlCol="0" anchor="t"/>
          <a:lstStyle/>
          <a:p>
            <a:pPr marL="0" indent="0" algn="r">
              <a:lnSpc>
                <a:spcPts val="2100"/>
              </a:lnSpc>
              <a:buNone/>
            </a:pPr>
            <a:r>
              <a:rPr lang="en-US" sz="1400" dirty="0">
                <a:solidFill>
                  <a:srgbClr val="454240"/>
                </a:solidFill>
                <a:latin typeface="DM Sans" pitchFamily="34" charset="0"/>
                <a:ea typeface="DM Sans" pitchFamily="34" charset="-122"/>
                <a:cs typeface="DM Sans" pitchFamily="34" charset="-120"/>
              </a:rPr>
              <a:t>Automatically balances quotas across all categories.</a:t>
            </a:r>
            <a:endParaRPr lang="en-US" sz="1400" dirty="0"/>
          </a:p>
        </p:txBody>
      </p:sp>
      <p:sp>
        <p:nvSpPr>
          <p:cNvPr id="21" name="Shape 18"/>
          <p:cNvSpPr/>
          <p:nvPr/>
        </p:nvSpPr>
        <p:spPr>
          <a:xfrm>
            <a:off x="10855762" y="5053251"/>
            <a:ext cx="510302" cy="22860"/>
          </a:xfrm>
          <a:prstGeom prst="roundRect">
            <a:avLst>
              <a:gd name="adj" fmla="val 312558"/>
            </a:avLst>
          </a:prstGeom>
          <a:solidFill>
            <a:srgbClr val="DDD3BA"/>
          </a:solidFill>
          <a:ln/>
        </p:spPr>
      </p:sp>
      <p:sp>
        <p:nvSpPr>
          <p:cNvPr id="22" name="Shape 19"/>
          <p:cNvSpPr/>
          <p:nvPr/>
        </p:nvSpPr>
        <p:spPr>
          <a:xfrm>
            <a:off x="10495955" y="4873347"/>
            <a:ext cx="382667" cy="382667"/>
          </a:xfrm>
          <a:prstGeom prst="roundRect">
            <a:avLst>
              <a:gd name="adj" fmla="val 18672"/>
            </a:avLst>
          </a:prstGeom>
          <a:solidFill>
            <a:srgbClr val="F7EDD4"/>
          </a:solidFill>
          <a:ln w="7620">
            <a:solidFill>
              <a:srgbClr val="DDD3BA"/>
            </a:solidFill>
            <a:prstDash val="solid"/>
          </a:ln>
        </p:spPr>
      </p:sp>
      <p:sp>
        <p:nvSpPr>
          <p:cNvPr id="23" name="Text 20"/>
          <p:cNvSpPr/>
          <p:nvPr/>
        </p:nvSpPr>
        <p:spPr>
          <a:xfrm>
            <a:off x="10559713" y="4968895"/>
            <a:ext cx="255151" cy="318968"/>
          </a:xfrm>
          <a:prstGeom prst="rect">
            <a:avLst/>
          </a:prstGeom>
          <a:noFill/>
          <a:ln/>
        </p:spPr>
        <p:txBody>
          <a:bodyPr wrap="none" lIns="0" tIns="0" rIns="0" bIns="0" rtlCol="0" anchor="t"/>
          <a:lstStyle/>
          <a:p>
            <a:pPr marL="0" indent="0" algn="ctr">
              <a:lnSpc>
                <a:spcPts val="2000"/>
              </a:lnSpc>
              <a:buNone/>
            </a:pPr>
            <a:r>
              <a:rPr lang="en-US" sz="2000" dirty="0">
                <a:solidFill>
                  <a:srgbClr val="454240"/>
                </a:solidFill>
                <a:latin typeface="Libre Baskerville" pitchFamily="34" charset="0"/>
                <a:ea typeface="Libre Baskerville" pitchFamily="34" charset="-122"/>
                <a:cs typeface="Libre Baskerville" pitchFamily="34" charset="-120"/>
              </a:rPr>
              <a:t>4</a:t>
            </a:r>
            <a:endParaRPr lang="en-US" sz="2000" dirty="0"/>
          </a:p>
        </p:txBody>
      </p:sp>
      <p:sp>
        <p:nvSpPr>
          <p:cNvPr id="24" name="Text 21"/>
          <p:cNvSpPr/>
          <p:nvPr/>
        </p:nvSpPr>
        <p:spPr>
          <a:xfrm>
            <a:off x="11537871" y="4931807"/>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Selection Analytics</a:t>
            </a:r>
            <a:endParaRPr lang="en-US" sz="1650" dirty="0"/>
          </a:p>
        </p:txBody>
      </p:sp>
      <p:sp>
        <p:nvSpPr>
          <p:cNvPr id="25" name="Text 22"/>
          <p:cNvSpPr/>
          <p:nvPr/>
        </p:nvSpPr>
        <p:spPr>
          <a:xfrm>
            <a:off x="11537871" y="5367576"/>
            <a:ext cx="2306360" cy="816531"/>
          </a:xfrm>
          <a:prstGeom prst="rect">
            <a:avLst/>
          </a:prstGeom>
          <a:noFill/>
          <a:ln/>
        </p:spPr>
        <p:txBody>
          <a:bodyPr wrap="square" lIns="0" tIns="0" rIns="0" bIns="0" rtlCol="0" anchor="t"/>
          <a:lstStyle/>
          <a:p>
            <a:pPr marL="0" indent="0" algn="l">
              <a:lnSpc>
                <a:spcPts val="2100"/>
              </a:lnSpc>
              <a:buNone/>
            </a:pPr>
            <a:r>
              <a:rPr lang="en-US" sz="1400" dirty="0">
                <a:solidFill>
                  <a:srgbClr val="454240"/>
                </a:solidFill>
                <a:latin typeface="DM Sans" pitchFamily="34" charset="0"/>
                <a:ea typeface="DM Sans" pitchFamily="34" charset="-122"/>
                <a:cs typeface="DM Sans" pitchFamily="34" charset="-120"/>
              </a:rPr>
              <a:t>Analyze scholarship application data and selection patterns.</a:t>
            </a:r>
            <a:endParaRPr lang="en-US" sz="1400" dirty="0"/>
          </a:p>
        </p:txBody>
      </p:sp>
      <p:sp>
        <p:nvSpPr>
          <p:cNvPr id="26" name="Shape 23"/>
          <p:cNvSpPr/>
          <p:nvPr/>
        </p:nvSpPr>
        <p:spPr>
          <a:xfrm>
            <a:off x="10008513" y="5933003"/>
            <a:ext cx="510302" cy="22860"/>
          </a:xfrm>
          <a:prstGeom prst="roundRect">
            <a:avLst>
              <a:gd name="adj" fmla="val 312558"/>
            </a:avLst>
          </a:prstGeom>
          <a:solidFill>
            <a:srgbClr val="DDD3BA"/>
          </a:solidFill>
          <a:ln/>
        </p:spPr>
      </p:sp>
      <p:sp>
        <p:nvSpPr>
          <p:cNvPr id="27" name="Shape 24"/>
          <p:cNvSpPr/>
          <p:nvPr/>
        </p:nvSpPr>
        <p:spPr>
          <a:xfrm>
            <a:off x="10495955" y="5753100"/>
            <a:ext cx="382667" cy="382667"/>
          </a:xfrm>
          <a:prstGeom prst="roundRect">
            <a:avLst>
              <a:gd name="adj" fmla="val 18672"/>
            </a:avLst>
          </a:prstGeom>
          <a:solidFill>
            <a:srgbClr val="F7EDD4"/>
          </a:solidFill>
          <a:ln w="7620">
            <a:solidFill>
              <a:srgbClr val="DDD3BA"/>
            </a:solidFill>
            <a:prstDash val="solid"/>
          </a:ln>
        </p:spPr>
      </p:sp>
      <p:sp>
        <p:nvSpPr>
          <p:cNvPr id="28" name="Text 25"/>
          <p:cNvSpPr/>
          <p:nvPr/>
        </p:nvSpPr>
        <p:spPr>
          <a:xfrm>
            <a:off x="10559713" y="5865139"/>
            <a:ext cx="255151" cy="318968"/>
          </a:xfrm>
          <a:prstGeom prst="rect">
            <a:avLst/>
          </a:prstGeom>
          <a:noFill/>
          <a:ln/>
        </p:spPr>
        <p:txBody>
          <a:bodyPr wrap="none" lIns="0" tIns="0" rIns="0" bIns="0" rtlCol="0" anchor="t"/>
          <a:lstStyle/>
          <a:p>
            <a:pPr marL="0" indent="0" algn="ctr">
              <a:lnSpc>
                <a:spcPts val="2000"/>
              </a:lnSpc>
              <a:buNone/>
            </a:pPr>
            <a:r>
              <a:rPr lang="en-US" sz="2000" dirty="0">
                <a:solidFill>
                  <a:srgbClr val="454240"/>
                </a:solidFill>
                <a:latin typeface="Libre Baskerville" pitchFamily="34" charset="0"/>
                <a:ea typeface="Libre Baskerville" pitchFamily="34" charset="-122"/>
                <a:cs typeface="Libre Baskerville" pitchFamily="34" charset="-120"/>
              </a:rPr>
              <a:t>5</a:t>
            </a:r>
            <a:endParaRPr lang="en-US" sz="2000" dirty="0"/>
          </a:p>
        </p:txBody>
      </p:sp>
      <p:sp>
        <p:nvSpPr>
          <p:cNvPr id="29" name="Text 26"/>
          <p:cNvSpPr/>
          <p:nvPr/>
        </p:nvSpPr>
        <p:spPr>
          <a:xfrm>
            <a:off x="7530346" y="5811560"/>
            <a:ext cx="2306360" cy="531495"/>
          </a:xfrm>
          <a:prstGeom prst="rect">
            <a:avLst/>
          </a:prstGeom>
          <a:noFill/>
          <a:ln/>
        </p:spPr>
        <p:txBody>
          <a:bodyPr wrap="square" lIns="0" tIns="0" rIns="0" bIns="0" rtlCol="0" anchor="t"/>
          <a:lstStyle/>
          <a:p>
            <a:pPr marL="0" indent="0" algn="r">
              <a:lnSpc>
                <a:spcPts val="2050"/>
              </a:lnSpc>
              <a:buNone/>
            </a:pPr>
            <a:r>
              <a:rPr lang="en-US" sz="1650" dirty="0">
                <a:solidFill>
                  <a:srgbClr val="454240"/>
                </a:solidFill>
                <a:latin typeface="Libre Baskerville" pitchFamily="34" charset="0"/>
                <a:ea typeface="Libre Baskerville" pitchFamily="34" charset="-122"/>
                <a:cs typeface="Libre Baskerville" pitchFamily="34" charset="-120"/>
              </a:rPr>
              <a:t>Reserve Pool Intelligence</a:t>
            </a:r>
            <a:endParaRPr lang="en-US" sz="1650" dirty="0"/>
          </a:p>
        </p:txBody>
      </p:sp>
      <p:sp>
        <p:nvSpPr>
          <p:cNvPr id="30" name="Text 27"/>
          <p:cNvSpPr/>
          <p:nvPr/>
        </p:nvSpPr>
        <p:spPr>
          <a:xfrm>
            <a:off x="7530346" y="6513076"/>
            <a:ext cx="2306360" cy="816531"/>
          </a:xfrm>
          <a:prstGeom prst="rect">
            <a:avLst/>
          </a:prstGeom>
          <a:noFill/>
          <a:ln/>
        </p:spPr>
        <p:txBody>
          <a:bodyPr wrap="square" lIns="0" tIns="0" rIns="0" bIns="0" rtlCol="0" anchor="t"/>
          <a:lstStyle/>
          <a:p>
            <a:pPr marL="0" indent="0" algn="r">
              <a:lnSpc>
                <a:spcPts val="2100"/>
              </a:lnSpc>
              <a:buNone/>
            </a:pPr>
            <a:r>
              <a:rPr lang="en-US" sz="1400" dirty="0">
                <a:solidFill>
                  <a:srgbClr val="454240"/>
                </a:solidFill>
                <a:latin typeface="DM Sans" pitchFamily="34" charset="0"/>
                <a:ea typeface="DM Sans" pitchFamily="34" charset="-122"/>
                <a:cs typeface="DM Sans" pitchFamily="34" charset="-120"/>
              </a:rPr>
              <a:t>Maintains optimal backup candidates for 100% utilization.</a:t>
            </a:r>
            <a:endParaRPr lang="en-US" sz="1400" dirty="0"/>
          </a:p>
        </p:txBody>
      </p:sp>
      <p:sp>
        <p:nvSpPr>
          <p:cNvPr id="31" name="Text 0">
            <a:extLst>
              <a:ext uri="{FF2B5EF4-FFF2-40B4-BE49-F238E27FC236}">
                <a16:creationId xmlns:a16="http://schemas.microsoft.com/office/drawing/2014/main" id="{CBC61D6D-9119-58BF-55E9-4A835097B3C1}"/>
              </a:ext>
            </a:extLst>
          </p:cNvPr>
          <p:cNvSpPr/>
          <p:nvPr/>
        </p:nvSpPr>
        <p:spPr>
          <a:xfrm>
            <a:off x="907419" y="380749"/>
            <a:ext cx="7394853" cy="696516"/>
          </a:xfrm>
          <a:prstGeom prst="rect">
            <a:avLst/>
          </a:prstGeom>
          <a:noFill/>
          <a:ln/>
        </p:spPr>
        <p:txBody>
          <a:bodyPr wrap="none" lIns="0" tIns="0" rIns="0" bIns="0" rtlCol="0" anchor="t"/>
          <a:lstStyle/>
          <a:p>
            <a:pPr marL="0" indent="0" algn="l">
              <a:lnSpc>
                <a:spcPts val="5450"/>
              </a:lnSpc>
              <a:buNone/>
            </a:pPr>
            <a:r>
              <a:rPr lang="en-US" sz="2200" dirty="0">
                <a:solidFill>
                  <a:srgbClr val="5C4E3D"/>
                </a:solidFill>
                <a:latin typeface="Libre Baskerville" pitchFamily="34" charset="0"/>
                <a:ea typeface="Libre Baskerville" pitchFamily="34" charset="-122"/>
                <a:cs typeface="Libre Baskerville" pitchFamily="34" charset="-120"/>
              </a:rPr>
              <a:t>5. Key Features &amp; Benefits</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0098" y="612934"/>
            <a:ext cx="7394853" cy="696516"/>
          </a:xfrm>
          <a:prstGeom prst="rect">
            <a:avLst/>
          </a:prstGeom>
          <a:noFill/>
          <a:ln/>
        </p:spPr>
        <p:txBody>
          <a:bodyPr wrap="none" lIns="0" tIns="0" rIns="0" bIns="0" rtlCol="0" anchor="t"/>
          <a:lstStyle/>
          <a:p>
            <a:pPr marL="0" indent="0" algn="l">
              <a:lnSpc>
                <a:spcPts val="5450"/>
              </a:lnSpc>
              <a:buNone/>
            </a:pPr>
            <a:r>
              <a:rPr lang="en-US" sz="2200" dirty="0">
                <a:solidFill>
                  <a:srgbClr val="5C4E3D"/>
                </a:solidFill>
                <a:latin typeface="Libre Baskerville" pitchFamily="34" charset="0"/>
              </a:rPr>
              <a:t>5. Key Features &amp; Benefits</a:t>
            </a:r>
          </a:p>
        </p:txBody>
      </p:sp>
      <p:sp>
        <p:nvSpPr>
          <p:cNvPr id="3" name="Text 1"/>
          <p:cNvSpPr/>
          <p:nvPr/>
        </p:nvSpPr>
        <p:spPr>
          <a:xfrm>
            <a:off x="780098" y="1643777"/>
            <a:ext cx="7181969" cy="564833"/>
          </a:xfrm>
          <a:prstGeom prst="rect">
            <a:avLst/>
          </a:prstGeom>
          <a:noFill/>
          <a:ln/>
        </p:spPr>
        <p:txBody>
          <a:bodyPr wrap="none" lIns="0" tIns="0" rIns="0" bIns="0" rtlCol="0" anchor="t"/>
          <a:lstStyle/>
          <a:p>
            <a:pPr marL="0" indent="0" algn="l">
              <a:lnSpc>
                <a:spcPts val="4350"/>
              </a:lnSpc>
              <a:buNone/>
            </a:pPr>
            <a:r>
              <a:rPr lang="en-US" sz="3500" dirty="0">
                <a:solidFill>
                  <a:srgbClr val="000000"/>
                </a:solidFill>
                <a:latin typeface="Libre Baskerville" pitchFamily="34" charset="0"/>
                <a:ea typeface="Libre Baskerville" pitchFamily="34" charset="-122"/>
                <a:cs typeface="Libre Baskerville" pitchFamily="34" charset="-120"/>
              </a:rPr>
              <a:t>🤖</a:t>
            </a:r>
            <a:r>
              <a:rPr lang="en-US" sz="3500" dirty="0">
                <a:solidFill>
                  <a:srgbClr val="5C4E3D"/>
                </a:solidFill>
                <a:latin typeface="Libre Baskerville" pitchFamily="34" charset="0"/>
                <a:ea typeface="Libre Baskerville" pitchFamily="34" charset="-122"/>
                <a:cs typeface="Libre Baskerville" pitchFamily="34" charset="-120"/>
              </a:rPr>
              <a:t> </a:t>
            </a:r>
            <a:r>
              <a:rPr lang="en-US" sz="3600" dirty="0">
                <a:solidFill>
                  <a:srgbClr val="B88E23"/>
                </a:solidFill>
                <a:latin typeface="Libre Baskerville" pitchFamily="34" charset="0"/>
              </a:rPr>
              <a:t>Automated Selection Engine</a:t>
            </a:r>
          </a:p>
        </p:txBody>
      </p:sp>
      <p:sp>
        <p:nvSpPr>
          <p:cNvPr id="4" name="Text 2"/>
          <p:cNvSpPr/>
          <p:nvPr/>
        </p:nvSpPr>
        <p:spPr>
          <a:xfrm>
            <a:off x="780098" y="2542937"/>
            <a:ext cx="5370076" cy="417909"/>
          </a:xfrm>
          <a:prstGeom prst="rect">
            <a:avLst/>
          </a:prstGeom>
          <a:noFill/>
          <a:ln/>
        </p:spPr>
        <p:txBody>
          <a:bodyPr wrap="none" lIns="0" tIns="0" rIns="0" bIns="0" rtlCol="0" anchor="t"/>
          <a:lstStyle/>
          <a:p>
            <a:pPr marL="0" indent="0" algn="l">
              <a:lnSpc>
                <a:spcPts val="3250"/>
              </a:lnSpc>
              <a:buNone/>
            </a:pPr>
            <a:r>
              <a:rPr lang="en-US" sz="2400" dirty="0">
                <a:solidFill>
                  <a:srgbClr val="5C4E3D"/>
                </a:solidFill>
                <a:latin typeface="Libre Baskerville" pitchFamily="34" charset="0"/>
              </a:rPr>
              <a:t>Breakthrough Fairness Benefits</a:t>
            </a:r>
          </a:p>
        </p:txBody>
      </p:sp>
      <p:sp>
        <p:nvSpPr>
          <p:cNvPr id="5" name="Shape 3"/>
          <p:cNvSpPr/>
          <p:nvPr/>
        </p:nvSpPr>
        <p:spPr>
          <a:xfrm>
            <a:off x="780098" y="3295174"/>
            <a:ext cx="4208145" cy="2050137"/>
          </a:xfrm>
          <a:prstGeom prst="roundRect">
            <a:avLst>
              <a:gd name="adj" fmla="val 4567"/>
            </a:avLst>
          </a:prstGeom>
          <a:solidFill>
            <a:srgbClr val="FFFDFA"/>
          </a:solidFill>
          <a:ln w="30480">
            <a:solidFill>
              <a:srgbClr val="DDD3BA"/>
            </a:solidFill>
            <a:prstDash val="solid"/>
          </a:ln>
        </p:spPr>
      </p:sp>
      <p:sp>
        <p:nvSpPr>
          <p:cNvPr id="6" name="Shape 4"/>
          <p:cNvSpPr/>
          <p:nvPr/>
        </p:nvSpPr>
        <p:spPr>
          <a:xfrm>
            <a:off x="780098" y="3295174"/>
            <a:ext cx="121920" cy="2050137"/>
          </a:xfrm>
          <a:prstGeom prst="roundRect">
            <a:avLst>
              <a:gd name="adj" fmla="val 76789"/>
            </a:avLst>
          </a:prstGeom>
          <a:solidFill>
            <a:srgbClr val="B88E23"/>
          </a:solidFill>
          <a:ln/>
        </p:spPr>
      </p:sp>
      <p:sp>
        <p:nvSpPr>
          <p:cNvPr id="7" name="Text 5"/>
          <p:cNvSpPr/>
          <p:nvPr/>
        </p:nvSpPr>
        <p:spPr>
          <a:xfrm>
            <a:off x="1155383" y="3548539"/>
            <a:ext cx="3542705" cy="348258"/>
          </a:xfrm>
          <a:prstGeom prst="rect">
            <a:avLst/>
          </a:prstGeom>
          <a:noFill/>
          <a:ln/>
        </p:spPr>
        <p:txBody>
          <a:bodyPr wrap="non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100% Objective Selection</a:t>
            </a:r>
            <a:endParaRPr lang="en-US" sz="2150" dirty="0"/>
          </a:p>
        </p:txBody>
      </p:sp>
      <p:sp>
        <p:nvSpPr>
          <p:cNvPr id="8" name="Text 6"/>
          <p:cNvSpPr/>
          <p:nvPr/>
        </p:nvSpPr>
        <p:spPr>
          <a:xfrm>
            <a:off x="1155383" y="4030504"/>
            <a:ext cx="3579495" cy="713184"/>
          </a:xfrm>
          <a:prstGeom prst="rect">
            <a:avLst/>
          </a:prstGeom>
          <a:noFill/>
          <a:ln/>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Eliminating all human bias and favoritism.</a:t>
            </a:r>
            <a:endParaRPr lang="en-US" sz="1750" dirty="0"/>
          </a:p>
        </p:txBody>
      </p:sp>
      <p:sp>
        <p:nvSpPr>
          <p:cNvPr id="9" name="Shape 7"/>
          <p:cNvSpPr/>
          <p:nvPr/>
        </p:nvSpPr>
        <p:spPr>
          <a:xfrm>
            <a:off x="5211128" y="3295174"/>
            <a:ext cx="4208145" cy="2050137"/>
          </a:xfrm>
          <a:prstGeom prst="roundRect">
            <a:avLst>
              <a:gd name="adj" fmla="val 4567"/>
            </a:avLst>
          </a:prstGeom>
          <a:solidFill>
            <a:srgbClr val="FFFDFA"/>
          </a:solidFill>
          <a:ln w="30480">
            <a:solidFill>
              <a:srgbClr val="DDD3BA"/>
            </a:solidFill>
            <a:prstDash val="solid"/>
          </a:ln>
        </p:spPr>
      </p:sp>
      <p:sp>
        <p:nvSpPr>
          <p:cNvPr id="10" name="Shape 8"/>
          <p:cNvSpPr/>
          <p:nvPr/>
        </p:nvSpPr>
        <p:spPr>
          <a:xfrm>
            <a:off x="5211128" y="3295174"/>
            <a:ext cx="121920" cy="2050137"/>
          </a:xfrm>
          <a:prstGeom prst="roundRect">
            <a:avLst>
              <a:gd name="adj" fmla="val 76789"/>
            </a:avLst>
          </a:prstGeom>
          <a:solidFill>
            <a:srgbClr val="B88E23"/>
          </a:solidFill>
          <a:ln/>
        </p:spPr>
      </p:sp>
      <p:sp>
        <p:nvSpPr>
          <p:cNvPr id="11" name="Text 9"/>
          <p:cNvSpPr/>
          <p:nvPr/>
        </p:nvSpPr>
        <p:spPr>
          <a:xfrm>
            <a:off x="5586413" y="3548539"/>
            <a:ext cx="3579495" cy="696516"/>
          </a:xfrm>
          <a:prstGeom prst="rect">
            <a:avLst/>
          </a:prstGeom>
          <a:noFill/>
          <a:ln/>
        </p:spPr>
        <p:txBody>
          <a:bodyPr wrap="squar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Increase in Rural Scholarships</a:t>
            </a:r>
            <a:endParaRPr lang="en-US" sz="2150" dirty="0"/>
          </a:p>
        </p:txBody>
      </p:sp>
      <p:sp>
        <p:nvSpPr>
          <p:cNvPr id="12" name="Text 10"/>
          <p:cNvSpPr/>
          <p:nvPr/>
        </p:nvSpPr>
        <p:spPr>
          <a:xfrm>
            <a:off x="5586413" y="4378762"/>
            <a:ext cx="3579495" cy="713184"/>
          </a:xfrm>
          <a:prstGeom prst="rect">
            <a:avLst/>
          </a:prstGeom>
          <a:noFill/>
          <a:ln/>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Through geographic equity algorithms.</a:t>
            </a:r>
            <a:endParaRPr lang="en-US" sz="1750" dirty="0"/>
          </a:p>
        </p:txBody>
      </p:sp>
      <p:sp>
        <p:nvSpPr>
          <p:cNvPr id="13" name="Shape 11"/>
          <p:cNvSpPr/>
          <p:nvPr/>
        </p:nvSpPr>
        <p:spPr>
          <a:xfrm>
            <a:off x="9642158" y="3295174"/>
            <a:ext cx="4208145" cy="2050137"/>
          </a:xfrm>
          <a:prstGeom prst="roundRect">
            <a:avLst>
              <a:gd name="adj" fmla="val 4567"/>
            </a:avLst>
          </a:prstGeom>
          <a:solidFill>
            <a:srgbClr val="FFFDFA"/>
          </a:solidFill>
          <a:ln w="30480">
            <a:solidFill>
              <a:srgbClr val="DDD3BA"/>
            </a:solidFill>
            <a:prstDash val="solid"/>
          </a:ln>
        </p:spPr>
      </p:sp>
      <p:sp>
        <p:nvSpPr>
          <p:cNvPr id="14" name="Shape 12"/>
          <p:cNvSpPr/>
          <p:nvPr/>
        </p:nvSpPr>
        <p:spPr>
          <a:xfrm>
            <a:off x="9642158" y="3295174"/>
            <a:ext cx="121920" cy="2050137"/>
          </a:xfrm>
          <a:prstGeom prst="roundRect">
            <a:avLst>
              <a:gd name="adj" fmla="val 76789"/>
            </a:avLst>
          </a:prstGeom>
          <a:solidFill>
            <a:srgbClr val="B88E23"/>
          </a:solidFill>
          <a:ln/>
        </p:spPr>
      </p:sp>
      <p:sp>
        <p:nvSpPr>
          <p:cNvPr id="15" name="Text 13"/>
          <p:cNvSpPr/>
          <p:nvPr/>
        </p:nvSpPr>
        <p:spPr>
          <a:xfrm>
            <a:off x="10017443" y="3548539"/>
            <a:ext cx="3579495" cy="696516"/>
          </a:xfrm>
          <a:prstGeom prst="rect">
            <a:avLst/>
          </a:prstGeom>
          <a:noFill/>
          <a:ln/>
        </p:spPr>
        <p:txBody>
          <a:bodyPr wrap="squar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Perfect Quota Distribution</a:t>
            </a:r>
            <a:endParaRPr lang="en-US" sz="2150" dirty="0"/>
          </a:p>
        </p:txBody>
      </p:sp>
      <p:sp>
        <p:nvSpPr>
          <p:cNvPr id="16" name="Text 14"/>
          <p:cNvSpPr/>
          <p:nvPr/>
        </p:nvSpPr>
        <p:spPr>
          <a:xfrm>
            <a:off x="10017443" y="4378762"/>
            <a:ext cx="3579495" cy="713184"/>
          </a:xfrm>
          <a:prstGeom prst="rect">
            <a:avLst/>
          </a:prstGeom>
          <a:noFill/>
          <a:ln/>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Across all demographic categories.</a:t>
            </a:r>
            <a:endParaRPr lang="en-US" sz="1750" dirty="0"/>
          </a:p>
        </p:txBody>
      </p:sp>
      <p:sp>
        <p:nvSpPr>
          <p:cNvPr id="17" name="Shape 15"/>
          <p:cNvSpPr/>
          <p:nvPr/>
        </p:nvSpPr>
        <p:spPr>
          <a:xfrm>
            <a:off x="780098" y="5568196"/>
            <a:ext cx="4208145" cy="2050137"/>
          </a:xfrm>
          <a:prstGeom prst="roundRect">
            <a:avLst>
              <a:gd name="adj" fmla="val 4567"/>
            </a:avLst>
          </a:prstGeom>
          <a:solidFill>
            <a:srgbClr val="FFFDFA"/>
          </a:solidFill>
          <a:ln w="30480">
            <a:solidFill>
              <a:srgbClr val="DDD3BA"/>
            </a:solidFill>
            <a:prstDash val="solid"/>
          </a:ln>
        </p:spPr>
      </p:sp>
      <p:sp>
        <p:nvSpPr>
          <p:cNvPr id="18" name="Shape 16"/>
          <p:cNvSpPr/>
          <p:nvPr/>
        </p:nvSpPr>
        <p:spPr>
          <a:xfrm>
            <a:off x="780098" y="5568196"/>
            <a:ext cx="121920" cy="2050137"/>
          </a:xfrm>
          <a:prstGeom prst="roundRect">
            <a:avLst>
              <a:gd name="adj" fmla="val 76789"/>
            </a:avLst>
          </a:prstGeom>
          <a:solidFill>
            <a:srgbClr val="B88E23"/>
          </a:solidFill>
          <a:ln/>
        </p:spPr>
      </p:sp>
      <p:sp>
        <p:nvSpPr>
          <p:cNvPr id="19" name="Text 17"/>
          <p:cNvSpPr/>
          <p:nvPr/>
        </p:nvSpPr>
        <p:spPr>
          <a:xfrm>
            <a:off x="1155383" y="5821561"/>
            <a:ext cx="3579495" cy="696516"/>
          </a:xfrm>
          <a:prstGeom prst="rect">
            <a:avLst/>
          </a:prstGeom>
          <a:noFill/>
          <a:ln/>
        </p:spPr>
        <p:txBody>
          <a:bodyPr wrap="squar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Eliminate Corruption Completely</a:t>
            </a:r>
            <a:endParaRPr lang="en-US" sz="2150" dirty="0"/>
          </a:p>
        </p:txBody>
      </p:sp>
      <p:sp>
        <p:nvSpPr>
          <p:cNvPr id="20" name="Text 18"/>
          <p:cNvSpPr/>
          <p:nvPr/>
        </p:nvSpPr>
        <p:spPr>
          <a:xfrm>
            <a:off x="1155383" y="6651784"/>
            <a:ext cx="3579495" cy="713184"/>
          </a:xfrm>
          <a:prstGeom prst="rect">
            <a:avLst/>
          </a:prstGeom>
          <a:noFill/>
          <a:ln/>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With transparent, auditable processes.</a:t>
            </a:r>
            <a:endParaRPr lang="en-US" sz="1750" dirty="0"/>
          </a:p>
        </p:txBody>
      </p:sp>
      <p:sp>
        <p:nvSpPr>
          <p:cNvPr id="21" name="Shape 19"/>
          <p:cNvSpPr/>
          <p:nvPr/>
        </p:nvSpPr>
        <p:spPr>
          <a:xfrm>
            <a:off x="5211128" y="5568196"/>
            <a:ext cx="4208145" cy="2050137"/>
          </a:xfrm>
          <a:prstGeom prst="roundRect">
            <a:avLst>
              <a:gd name="adj" fmla="val 4567"/>
            </a:avLst>
          </a:prstGeom>
          <a:solidFill>
            <a:srgbClr val="FFFDFA"/>
          </a:solidFill>
          <a:ln w="30480">
            <a:solidFill>
              <a:srgbClr val="DDD3BA"/>
            </a:solidFill>
            <a:prstDash val="solid"/>
          </a:ln>
        </p:spPr>
      </p:sp>
      <p:sp>
        <p:nvSpPr>
          <p:cNvPr id="22" name="Shape 20"/>
          <p:cNvSpPr/>
          <p:nvPr/>
        </p:nvSpPr>
        <p:spPr>
          <a:xfrm>
            <a:off x="5211128" y="5568196"/>
            <a:ext cx="121920" cy="2050137"/>
          </a:xfrm>
          <a:prstGeom prst="roundRect">
            <a:avLst>
              <a:gd name="adj" fmla="val 76789"/>
            </a:avLst>
          </a:prstGeom>
          <a:solidFill>
            <a:srgbClr val="B88E23"/>
          </a:solidFill>
          <a:ln/>
        </p:spPr>
      </p:sp>
      <p:sp>
        <p:nvSpPr>
          <p:cNvPr id="23" name="Text 21"/>
          <p:cNvSpPr/>
          <p:nvPr/>
        </p:nvSpPr>
        <p:spPr>
          <a:xfrm>
            <a:off x="5586413" y="5821561"/>
            <a:ext cx="3579495" cy="696516"/>
          </a:xfrm>
          <a:prstGeom prst="rect">
            <a:avLst/>
          </a:prstGeom>
          <a:noFill/>
          <a:ln/>
        </p:spPr>
        <p:txBody>
          <a:bodyPr wrap="square" lIns="0" tIns="0" rIns="0" bIns="0" rtlCol="0" anchor="t"/>
          <a:lstStyle/>
          <a:p>
            <a:pPr marL="0" indent="0" algn="l">
              <a:lnSpc>
                <a:spcPts val="2700"/>
              </a:lnSpc>
              <a:buNone/>
            </a:pPr>
            <a:r>
              <a:rPr lang="en-US" sz="2150" dirty="0">
                <a:solidFill>
                  <a:srgbClr val="454240"/>
                </a:solidFill>
                <a:latin typeface="Libre Baskerville" pitchFamily="34" charset="0"/>
                <a:ea typeface="Libre Baskerville" pitchFamily="34" charset="-122"/>
                <a:cs typeface="Libre Baskerville" pitchFamily="34" charset="-120"/>
              </a:rPr>
              <a:t>Maximize Scholarship Utilization</a:t>
            </a:r>
            <a:endParaRPr lang="en-US" sz="2150" dirty="0"/>
          </a:p>
        </p:txBody>
      </p:sp>
      <p:sp>
        <p:nvSpPr>
          <p:cNvPr id="24" name="Text 22"/>
          <p:cNvSpPr/>
          <p:nvPr/>
        </p:nvSpPr>
        <p:spPr>
          <a:xfrm>
            <a:off x="5586413" y="6651784"/>
            <a:ext cx="3579495" cy="713184"/>
          </a:xfrm>
          <a:prstGeom prst="rect">
            <a:avLst/>
          </a:prstGeom>
          <a:noFill/>
          <a:ln/>
        </p:spPr>
        <p:txBody>
          <a:bodyPr wrap="square" lIns="0" tIns="0" rIns="0" bIns="0" rtlCol="0" anchor="t"/>
          <a:lstStyle/>
          <a:p>
            <a:pPr marL="0" indent="0" algn="l">
              <a:lnSpc>
                <a:spcPts val="2800"/>
              </a:lnSpc>
              <a:buNone/>
            </a:pPr>
            <a:r>
              <a:rPr lang="en-US" sz="1750" dirty="0">
                <a:solidFill>
                  <a:srgbClr val="454240"/>
                </a:solidFill>
                <a:latin typeface="DM Sans" pitchFamily="34" charset="0"/>
                <a:ea typeface="DM Sans" pitchFamily="34" charset="-122"/>
                <a:cs typeface="DM Sans" pitchFamily="34" charset="-120"/>
              </a:rPr>
              <a:t>Ensuring no opportunities are wasted.</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8669" y="616625"/>
            <a:ext cx="5854184" cy="590907"/>
          </a:xfrm>
          <a:prstGeom prst="rect">
            <a:avLst/>
          </a:prstGeom>
          <a:noFill/>
          <a:ln/>
        </p:spPr>
        <p:txBody>
          <a:bodyPr wrap="none" lIns="0" tIns="0" rIns="0" bIns="0" rtlCol="0" anchor="t"/>
          <a:lstStyle/>
          <a:p>
            <a:pPr marL="0" indent="0" algn="l">
              <a:lnSpc>
                <a:spcPts val="4650"/>
              </a:lnSpc>
              <a:buNone/>
            </a:pPr>
            <a:r>
              <a:rPr lang="en-US" sz="2200" dirty="0">
                <a:solidFill>
                  <a:srgbClr val="5C4E3D"/>
                </a:solidFill>
                <a:latin typeface="Libre Baskerville" pitchFamily="34" charset="0"/>
              </a:rPr>
              <a:t>6. Technical Capabilities</a:t>
            </a:r>
          </a:p>
        </p:txBody>
      </p:sp>
      <p:sp>
        <p:nvSpPr>
          <p:cNvPr id="3" name="Text 1"/>
          <p:cNvSpPr/>
          <p:nvPr/>
        </p:nvSpPr>
        <p:spPr>
          <a:xfrm>
            <a:off x="778669" y="1491139"/>
            <a:ext cx="6675001" cy="472797"/>
          </a:xfrm>
          <a:prstGeom prst="rect">
            <a:avLst/>
          </a:prstGeom>
          <a:noFill/>
          <a:ln/>
        </p:spPr>
        <p:txBody>
          <a:bodyPr wrap="none" lIns="0" tIns="0" rIns="0" bIns="0" rtlCol="0" anchor="t"/>
          <a:lstStyle/>
          <a:p>
            <a:pPr marL="0" indent="0" algn="l">
              <a:lnSpc>
                <a:spcPts val="3700"/>
              </a:lnSpc>
              <a:buNone/>
            </a:pPr>
            <a:r>
              <a:rPr lang="en-US" sz="3600" dirty="0">
                <a:solidFill>
                  <a:srgbClr val="B88E23"/>
                </a:solidFill>
                <a:latin typeface="Libre Baskerville" pitchFamily="34" charset="0"/>
              </a:rPr>
              <a:t>Revolutionary Platform Features</a:t>
            </a:r>
          </a:p>
        </p:txBody>
      </p:sp>
      <p:sp>
        <p:nvSpPr>
          <p:cNvPr id="5" name="Text 2"/>
          <p:cNvSpPr/>
          <p:nvPr/>
        </p:nvSpPr>
        <p:spPr>
          <a:xfrm>
            <a:off x="6199942" y="2436614"/>
            <a:ext cx="3329940" cy="354568"/>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Libre Baskerville" pitchFamily="34" charset="0"/>
                <a:ea typeface="Libre Baskerville" pitchFamily="34" charset="-122"/>
                <a:cs typeface="Libre Baskerville" pitchFamily="34" charset="-120"/>
              </a:rPr>
              <a:t>📱</a:t>
            </a:r>
            <a:r>
              <a:rPr lang="en-US" sz="2200" dirty="0">
                <a:solidFill>
                  <a:srgbClr val="5C4E3D"/>
                </a:solidFill>
                <a:latin typeface="Libre Baskerville" pitchFamily="34" charset="0"/>
                <a:ea typeface="Libre Baskerville" pitchFamily="34" charset="-122"/>
                <a:cs typeface="Libre Baskerville" pitchFamily="34" charset="-120"/>
              </a:rPr>
              <a:t> Mobile-First Design</a:t>
            </a:r>
            <a:endParaRPr lang="en-US" sz="2200" dirty="0"/>
          </a:p>
        </p:txBody>
      </p:sp>
      <p:pic>
        <p:nvPicPr>
          <p:cNvPr id="6" name="Image 1" descr="preencoded.png"/>
          <p:cNvPicPr>
            <a:picLocks noChangeAspect="1"/>
          </p:cNvPicPr>
          <p:nvPr/>
        </p:nvPicPr>
        <p:blipFill>
          <a:blip r:embed="rId3"/>
          <a:stretch>
            <a:fillRect/>
          </a:stretch>
        </p:blipFill>
        <p:spPr>
          <a:xfrm>
            <a:off x="6270903" y="3148071"/>
            <a:ext cx="283607" cy="354568"/>
          </a:xfrm>
          <a:prstGeom prst="rect">
            <a:avLst/>
          </a:prstGeom>
        </p:spPr>
      </p:pic>
      <p:sp>
        <p:nvSpPr>
          <p:cNvPr id="7" name="Text 3"/>
          <p:cNvSpPr/>
          <p:nvPr/>
        </p:nvSpPr>
        <p:spPr>
          <a:xfrm>
            <a:off x="6814542" y="3174146"/>
            <a:ext cx="7044690" cy="302419"/>
          </a:xfrm>
          <a:prstGeom prst="rect">
            <a:avLst/>
          </a:prstGeom>
          <a:noFill/>
          <a:ln/>
        </p:spPr>
        <p:txBody>
          <a:bodyPr wrap="none" lIns="0" tIns="0" rIns="0" bIns="0" rtlCol="0" anchor="t"/>
          <a:lstStyle/>
          <a:p>
            <a:pPr marL="0" indent="0" algn="l">
              <a:lnSpc>
                <a:spcPts val="2350"/>
              </a:lnSpc>
              <a:buNone/>
            </a:pPr>
            <a:r>
              <a:rPr lang="en-US" sz="1600" b="1" dirty="0">
                <a:solidFill>
                  <a:srgbClr val="454240"/>
                </a:solidFill>
                <a:latin typeface="DM Sans" pitchFamily="34" charset="0"/>
                <a:ea typeface="DM Sans" pitchFamily="34" charset="-122"/>
                <a:cs typeface="DM Sans" pitchFamily="34" charset="-120"/>
              </a:rPr>
              <a:t>Responsive Design</a:t>
            </a:r>
            <a:r>
              <a:rPr lang="en-US" sz="1600" dirty="0">
                <a:solidFill>
                  <a:srgbClr val="454240"/>
                </a:solidFill>
                <a:latin typeface="DM Sans" pitchFamily="34" charset="0"/>
                <a:ea typeface="DM Sans" pitchFamily="34" charset="-122"/>
                <a:cs typeface="DM Sans" pitchFamily="34" charset="-120"/>
              </a:rPr>
              <a:t> working perfectly on all screen sizes.</a:t>
            </a:r>
            <a:endParaRPr lang="en-US" sz="1600" dirty="0"/>
          </a:p>
        </p:txBody>
      </p:sp>
      <p:pic>
        <p:nvPicPr>
          <p:cNvPr id="8" name="Image 2" descr="preencoded.png"/>
          <p:cNvPicPr>
            <a:picLocks noChangeAspect="1"/>
          </p:cNvPicPr>
          <p:nvPr/>
        </p:nvPicPr>
        <p:blipFill>
          <a:blip r:embed="rId3"/>
          <a:stretch>
            <a:fillRect/>
          </a:stretch>
        </p:blipFill>
        <p:spPr>
          <a:xfrm>
            <a:off x="6270903" y="3965704"/>
            <a:ext cx="283607" cy="354568"/>
          </a:xfrm>
          <a:prstGeom prst="rect">
            <a:avLst/>
          </a:prstGeom>
        </p:spPr>
      </p:pic>
      <p:sp>
        <p:nvSpPr>
          <p:cNvPr id="9" name="Text 4"/>
          <p:cNvSpPr/>
          <p:nvPr/>
        </p:nvSpPr>
        <p:spPr>
          <a:xfrm>
            <a:off x="6814542" y="3991779"/>
            <a:ext cx="7044690" cy="302419"/>
          </a:xfrm>
          <a:prstGeom prst="rect">
            <a:avLst/>
          </a:prstGeom>
          <a:noFill/>
          <a:ln/>
        </p:spPr>
        <p:txBody>
          <a:bodyPr wrap="none" lIns="0" tIns="0" rIns="0" bIns="0" rtlCol="0" anchor="t"/>
          <a:lstStyle/>
          <a:p>
            <a:pPr marL="0" indent="0" algn="l">
              <a:lnSpc>
                <a:spcPts val="2350"/>
              </a:lnSpc>
              <a:buNone/>
            </a:pPr>
            <a:r>
              <a:rPr lang="en-US" sz="1600" b="1" dirty="0">
                <a:solidFill>
                  <a:srgbClr val="454240"/>
                </a:solidFill>
                <a:latin typeface="DM Sans" pitchFamily="34" charset="0"/>
                <a:ea typeface="DM Sans" pitchFamily="34" charset="-122"/>
                <a:cs typeface="DM Sans" pitchFamily="34" charset="-120"/>
              </a:rPr>
              <a:t>Auto-Save Feature</a:t>
            </a:r>
            <a:r>
              <a:rPr lang="en-US" sz="1600" dirty="0">
                <a:solidFill>
                  <a:srgbClr val="454240"/>
                </a:solidFill>
                <a:latin typeface="DM Sans" pitchFamily="34" charset="0"/>
                <a:ea typeface="DM Sans" pitchFamily="34" charset="-122"/>
                <a:cs typeface="DM Sans" pitchFamily="34" charset="-120"/>
              </a:rPr>
              <a:t> preventing data loss during application process.</a:t>
            </a:r>
            <a:endParaRPr lang="en-US" sz="1600" dirty="0"/>
          </a:p>
        </p:txBody>
      </p:sp>
      <p:pic>
        <p:nvPicPr>
          <p:cNvPr id="10" name="Image 3" descr="preencoded.png"/>
          <p:cNvPicPr>
            <a:picLocks noChangeAspect="1"/>
          </p:cNvPicPr>
          <p:nvPr/>
        </p:nvPicPr>
        <p:blipFill>
          <a:blip r:embed="rId3"/>
          <a:stretch>
            <a:fillRect/>
          </a:stretch>
        </p:blipFill>
        <p:spPr>
          <a:xfrm>
            <a:off x="6270903" y="4809412"/>
            <a:ext cx="283607" cy="354568"/>
          </a:xfrm>
          <a:prstGeom prst="rect">
            <a:avLst/>
          </a:prstGeom>
        </p:spPr>
      </p:pic>
      <p:sp>
        <p:nvSpPr>
          <p:cNvPr id="11" name="Text 5"/>
          <p:cNvSpPr/>
          <p:nvPr/>
        </p:nvSpPr>
        <p:spPr>
          <a:xfrm>
            <a:off x="6814542" y="4835486"/>
            <a:ext cx="7044690" cy="302419"/>
          </a:xfrm>
          <a:prstGeom prst="rect">
            <a:avLst/>
          </a:prstGeom>
          <a:noFill/>
          <a:ln/>
        </p:spPr>
        <p:txBody>
          <a:bodyPr wrap="none" lIns="0" tIns="0" rIns="0" bIns="0" rtlCol="0" anchor="t"/>
          <a:lstStyle/>
          <a:p>
            <a:pPr marL="0" indent="0" algn="l">
              <a:lnSpc>
                <a:spcPts val="2350"/>
              </a:lnSpc>
              <a:buNone/>
            </a:pPr>
            <a:r>
              <a:rPr lang="en-US" sz="1600" b="1" dirty="0">
                <a:solidFill>
                  <a:srgbClr val="454240"/>
                </a:solidFill>
                <a:latin typeface="DM Sans" pitchFamily="34" charset="0"/>
                <a:ea typeface="DM Sans" pitchFamily="34" charset="-122"/>
                <a:cs typeface="DM Sans" pitchFamily="34" charset="-120"/>
              </a:rPr>
              <a:t>Touch-Optimized Interface</a:t>
            </a:r>
            <a:r>
              <a:rPr lang="en-US" sz="1600" dirty="0">
                <a:solidFill>
                  <a:srgbClr val="454240"/>
                </a:solidFill>
                <a:latin typeface="DM Sans" pitchFamily="34" charset="0"/>
                <a:ea typeface="DM Sans" pitchFamily="34" charset="-122"/>
                <a:cs typeface="DM Sans" pitchFamily="34" charset="-120"/>
              </a:rPr>
              <a:t> designed for smartphone interaction.</a:t>
            </a:r>
            <a:endParaRPr lang="en-US" sz="1600" dirty="0"/>
          </a:p>
        </p:txBody>
      </p:sp>
      <p:pic>
        <p:nvPicPr>
          <p:cNvPr id="12" name="Image 4" descr="preencoded.png"/>
          <p:cNvPicPr>
            <a:picLocks noChangeAspect="1"/>
          </p:cNvPicPr>
          <p:nvPr/>
        </p:nvPicPr>
        <p:blipFill>
          <a:blip r:embed="rId3"/>
          <a:stretch>
            <a:fillRect/>
          </a:stretch>
        </p:blipFill>
        <p:spPr>
          <a:xfrm>
            <a:off x="6270903" y="5632284"/>
            <a:ext cx="283607" cy="354568"/>
          </a:xfrm>
          <a:prstGeom prst="rect">
            <a:avLst/>
          </a:prstGeom>
        </p:spPr>
      </p:pic>
      <p:sp>
        <p:nvSpPr>
          <p:cNvPr id="13" name="Text 6"/>
          <p:cNvSpPr/>
          <p:nvPr/>
        </p:nvSpPr>
        <p:spPr>
          <a:xfrm>
            <a:off x="6814542" y="5658359"/>
            <a:ext cx="7044690" cy="302419"/>
          </a:xfrm>
          <a:prstGeom prst="rect">
            <a:avLst/>
          </a:prstGeom>
          <a:noFill/>
          <a:ln/>
        </p:spPr>
        <p:txBody>
          <a:bodyPr wrap="none" lIns="0" tIns="0" rIns="0" bIns="0" rtlCol="0" anchor="t"/>
          <a:lstStyle/>
          <a:p>
            <a:pPr marL="0" indent="0" algn="l">
              <a:lnSpc>
                <a:spcPts val="2350"/>
              </a:lnSpc>
              <a:buNone/>
            </a:pPr>
            <a:r>
              <a:rPr lang="en-US" sz="1600" b="1" dirty="0">
                <a:solidFill>
                  <a:srgbClr val="454240"/>
                </a:solidFill>
                <a:latin typeface="DM Sans" pitchFamily="34" charset="0"/>
                <a:ea typeface="DM Sans" pitchFamily="34" charset="-122"/>
                <a:cs typeface="DM Sans" pitchFamily="34" charset="-120"/>
              </a:rPr>
              <a:t>Fast Loading</a:t>
            </a:r>
            <a:r>
              <a:rPr lang="en-US" sz="1600" dirty="0">
                <a:solidFill>
                  <a:srgbClr val="454240"/>
                </a:solidFill>
                <a:latin typeface="DM Sans" pitchFamily="34" charset="0"/>
                <a:ea typeface="DM Sans" pitchFamily="34" charset="-122"/>
                <a:cs typeface="DM Sans" pitchFamily="34" charset="-120"/>
              </a:rPr>
              <a:t> optimized for slow internet connections.</a:t>
            </a:r>
            <a:endParaRPr lang="en-US" sz="1600" dirty="0"/>
          </a:p>
        </p:txBody>
      </p:sp>
      <p:pic>
        <p:nvPicPr>
          <p:cNvPr id="14" name="Image 5" descr="preencoded.png"/>
          <p:cNvPicPr>
            <a:picLocks noChangeAspect="1"/>
          </p:cNvPicPr>
          <p:nvPr/>
        </p:nvPicPr>
        <p:blipFill>
          <a:blip r:embed="rId3"/>
          <a:stretch>
            <a:fillRect/>
          </a:stretch>
        </p:blipFill>
        <p:spPr>
          <a:xfrm>
            <a:off x="6270903" y="6464043"/>
            <a:ext cx="283607" cy="354568"/>
          </a:xfrm>
          <a:prstGeom prst="rect">
            <a:avLst/>
          </a:prstGeom>
        </p:spPr>
      </p:pic>
      <p:sp>
        <p:nvSpPr>
          <p:cNvPr id="15" name="Text 7"/>
          <p:cNvSpPr/>
          <p:nvPr/>
        </p:nvSpPr>
        <p:spPr>
          <a:xfrm>
            <a:off x="6814542" y="6490118"/>
            <a:ext cx="7044690" cy="302419"/>
          </a:xfrm>
          <a:prstGeom prst="rect">
            <a:avLst/>
          </a:prstGeom>
          <a:noFill/>
          <a:ln/>
        </p:spPr>
        <p:txBody>
          <a:bodyPr wrap="none" lIns="0" tIns="0" rIns="0" bIns="0" rtlCol="0" anchor="t"/>
          <a:lstStyle/>
          <a:p>
            <a:pPr marL="0" indent="0" algn="l">
              <a:lnSpc>
                <a:spcPts val="2350"/>
              </a:lnSpc>
              <a:buNone/>
            </a:pPr>
            <a:r>
              <a:rPr lang="en-US" sz="1600" b="1" dirty="0">
                <a:solidFill>
                  <a:srgbClr val="454240"/>
                </a:solidFill>
                <a:latin typeface="DM Sans" pitchFamily="34" charset="0"/>
                <a:ea typeface="DM Sans" pitchFamily="34" charset="-122"/>
                <a:cs typeface="DM Sans" pitchFamily="34" charset="-120"/>
              </a:rPr>
              <a:t>Cross-Platform Compatibility</a:t>
            </a:r>
            <a:r>
              <a:rPr lang="en-US" sz="1600" dirty="0">
                <a:solidFill>
                  <a:srgbClr val="454240"/>
                </a:solidFill>
                <a:latin typeface="DM Sans" pitchFamily="34" charset="0"/>
                <a:ea typeface="DM Sans" pitchFamily="34" charset="-122"/>
                <a:cs typeface="DM Sans" pitchFamily="34" charset="-120"/>
              </a:rPr>
              <a:t> supporting all operating systems.</a:t>
            </a:r>
            <a:endParaRPr lang="en-US" sz="1600" dirty="0"/>
          </a:p>
        </p:txBody>
      </p:sp>
      <p:pic>
        <p:nvPicPr>
          <p:cNvPr id="19" name="Picture 18">
            <a:extLst>
              <a:ext uri="{FF2B5EF4-FFF2-40B4-BE49-F238E27FC236}">
                <a16:creationId xmlns:a16="http://schemas.microsoft.com/office/drawing/2014/main" id="{82A64637-9F6A-4C98-DFA3-687D7E5E37F5}"/>
              </a:ext>
            </a:extLst>
          </p:cNvPr>
          <p:cNvPicPr>
            <a:picLocks noChangeAspect="1"/>
          </p:cNvPicPr>
          <p:nvPr/>
        </p:nvPicPr>
        <p:blipFill>
          <a:blip r:embed="rId4"/>
          <a:stretch>
            <a:fillRect/>
          </a:stretch>
        </p:blipFill>
        <p:spPr>
          <a:xfrm>
            <a:off x="778669" y="2365569"/>
            <a:ext cx="3965453" cy="50457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1981"/>
          </a:xfrm>
          <a:prstGeom prst="rect">
            <a:avLst/>
          </a:prstGeom>
        </p:spPr>
      </p:pic>
      <p:sp>
        <p:nvSpPr>
          <p:cNvPr id="3" name="Text 0"/>
          <p:cNvSpPr/>
          <p:nvPr/>
        </p:nvSpPr>
        <p:spPr>
          <a:xfrm>
            <a:off x="775216" y="609005"/>
            <a:ext cx="3876080" cy="484584"/>
          </a:xfrm>
          <a:prstGeom prst="rect">
            <a:avLst/>
          </a:prstGeom>
          <a:noFill/>
          <a:ln/>
        </p:spPr>
        <p:txBody>
          <a:bodyPr wrap="none" lIns="0" tIns="0" rIns="0" bIns="0" rtlCol="0" anchor="t"/>
          <a:lstStyle/>
          <a:p>
            <a:pPr marL="0" indent="0" algn="l">
              <a:lnSpc>
                <a:spcPts val="3800"/>
              </a:lnSpc>
              <a:buNone/>
            </a:pPr>
            <a:r>
              <a:rPr lang="en-US" sz="2200" dirty="0">
                <a:solidFill>
                  <a:srgbClr val="5C4E3D"/>
                </a:solidFill>
                <a:latin typeface="Libre Baskerville" pitchFamily="34" charset="0"/>
              </a:rPr>
              <a:t>7. Business Impact</a:t>
            </a:r>
          </a:p>
        </p:txBody>
      </p:sp>
      <p:sp>
        <p:nvSpPr>
          <p:cNvPr id="4" name="Text 1"/>
          <p:cNvSpPr/>
          <p:nvPr/>
        </p:nvSpPr>
        <p:spPr>
          <a:xfrm>
            <a:off x="775216" y="1326118"/>
            <a:ext cx="3100864" cy="387548"/>
          </a:xfrm>
          <a:prstGeom prst="rect">
            <a:avLst/>
          </a:prstGeom>
          <a:noFill/>
          <a:ln/>
        </p:spPr>
        <p:txBody>
          <a:bodyPr wrap="none" lIns="0" tIns="0" rIns="0" bIns="0" rtlCol="0" anchor="t"/>
          <a:lstStyle/>
          <a:p>
            <a:pPr marL="0" indent="0" algn="l">
              <a:lnSpc>
                <a:spcPts val="3050"/>
              </a:lnSpc>
              <a:buNone/>
            </a:pPr>
            <a:r>
              <a:rPr lang="en-US" sz="3600" dirty="0">
                <a:solidFill>
                  <a:srgbClr val="B88E23"/>
                </a:solidFill>
                <a:latin typeface="Libre Baskerville" pitchFamily="34" charset="0"/>
              </a:rPr>
              <a:t>System Benefits</a:t>
            </a:r>
          </a:p>
        </p:txBody>
      </p:sp>
      <p:sp>
        <p:nvSpPr>
          <p:cNvPr id="5" name="Text 2"/>
          <p:cNvSpPr/>
          <p:nvPr/>
        </p:nvSpPr>
        <p:spPr>
          <a:xfrm>
            <a:off x="775216" y="1946196"/>
            <a:ext cx="7593568" cy="908566"/>
          </a:xfrm>
          <a:prstGeom prst="rect">
            <a:avLst/>
          </a:prstGeom>
          <a:noFill/>
          <a:ln/>
        </p:spPr>
        <p:txBody>
          <a:bodyPr wrap="square" lIns="0" tIns="0" rIns="0" bIns="0" rtlCol="0" anchor="t"/>
          <a:lstStyle/>
          <a:p>
            <a:pPr marL="0" indent="0" algn="l">
              <a:lnSpc>
                <a:spcPts val="5250"/>
              </a:lnSpc>
              <a:buNone/>
            </a:pPr>
            <a:r>
              <a:rPr lang="en-US" sz="2400" dirty="0">
                <a:solidFill>
                  <a:srgbClr val="5C4E3D"/>
                </a:solidFill>
                <a:latin typeface="Libre Baskerville" pitchFamily="34" charset="0"/>
              </a:rPr>
              <a:t>📈</a:t>
            </a:r>
            <a:r>
              <a:rPr lang="en-US" sz="4200" dirty="0">
                <a:solidFill>
                  <a:srgbClr val="5C4E3D"/>
                </a:solidFill>
                <a:latin typeface="Libre Baskerville" pitchFamily="34" charset="0"/>
                <a:ea typeface="Libre Baskerville" pitchFamily="34" charset="-122"/>
                <a:cs typeface="Libre Baskerville" pitchFamily="34" charset="-120"/>
              </a:rPr>
              <a:t> </a:t>
            </a:r>
            <a:r>
              <a:rPr lang="en-US" sz="2400" dirty="0">
                <a:solidFill>
                  <a:srgbClr val="5C4E3D"/>
                </a:solidFill>
                <a:latin typeface="Libre Baskerville" pitchFamily="34" charset="0"/>
              </a:rPr>
              <a:t>Operational Improvements</a:t>
            </a:r>
          </a:p>
        </p:txBody>
      </p:sp>
      <p:sp>
        <p:nvSpPr>
          <p:cNvPr id="6" name="Shape 3"/>
          <p:cNvSpPr/>
          <p:nvPr/>
        </p:nvSpPr>
        <p:spPr>
          <a:xfrm>
            <a:off x="775216" y="3020020"/>
            <a:ext cx="7593568" cy="908566"/>
          </a:xfrm>
          <a:prstGeom prst="roundRect">
            <a:avLst>
              <a:gd name="adj" fmla="val 7167"/>
            </a:avLst>
          </a:prstGeom>
          <a:solidFill>
            <a:srgbClr val="F7EDD4"/>
          </a:solidFill>
          <a:ln w="7620">
            <a:solidFill>
              <a:srgbClr val="DDD3BA"/>
            </a:solidFill>
            <a:prstDash val="solid"/>
          </a:ln>
        </p:spPr>
      </p:sp>
      <p:sp>
        <p:nvSpPr>
          <p:cNvPr id="7" name="Text 4"/>
          <p:cNvSpPr/>
          <p:nvPr/>
        </p:nvSpPr>
        <p:spPr>
          <a:xfrm>
            <a:off x="937855" y="3182659"/>
            <a:ext cx="2274808" cy="242292"/>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Reduced Manual Work</a:t>
            </a:r>
            <a:endParaRPr lang="en-US" sz="1500" dirty="0"/>
          </a:p>
        </p:txBody>
      </p:sp>
      <p:sp>
        <p:nvSpPr>
          <p:cNvPr id="8" name="Text 5"/>
          <p:cNvSpPr/>
          <p:nvPr/>
        </p:nvSpPr>
        <p:spPr>
          <a:xfrm>
            <a:off x="937855" y="3517939"/>
            <a:ext cx="7268289" cy="248007"/>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Significant decrease in paperwork and manual processing.</a:t>
            </a:r>
            <a:endParaRPr lang="en-US" sz="1200" dirty="0"/>
          </a:p>
        </p:txBody>
      </p:sp>
      <p:sp>
        <p:nvSpPr>
          <p:cNvPr id="9" name="Shape 6"/>
          <p:cNvSpPr/>
          <p:nvPr/>
        </p:nvSpPr>
        <p:spPr>
          <a:xfrm>
            <a:off x="775216" y="4083605"/>
            <a:ext cx="7593568" cy="908566"/>
          </a:xfrm>
          <a:prstGeom prst="roundRect">
            <a:avLst>
              <a:gd name="adj" fmla="val 7167"/>
            </a:avLst>
          </a:prstGeom>
          <a:solidFill>
            <a:srgbClr val="F7EDD4"/>
          </a:solidFill>
          <a:ln w="7620">
            <a:solidFill>
              <a:srgbClr val="DDD3BA"/>
            </a:solidFill>
            <a:prstDash val="solid"/>
          </a:ln>
        </p:spPr>
      </p:sp>
      <p:sp>
        <p:nvSpPr>
          <p:cNvPr id="10" name="Text 7"/>
          <p:cNvSpPr/>
          <p:nvPr/>
        </p:nvSpPr>
        <p:spPr>
          <a:xfrm>
            <a:off x="937855" y="4246244"/>
            <a:ext cx="2482096" cy="242292"/>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Better Data Management</a:t>
            </a:r>
            <a:endParaRPr lang="en-US" sz="1500" dirty="0"/>
          </a:p>
        </p:txBody>
      </p:sp>
      <p:sp>
        <p:nvSpPr>
          <p:cNvPr id="11" name="Text 8"/>
          <p:cNvSpPr/>
          <p:nvPr/>
        </p:nvSpPr>
        <p:spPr>
          <a:xfrm>
            <a:off x="937855" y="4581524"/>
            <a:ext cx="7268289" cy="248007"/>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Centralized, organized student and application data.</a:t>
            </a:r>
            <a:endParaRPr lang="en-US" sz="1200" dirty="0"/>
          </a:p>
        </p:txBody>
      </p:sp>
      <p:sp>
        <p:nvSpPr>
          <p:cNvPr id="12" name="Shape 9"/>
          <p:cNvSpPr/>
          <p:nvPr/>
        </p:nvSpPr>
        <p:spPr>
          <a:xfrm>
            <a:off x="775216" y="5147190"/>
            <a:ext cx="7593568" cy="908566"/>
          </a:xfrm>
          <a:prstGeom prst="roundRect">
            <a:avLst>
              <a:gd name="adj" fmla="val 7167"/>
            </a:avLst>
          </a:prstGeom>
          <a:solidFill>
            <a:srgbClr val="F7EDD4"/>
          </a:solidFill>
          <a:ln w="7620">
            <a:solidFill>
              <a:srgbClr val="DDD3BA"/>
            </a:solidFill>
            <a:prstDash val="solid"/>
          </a:ln>
        </p:spPr>
      </p:sp>
      <p:sp>
        <p:nvSpPr>
          <p:cNvPr id="13" name="Text 10"/>
          <p:cNvSpPr/>
          <p:nvPr/>
        </p:nvSpPr>
        <p:spPr>
          <a:xfrm>
            <a:off x="937855" y="5309830"/>
            <a:ext cx="2262307" cy="242292"/>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Improved Accessibility</a:t>
            </a:r>
            <a:endParaRPr lang="en-US" sz="1500" dirty="0"/>
          </a:p>
        </p:txBody>
      </p:sp>
      <p:sp>
        <p:nvSpPr>
          <p:cNvPr id="14" name="Text 11"/>
          <p:cNvSpPr/>
          <p:nvPr/>
        </p:nvSpPr>
        <p:spPr>
          <a:xfrm>
            <a:off x="937855" y="5645110"/>
            <a:ext cx="7268289" cy="248007"/>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Students can apply from anywhere with internet access.</a:t>
            </a:r>
            <a:endParaRPr lang="en-US" sz="1200" dirty="0"/>
          </a:p>
        </p:txBody>
      </p:sp>
      <p:sp>
        <p:nvSpPr>
          <p:cNvPr id="15" name="Shape 12"/>
          <p:cNvSpPr/>
          <p:nvPr/>
        </p:nvSpPr>
        <p:spPr>
          <a:xfrm>
            <a:off x="775216" y="6210776"/>
            <a:ext cx="7593568" cy="908566"/>
          </a:xfrm>
          <a:prstGeom prst="roundRect">
            <a:avLst>
              <a:gd name="adj" fmla="val 7167"/>
            </a:avLst>
          </a:prstGeom>
          <a:solidFill>
            <a:srgbClr val="F7EDD4"/>
          </a:solidFill>
          <a:ln w="7620">
            <a:solidFill>
              <a:srgbClr val="DDD3BA"/>
            </a:solidFill>
            <a:prstDash val="solid"/>
          </a:ln>
        </p:spPr>
      </p:sp>
      <p:sp>
        <p:nvSpPr>
          <p:cNvPr id="16" name="Text 13"/>
          <p:cNvSpPr/>
          <p:nvPr/>
        </p:nvSpPr>
        <p:spPr>
          <a:xfrm>
            <a:off x="937855" y="6373415"/>
            <a:ext cx="2407325" cy="242292"/>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Enhanced Transparency</a:t>
            </a:r>
            <a:endParaRPr lang="en-US" sz="1500" dirty="0"/>
          </a:p>
        </p:txBody>
      </p:sp>
      <p:sp>
        <p:nvSpPr>
          <p:cNvPr id="17" name="Text 14"/>
          <p:cNvSpPr/>
          <p:nvPr/>
        </p:nvSpPr>
        <p:spPr>
          <a:xfrm>
            <a:off x="937855" y="6708695"/>
            <a:ext cx="7268289" cy="248007"/>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Clear visibility into application status, real-time specialty enrollment statistics, and all processes.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6527" y="620911"/>
            <a:ext cx="3932992" cy="491490"/>
          </a:xfrm>
          <a:prstGeom prst="rect">
            <a:avLst/>
          </a:prstGeom>
          <a:noFill/>
          <a:ln/>
        </p:spPr>
        <p:txBody>
          <a:bodyPr wrap="none" lIns="0" tIns="0" rIns="0" bIns="0" rtlCol="0" anchor="t"/>
          <a:lstStyle/>
          <a:p>
            <a:pPr marL="0" indent="0" algn="l">
              <a:lnSpc>
                <a:spcPts val="3850"/>
              </a:lnSpc>
              <a:buNone/>
            </a:pPr>
            <a:r>
              <a:rPr lang="en-US" sz="2200" dirty="0">
                <a:solidFill>
                  <a:srgbClr val="5C4E3D"/>
                </a:solidFill>
                <a:latin typeface="Libre Baskerville" pitchFamily="34" charset="0"/>
              </a:rPr>
              <a:t>7. Business Impact</a:t>
            </a:r>
          </a:p>
        </p:txBody>
      </p:sp>
      <p:sp>
        <p:nvSpPr>
          <p:cNvPr id="3" name="Text 1"/>
          <p:cNvSpPr/>
          <p:nvPr/>
        </p:nvSpPr>
        <p:spPr>
          <a:xfrm>
            <a:off x="786527" y="1348383"/>
            <a:ext cx="3146346" cy="393263"/>
          </a:xfrm>
          <a:prstGeom prst="rect">
            <a:avLst/>
          </a:prstGeom>
          <a:noFill/>
          <a:ln/>
        </p:spPr>
        <p:txBody>
          <a:bodyPr wrap="none" lIns="0" tIns="0" rIns="0" bIns="0" rtlCol="0" anchor="t"/>
          <a:lstStyle/>
          <a:p>
            <a:pPr marL="0" indent="0" algn="l">
              <a:lnSpc>
                <a:spcPts val="3050"/>
              </a:lnSpc>
              <a:buNone/>
            </a:pPr>
            <a:r>
              <a:rPr lang="en-US" sz="3600" dirty="0">
                <a:solidFill>
                  <a:srgbClr val="B88E23"/>
                </a:solidFill>
                <a:latin typeface="Libre Baskerville" pitchFamily="34" charset="0"/>
              </a:rPr>
              <a:t>System Benefits</a:t>
            </a:r>
          </a:p>
        </p:txBody>
      </p:sp>
      <p:sp>
        <p:nvSpPr>
          <p:cNvPr id="4" name="Text 2"/>
          <p:cNvSpPr/>
          <p:nvPr/>
        </p:nvSpPr>
        <p:spPr>
          <a:xfrm>
            <a:off x="786527" y="1977628"/>
            <a:ext cx="8457486" cy="678418"/>
          </a:xfrm>
          <a:prstGeom prst="rect">
            <a:avLst/>
          </a:prstGeom>
          <a:noFill/>
          <a:ln/>
        </p:spPr>
        <p:txBody>
          <a:bodyPr wrap="none" lIns="0" tIns="0" rIns="0" bIns="0" rtlCol="0" anchor="t"/>
          <a:lstStyle/>
          <a:p>
            <a:pPr marL="0" indent="0" algn="l">
              <a:lnSpc>
                <a:spcPts val="5300"/>
              </a:lnSpc>
              <a:buNone/>
            </a:pPr>
            <a:r>
              <a:rPr lang="en-US" sz="2800" dirty="0">
                <a:solidFill>
                  <a:srgbClr val="000000"/>
                </a:solidFill>
                <a:latin typeface="Libre Baskerville" pitchFamily="34" charset="0"/>
                <a:ea typeface="Libre Baskerville" pitchFamily="34" charset="-122"/>
                <a:cs typeface="Libre Baskerville" pitchFamily="34" charset="-120"/>
              </a:rPr>
              <a:t>📈</a:t>
            </a:r>
            <a:r>
              <a:rPr lang="en-US" sz="2800" dirty="0">
                <a:solidFill>
                  <a:srgbClr val="5C4E3D"/>
                </a:solidFill>
                <a:latin typeface="Libre Baskerville" pitchFamily="34" charset="0"/>
                <a:ea typeface="Libre Baskerville" pitchFamily="34" charset="-122"/>
                <a:cs typeface="Libre Baskerville" pitchFamily="34" charset="-120"/>
              </a:rPr>
              <a:t> Operational Improvements</a:t>
            </a:r>
            <a:endParaRPr lang="en-US" sz="2800" dirty="0"/>
          </a:p>
        </p:txBody>
      </p:sp>
      <p:pic>
        <p:nvPicPr>
          <p:cNvPr id="5" name="Image 0" descr="preencoded.png"/>
          <p:cNvPicPr>
            <a:picLocks noChangeAspect="1"/>
          </p:cNvPicPr>
          <p:nvPr/>
        </p:nvPicPr>
        <p:blipFill>
          <a:blip r:embed="rId3"/>
          <a:stretch>
            <a:fillRect/>
          </a:stretch>
        </p:blipFill>
        <p:spPr>
          <a:xfrm>
            <a:off x="786527" y="3068955"/>
            <a:ext cx="393263" cy="393263"/>
          </a:xfrm>
          <a:prstGeom prst="rect">
            <a:avLst/>
          </a:prstGeom>
        </p:spPr>
      </p:pic>
      <p:sp>
        <p:nvSpPr>
          <p:cNvPr id="6" name="Text 3"/>
          <p:cNvSpPr/>
          <p:nvPr/>
        </p:nvSpPr>
        <p:spPr>
          <a:xfrm>
            <a:off x="786527" y="3658791"/>
            <a:ext cx="1966436" cy="245864"/>
          </a:xfrm>
          <a:prstGeom prst="rect">
            <a:avLst/>
          </a:prstGeom>
          <a:noFill/>
          <a:ln/>
        </p:spPr>
        <p:txBody>
          <a:bodyPr wrap="none" lIns="0" tIns="0" rIns="0" bIns="0" rtlCol="0" anchor="t"/>
          <a:lstStyle/>
          <a:p>
            <a:pPr marL="0" indent="0" algn="l">
              <a:lnSpc>
                <a:spcPts val="1900"/>
              </a:lnSpc>
              <a:buNone/>
            </a:pPr>
            <a:r>
              <a:rPr lang="en-US" dirty="0">
                <a:solidFill>
                  <a:srgbClr val="454240"/>
                </a:solidFill>
                <a:latin typeface="Libre Baskerville" pitchFamily="34" charset="0"/>
                <a:ea typeface="Libre Baskerville" pitchFamily="34" charset="-122"/>
                <a:cs typeface="Libre Baskerville" pitchFamily="34" charset="-120"/>
              </a:rPr>
              <a:t>Reduced Errors</a:t>
            </a:r>
            <a:endParaRPr lang="en-US" dirty="0"/>
          </a:p>
        </p:txBody>
      </p:sp>
      <p:sp>
        <p:nvSpPr>
          <p:cNvPr id="7" name="Text 4"/>
          <p:cNvSpPr/>
          <p:nvPr/>
        </p:nvSpPr>
        <p:spPr>
          <a:xfrm>
            <a:off x="786527" y="4061936"/>
            <a:ext cx="7680841" cy="251579"/>
          </a:xfrm>
          <a:prstGeom prst="rect">
            <a:avLst/>
          </a:prstGeom>
          <a:noFill/>
          <a:ln/>
        </p:spPr>
        <p:txBody>
          <a:bodyPr wrap="none" lIns="0" tIns="0" rIns="0" bIns="0" rtlCol="0" anchor="t"/>
          <a:lstStyle/>
          <a:p>
            <a:pPr marL="0" indent="0" algn="l">
              <a:lnSpc>
                <a:spcPts val="1950"/>
              </a:lnSpc>
              <a:buNone/>
            </a:pPr>
            <a:r>
              <a:rPr lang="en-US" dirty="0">
                <a:solidFill>
                  <a:srgbClr val="454240"/>
                </a:solidFill>
                <a:latin typeface="DM Sans" pitchFamily="34" charset="0"/>
                <a:ea typeface="DM Sans" pitchFamily="34" charset="-122"/>
                <a:cs typeface="DM Sans" pitchFamily="34" charset="-120"/>
              </a:rPr>
              <a:t>Automated validation reduces common application mistakes.</a:t>
            </a:r>
            <a:endParaRPr lang="en-US" dirty="0"/>
          </a:p>
        </p:txBody>
      </p:sp>
      <p:pic>
        <p:nvPicPr>
          <p:cNvPr id="8" name="Image 1" descr="preencoded.png"/>
          <p:cNvPicPr>
            <a:picLocks noChangeAspect="1"/>
          </p:cNvPicPr>
          <p:nvPr/>
        </p:nvPicPr>
        <p:blipFill>
          <a:blip r:embed="rId4"/>
          <a:stretch>
            <a:fillRect/>
          </a:stretch>
        </p:blipFill>
        <p:spPr>
          <a:xfrm>
            <a:off x="786527" y="4628078"/>
            <a:ext cx="393263" cy="393263"/>
          </a:xfrm>
          <a:prstGeom prst="rect">
            <a:avLst/>
          </a:prstGeom>
        </p:spPr>
      </p:pic>
      <p:sp>
        <p:nvSpPr>
          <p:cNvPr id="9" name="Text 5"/>
          <p:cNvSpPr/>
          <p:nvPr/>
        </p:nvSpPr>
        <p:spPr>
          <a:xfrm>
            <a:off x="786527" y="5217914"/>
            <a:ext cx="2533650" cy="245864"/>
          </a:xfrm>
          <a:prstGeom prst="rect">
            <a:avLst/>
          </a:prstGeom>
          <a:noFill/>
          <a:ln/>
        </p:spPr>
        <p:txBody>
          <a:bodyPr wrap="none" lIns="0" tIns="0" rIns="0" bIns="0" rtlCol="0" anchor="t"/>
          <a:lstStyle/>
          <a:p>
            <a:pPr marL="0" indent="0" algn="l">
              <a:lnSpc>
                <a:spcPts val="1900"/>
              </a:lnSpc>
              <a:buNone/>
            </a:pPr>
            <a:r>
              <a:rPr lang="en-US" dirty="0">
                <a:solidFill>
                  <a:srgbClr val="454240"/>
                </a:solidFill>
                <a:latin typeface="Libre Baskerville" pitchFamily="34" charset="0"/>
                <a:ea typeface="Libre Baskerville" pitchFamily="34" charset="-122"/>
                <a:cs typeface="Libre Baskerville" pitchFamily="34" charset="-120"/>
              </a:rPr>
              <a:t>Streamlined Data Import</a:t>
            </a:r>
            <a:endParaRPr lang="en-US" dirty="0"/>
          </a:p>
        </p:txBody>
      </p:sp>
      <p:sp>
        <p:nvSpPr>
          <p:cNvPr id="10" name="Text 6"/>
          <p:cNvSpPr/>
          <p:nvPr/>
        </p:nvSpPr>
        <p:spPr>
          <a:xfrm>
            <a:off x="786527" y="5621060"/>
            <a:ext cx="7680841" cy="251579"/>
          </a:xfrm>
          <a:prstGeom prst="rect">
            <a:avLst/>
          </a:prstGeom>
          <a:noFill/>
          <a:ln/>
        </p:spPr>
        <p:txBody>
          <a:bodyPr wrap="none" lIns="0" tIns="0" rIns="0" bIns="0" rtlCol="0" anchor="t"/>
          <a:lstStyle/>
          <a:p>
            <a:pPr marL="0" indent="0" algn="l">
              <a:lnSpc>
                <a:spcPts val="1950"/>
              </a:lnSpc>
              <a:buNone/>
            </a:pPr>
            <a:r>
              <a:rPr lang="en-US" dirty="0">
                <a:solidFill>
                  <a:srgbClr val="454240"/>
                </a:solidFill>
                <a:latin typeface="DM Sans" pitchFamily="34" charset="0"/>
                <a:ea typeface="DM Sans" pitchFamily="34" charset="-122"/>
                <a:cs typeface="DM Sans" pitchFamily="34" charset="-120"/>
              </a:rPr>
              <a:t>Easy import of student exam results and basic records.</a:t>
            </a:r>
            <a:endParaRPr lang="en-US" dirty="0"/>
          </a:p>
        </p:txBody>
      </p:sp>
      <p:pic>
        <p:nvPicPr>
          <p:cNvPr id="11" name="Image 2" descr="preencoded.png"/>
          <p:cNvPicPr>
            <a:picLocks noChangeAspect="1"/>
          </p:cNvPicPr>
          <p:nvPr/>
        </p:nvPicPr>
        <p:blipFill>
          <a:blip r:embed="rId5"/>
          <a:stretch>
            <a:fillRect/>
          </a:stretch>
        </p:blipFill>
        <p:spPr>
          <a:xfrm>
            <a:off x="786527" y="6187202"/>
            <a:ext cx="393263" cy="393263"/>
          </a:xfrm>
          <a:prstGeom prst="rect">
            <a:avLst/>
          </a:prstGeom>
        </p:spPr>
      </p:pic>
      <p:sp>
        <p:nvSpPr>
          <p:cNvPr id="12" name="Text 7"/>
          <p:cNvSpPr/>
          <p:nvPr/>
        </p:nvSpPr>
        <p:spPr>
          <a:xfrm>
            <a:off x="786527" y="6777038"/>
            <a:ext cx="2674620" cy="245864"/>
          </a:xfrm>
          <a:prstGeom prst="rect">
            <a:avLst/>
          </a:prstGeom>
          <a:noFill/>
          <a:ln/>
        </p:spPr>
        <p:txBody>
          <a:bodyPr wrap="none" lIns="0" tIns="0" rIns="0" bIns="0" rtlCol="0" anchor="t"/>
          <a:lstStyle/>
          <a:p>
            <a:pPr marL="0" indent="0" algn="l">
              <a:lnSpc>
                <a:spcPts val="1900"/>
              </a:lnSpc>
              <a:buNone/>
            </a:pPr>
            <a:r>
              <a:rPr lang="en-US" dirty="0">
                <a:solidFill>
                  <a:srgbClr val="454240"/>
                </a:solidFill>
                <a:latin typeface="Libre Baskerville" pitchFamily="34" charset="0"/>
                <a:ea typeface="Libre Baskerville" pitchFamily="34" charset="-122"/>
                <a:cs typeface="Libre Baskerville" pitchFamily="34" charset="-120"/>
              </a:rPr>
              <a:t>Comprehensive Reporting</a:t>
            </a:r>
            <a:endParaRPr lang="en-US" dirty="0"/>
          </a:p>
        </p:txBody>
      </p:sp>
      <p:sp>
        <p:nvSpPr>
          <p:cNvPr id="13" name="Text 8"/>
          <p:cNvSpPr/>
          <p:nvPr/>
        </p:nvSpPr>
        <p:spPr>
          <a:xfrm>
            <a:off x="786527" y="7180183"/>
            <a:ext cx="7680841" cy="251579"/>
          </a:xfrm>
          <a:prstGeom prst="rect">
            <a:avLst/>
          </a:prstGeom>
          <a:noFill/>
          <a:ln/>
        </p:spPr>
        <p:txBody>
          <a:bodyPr wrap="none" lIns="0" tIns="0" rIns="0" bIns="0" rtlCol="0" anchor="t"/>
          <a:lstStyle/>
          <a:p>
            <a:pPr marL="0" indent="0" algn="l">
              <a:lnSpc>
                <a:spcPts val="1950"/>
              </a:lnSpc>
              <a:buNone/>
            </a:pPr>
            <a:r>
              <a:rPr lang="en-US" dirty="0">
                <a:solidFill>
                  <a:srgbClr val="454240"/>
                </a:solidFill>
                <a:latin typeface="DM Sans" pitchFamily="34" charset="0"/>
                <a:ea typeface="DM Sans" pitchFamily="34" charset="-122"/>
                <a:cs typeface="DM Sans" pitchFamily="34" charset="-120"/>
              </a:rPr>
              <a:t>Detailed analytics and reports for all stakeholders.</a:t>
            </a:r>
            <a:endParaRPr lang="en-US" dirty="0"/>
          </a:p>
        </p:txBody>
      </p:sp>
      <p:pic>
        <p:nvPicPr>
          <p:cNvPr id="14" name="Image 3" descr="preencoded.png"/>
          <p:cNvPicPr>
            <a:picLocks noChangeAspect="1"/>
          </p:cNvPicPr>
          <p:nvPr/>
        </p:nvPicPr>
        <p:blipFill>
          <a:blip r:embed="rId6"/>
          <a:stretch>
            <a:fillRect/>
          </a:stretch>
        </p:blipFill>
        <p:spPr>
          <a:xfrm>
            <a:off x="8134510" y="1977628"/>
            <a:ext cx="5709363" cy="570936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9381" y="599599"/>
            <a:ext cx="5424487" cy="678061"/>
          </a:xfrm>
          <a:prstGeom prst="rect">
            <a:avLst/>
          </a:prstGeom>
          <a:noFill/>
          <a:ln/>
        </p:spPr>
        <p:txBody>
          <a:bodyPr wrap="none" lIns="0" tIns="0" rIns="0" bIns="0" rtlCol="0" anchor="t"/>
          <a:lstStyle/>
          <a:p>
            <a:pPr marL="0" indent="0" algn="l">
              <a:lnSpc>
                <a:spcPts val="5300"/>
              </a:lnSpc>
              <a:buNone/>
            </a:pPr>
            <a:r>
              <a:rPr lang="en-US" sz="2200" dirty="0">
                <a:solidFill>
                  <a:srgbClr val="5C4E3D"/>
                </a:solidFill>
                <a:latin typeface="Libre Baskerville" pitchFamily="34" charset="0"/>
                <a:ea typeface="Libre Baskerville" pitchFamily="34" charset="-122"/>
                <a:cs typeface="Libre Baskerville" pitchFamily="34" charset="-120"/>
              </a:rPr>
              <a:t>7. Business Impact</a:t>
            </a:r>
            <a:endParaRPr lang="en-US" sz="2200" dirty="0"/>
          </a:p>
        </p:txBody>
      </p:sp>
      <p:sp>
        <p:nvSpPr>
          <p:cNvPr id="3" name="Text 1"/>
          <p:cNvSpPr/>
          <p:nvPr/>
        </p:nvSpPr>
        <p:spPr>
          <a:xfrm>
            <a:off x="759381" y="1603058"/>
            <a:ext cx="4339590" cy="542449"/>
          </a:xfrm>
          <a:prstGeom prst="rect">
            <a:avLst/>
          </a:prstGeom>
          <a:noFill/>
          <a:ln/>
        </p:spPr>
        <p:txBody>
          <a:bodyPr wrap="none" lIns="0" tIns="0" rIns="0" bIns="0" rtlCol="0" anchor="t"/>
          <a:lstStyle/>
          <a:p>
            <a:pPr marL="0" indent="0" algn="l">
              <a:lnSpc>
                <a:spcPts val="4250"/>
              </a:lnSpc>
              <a:buNone/>
            </a:pPr>
            <a:r>
              <a:rPr lang="en-US" sz="3600" dirty="0">
                <a:solidFill>
                  <a:srgbClr val="B88E23"/>
                </a:solidFill>
                <a:latin typeface="Libre Baskerville" pitchFamily="34" charset="0"/>
              </a:rPr>
              <a:t>System Benefits</a:t>
            </a:r>
          </a:p>
        </p:txBody>
      </p:sp>
      <p:sp>
        <p:nvSpPr>
          <p:cNvPr id="4" name="Text 2"/>
          <p:cNvSpPr/>
          <p:nvPr/>
        </p:nvSpPr>
        <p:spPr>
          <a:xfrm>
            <a:off x="759381" y="2470904"/>
            <a:ext cx="3414832" cy="406837"/>
          </a:xfrm>
          <a:prstGeom prst="rect">
            <a:avLst/>
          </a:prstGeom>
          <a:noFill/>
          <a:ln/>
        </p:spPr>
        <p:txBody>
          <a:bodyPr wrap="none" lIns="0" tIns="0" rIns="0" bIns="0" rtlCol="0" anchor="t"/>
          <a:lstStyle/>
          <a:p>
            <a:pPr marL="0" indent="0" algn="l">
              <a:lnSpc>
                <a:spcPts val="3200"/>
              </a:lnSpc>
              <a:buNone/>
            </a:pPr>
            <a:r>
              <a:rPr lang="en-US" sz="2550" dirty="0">
                <a:solidFill>
                  <a:srgbClr val="000000"/>
                </a:solidFill>
                <a:latin typeface="Libre Baskerville" pitchFamily="34" charset="0"/>
                <a:ea typeface="Libre Baskerville" pitchFamily="34" charset="-122"/>
                <a:cs typeface="Libre Baskerville" pitchFamily="34" charset="-120"/>
              </a:rPr>
              <a:t>🌟</a:t>
            </a:r>
            <a:r>
              <a:rPr lang="en-US" sz="2550" dirty="0">
                <a:solidFill>
                  <a:srgbClr val="5C4E3D"/>
                </a:solidFill>
                <a:latin typeface="Libre Baskerville" pitchFamily="34" charset="0"/>
                <a:ea typeface="Libre Baskerville" pitchFamily="34" charset="-122"/>
                <a:cs typeface="Libre Baskerville" pitchFamily="34" charset="-120"/>
              </a:rPr>
              <a:t> Strategic Benefits</a:t>
            </a:r>
            <a:endParaRPr lang="en-US" sz="2550" dirty="0"/>
          </a:p>
        </p:txBody>
      </p:sp>
      <p:sp>
        <p:nvSpPr>
          <p:cNvPr id="5" name="Shape 3"/>
          <p:cNvSpPr/>
          <p:nvPr/>
        </p:nvSpPr>
        <p:spPr>
          <a:xfrm>
            <a:off x="759381" y="3528536"/>
            <a:ext cx="4225885" cy="1953101"/>
          </a:xfrm>
          <a:prstGeom prst="roundRect">
            <a:avLst>
              <a:gd name="adj" fmla="val 7491"/>
            </a:avLst>
          </a:prstGeom>
          <a:solidFill>
            <a:srgbClr val="FFFDFA"/>
          </a:solidFill>
          <a:ln/>
        </p:spPr>
      </p:sp>
      <p:sp>
        <p:nvSpPr>
          <p:cNvPr id="6" name="Shape 4"/>
          <p:cNvSpPr/>
          <p:nvPr/>
        </p:nvSpPr>
        <p:spPr>
          <a:xfrm>
            <a:off x="759381" y="3498056"/>
            <a:ext cx="4225885" cy="121920"/>
          </a:xfrm>
          <a:prstGeom prst="roundRect">
            <a:avLst>
              <a:gd name="adj" fmla="val 74748"/>
            </a:avLst>
          </a:prstGeom>
          <a:solidFill>
            <a:srgbClr val="B88E23"/>
          </a:solidFill>
          <a:ln/>
        </p:spPr>
      </p:sp>
      <p:sp>
        <p:nvSpPr>
          <p:cNvPr id="7" name="Shape 5"/>
          <p:cNvSpPr/>
          <p:nvPr/>
        </p:nvSpPr>
        <p:spPr>
          <a:xfrm>
            <a:off x="2546806" y="3203138"/>
            <a:ext cx="650915" cy="650915"/>
          </a:xfrm>
          <a:prstGeom prst="roundRect">
            <a:avLst>
              <a:gd name="adj" fmla="val 140479"/>
            </a:avLst>
          </a:prstGeom>
          <a:solidFill>
            <a:srgbClr val="B88E23"/>
          </a:solidFill>
          <a:ln/>
        </p:spPr>
      </p:sp>
      <p:sp>
        <p:nvSpPr>
          <p:cNvPr id="8" name="Text 6"/>
          <p:cNvSpPr/>
          <p:nvPr/>
        </p:nvSpPr>
        <p:spPr>
          <a:xfrm>
            <a:off x="2742069" y="3365897"/>
            <a:ext cx="260271" cy="325398"/>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Libre Baskerville" pitchFamily="34" charset="0"/>
                <a:ea typeface="Libre Baskerville" pitchFamily="34" charset="-122"/>
                <a:cs typeface="Libre Baskerville" pitchFamily="34" charset="-120"/>
              </a:rPr>
              <a:t>1</a:t>
            </a:r>
            <a:endParaRPr lang="en-US" sz="2050" dirty="0"/>
          </a:p>
        </p:txBody>
      </p:sp>
      <p:sp>
        <p:nvSpPr>
          <p:cNvPr id="9" name="Text 7"/>
          <p:cNvSpPr/>
          <p:nvPr/>
        </p:nvSpPr>
        <p:spPr>
          <a:xfrm>
            <a:off x="1006793" y="4070985"/>
            <a:ext cx="3199924" cy="338971"/>
          </a:xfrm>
          <a:prstGeom prst="rect">
            <a:avLst/>
          </a:prstGeom>
          <a:noFill/>
          <a:ln/>
        </p:spPr>
        <p:txBody>
          <a:bodyPr wrap="non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Digital Transformation</a:t>
            </a:r>
            <a:endParaRPr lang="en-US" sz="2100" dirty="0"/>
          </a:p>
        </p:txBody>
      </p:sp>
      <p:sp>
        <p:nvSpPr>
          <p:cNvPr id="10" name="Text 8"/>
          <p:cNvSpPr/>
          <p:nvPr/>
        </p:nvSpPr>
        <p:spPr>
          <a:xfrm>
            <a:off x="1006793" y="4540091"/>
            <a:ext cx="3731062" cy="694134"/>
          </a:xfrm>
          <a:prstGeom prst="rect">
            <a:avLst/>
          </a:prstGeom>
          <a:noFill/>
          <a:ln/>
        </p:spPr>
        <p:txBody>
          <a:bodyPr wrap="square" lIns="0" tIns="0" rIns="0" bIns="0" rtlCol="0" anchor="t"/>
          <a:lstStyle/>
          <a:p>
            <a:pPr marL="0" indent="0" algn="l">
              <a:lnSpc>
                <a:spcPts val="2700"/>
              </a:lnSpc>
              <a:buNone/>
            </a:pPr>
            <a:r>
              <a:rPr lang="en-US" sz="1700" dirty="0">
                <a:solidFill>
                  <a:srgbClr val="454240"/>
                </a:solidFill>
                <a:latin typeface="DM Sans" pitchFamily="34" charset="0"/>
                <a:ea typeface="DM Sans" pitchFamily="34" charset="-122"/>
                <a:cs typeface="DM Sans" pitchFamily="34" charset="-120"/>
              </a:rPr>
              <a:t>Modern digital platform replacing paper-based processes.</a:t>
            </a:r>
            <a:endParaRPr lang="en-US" sz="1700" dirty="0"/>
          </a:p>
        </p:txBody>
      </p:sp>
      <p:sp>
        <p:nvSpPr>
          <p:cNvPr id="11" name="Shape 9"/>
          <p:cNvSpPr/>
          <p:nvPr/>
        </p:nvSpPr>
        <p:spPr>
          <a:xfrm>
            <a:off x="5202198" y="3528536"/>
            <a:ext cx="4225885" cy="1953101"/>
          </a:xfrm>
          <a:prstGeom prst="roundRect">
            <a:avLst>
              <a:gd name="adj" fmla="val 7491"/>
            </a:avLst>
          </a:prstGeom>
          <a:solidFill>
            <a:srgbClr val="FFFDFA"/>
          </a:solidFill>
          <a:ln/>
        </p:spPr>
      </p:sp>
      <p:sp>
        <p:nvSpPr>
          <p:cNvPr id="12" name="Shape 10"/>
          <p:cNvSpPr/>
          <p:nvPr/>
        </p:nvSpPr>
        <p:spPr>
          <a:xfrm>
            <a:off x="5202198" y="3498056"/>
            <a:ext cx="4225885" cy="121920"/>
          </a:xfrm>
          <a:prstGeom prst="roundRect">
            <a:avLst>
              <a:gd name="adj" fmla="val 74748"/>
            </a:avLst>
          </a:prstGeom>
          <a:solidFill>
            <a:srgbClr val="B88E23"/>
          </a:solidFill>
          <a:ln/>
        </p:spPr>
      </p:sp>
      <p:sp>
        <p:nvSpPr>
          <p:cNvPr id="13" name="Shape 11"/>
          <p:cNvSpPr/>
          <p:nvPr/>
        </p:nvSpPr>
        <p:spPr>
          <a:xfrm>
            <a:off x="6989624" y="3203138"/>
            <a:ext cx="650915" cy="650915"/>
          </a:xfrm>
          <a:prstGeom prst="roundRect">
            <a:avLst>
              <a:gd name="adj" fmla="val 140479"/>
            </a:avLst>
          </a:prstGeom>
          <a:solidFill>
            <a:srgbClr val="B88E23"/>
          </a:solidFill>
          <a:ln/>
        </p:spPr>
      </p:sp>
      <p:sp>
        <p:nvSpPr>
          <p:cNvPr id="14" name="Text 12"/>
          <p:cNvSpPr/>
          <p:nvPr/>
        </p:nvSpPr>
        <p:spPr>
          <a:xfrm>
            <a:off x="7184886" y="3365897"/>
            <a:ext cx="260271" cy="325398"/>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Libre Baskerville" pitchFamily="34" charset="0"/>
                <a:ea typeface="Libre Baskerville" pitchFamily="34" charset="-122"/>
                <a:cs typeface="Libre Baskerville" pitchFamily="34" charset="-120"/>
              </a:rPr>
              <a:t>2</a:t>
            </a:r>
            <a:endParaRPr lang="en-US" sz="2050" dirty="0"/>
          </a:p>
        </p:txBody>
      </p:sp>
      <p:sp>
        <p:nvSpPr>
          <p:cNvPr id="15" name="Text 13"/>
          <p:cNvSpPr/>
          <p:nvPr/>
        </p:nvSpPr>
        <p:spPr>
          <a:xfrm>
            <a:off x="5449610" y="4070985"/>
            <a:ext cx="2712244" cy="338971"/>
          </a:xfrm>
          <a:prstGeom prst="rect">
            <a:avLst/>
          </a:prstGeom>
          <a:noFill/>
          <a:ln/>
        </p:spPr>
        <p:txBody>
          <a:bodyPr wrap="non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Scalable Platform</a:t>
            </a:r>
            <a:endParaRPr lang="en-US" sz="2100" dirty="0"/>
          </a:p>
        </p:txBody>
      </p:sp>
      <p:sp>
        <p:nvSpPr>
          <p:cNvPr id="16" name="Text 14"/>
          <p:cNvSpPr/>
          <p:nvPr/>
        </p:nvSpPr>
        <p:spPr>
          <a:xfrm>
            <a:off x="5449610" y="4540091"/>
            <a:ext cx="3731062" cy="694134"/>
          </a:xfrm>
          <a:prstGeom prst="rect">
            <a:avLst/>
          </a:prstGeom>
          <a:noFill/>
          <a:ln/>
        </p:spPr>
        <p:txBody>
          <a:bodyPr wrap="square" lIns="0" tIns="0" rIns="0" bIns="0" rtlCol="0" anchor="t"/>
          <a:lstStyle/>
          <a:p>
            <a:pPr marL="0" indent="0" algn="l">
              <a:lnSpc>
                <a:spcPts val="2700"/>
              </a:lnSpc>
              <a:buNone/>
            </a:pPr>
            <a:r>
              <a:rPr lang="en-US" sz="1700" dirty="0">
                <a:solidFill>
                  <a:srgbClr val="454240"/>
                </a:solidFill>
                <a:latin typeface="DM Sans" pitchFamily="34" charset="0"/>
                <a:ea typeface="DM Sans" pitchFamily="34" charset="-122"/>
                <a:cs typeface="DM Sans" pitchFamily="34" charset="-120"/>
              </a:rPr>
              <a:t>System can accommodate growth in applications and users.</a:t>
            </a:r>
            <a:endParaRPr lang="en-US" sz="1700" dirty="0"/>
          </a:p>
        </p:txBody>
      </p:sp>
      <p:sp>
        <p:nvSpPr>
          <p:cNvPr id="17" name="Shape 15"/>
          <p:cNvSpPr/>
          <p:nvPr/>
        </p:nvSpPr>
        <p:spPr>
          <a:xfrm>
            <a:off x="9645015" y="3528536"/>
            <a:ext cx="4225885" cy="1953101"/>
          </a:xfrm>
          <a:prstGeom prst="roundRect">
            <a:avLst>
              <a:gd name="adj" fmla="val 7491"/>
            </a:avLst>
          </a:prstGeom>
          <a:solidFill>
            <a:srgbClr val="FFFDFA"/>
          </a:solidFill>
          <a:ln/>
        </p:spPr>
      </p:sp>
      <p:sp>
        <p:nvSpPr>
          <p:cNvPr id="18" name="Shape 16"/>
          <p:cNvSpPr/>
          <p:nvPr/>
        </p:nvSpPr>
        <p:spPr>
          <a:xfrm>
            <a:off x="9645015" y="3498056"/>
            <a:ext cx="4225885" cy="121920"/>
          </a:xfrm>
          <a:prstGeom prst="roundRect">
            <a:avLst>
              <a:gd name="adj" fmla="val 74748"/>
            </a:avLst>
          </a:prstGeom>
          <a:solidFill>
            <a:srgbClr val="B88E23"/>
          </a:solidFill>
          <a:ln/>
        </p:spPr>
      </p:sp>
      <p:sp>
        <p:nvSpPr>
          <p:cNvPr id="19" name="Shape 17"/>
          <p:cNvSpPr/>
          <p:nvPr/>
        </p:nvSpPr>
        <p:spPr>
          <a:xfrm>
            <a:off x="11432441" y="3203138"/>
            <a:ext cx="650915" cy="650915"/>
          </a:xfrm>
          <a:prstGeom prst="roundRect">
            <a:avLst>
              <a:gd name="adj" fmla="val 140479"/>
            </a:avLst>
          </a:prstGeom>
          <a:solidFill>
            <a:srgbClr val="B88E23"/>
          </a:solidFill>
          <a:ln/>
        </p:spPr>
      </p:sp>
      <p:sp>
        <p:nvSpPr>
          <p:cNvPr id="20" name="Text 18"/>
          <p:cNvSpPr/>
          <p:nvPr/>
        </p:nvSpPr>
        <p:spPr>
          <a:xfrm>
            <a:off x="11627703" y="3365897"/>
            <a:ext cx="260271" cy="325398"/>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Libre Baskerville" pitchFamily="34" charset="0"/>
                <a:ea typeface="Libre Baskerville" pitchFamily="34" charset="-122"/>
                <a:cs typeface="Libre Baskerville" pitchFamily="34" charset="-120"/>
              </a:rPr>
              <a:t>3</a:t>
            </a:r>
            <a:endParaRPr lang="en-US" sz="2050" dirty="0"/>
          </a:p>
        </p:txBody>
      </p:sp>
      <p:sp>
        <p:nvSpPr>
          <p:cNvPr id="21" name="Text 19"/>
          <p:cNvSpPr/>
          <p:nvPr/>
        </p:nvSpPr>
        <p:spPr>
          <a:xfrm>
            <a:off x="9892427" y="4070985"/>
            <a:ext cx="2891909" cy="338971"/>
          </a:xfrm>
          <a:prstGeom prst="rect">
            <a:avLst/>
          </a:prstGeom>
          <a:noFill/>
          <a:ln/>
        </p:spPr>
        <p:txBody>
          <a:bodyPr wrap="non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Data-Driven Insights</a:t>
            </a:r>
            <a:endParaRPr lang="en-US" sz="2100" dirty="0"/>
          </a:p>
        </p:txBody>
      </p:sp>
      <p:sp>
        <p:nvSpPr>
          <p:cNvPr id="22" name="Text 20"/>
          <p:cNvSpPr/>
          <p:nvPr/>
        </p:nvSpPr>
        <p:spPr>
          <a:xfrm>
            <a:off x="9892427" y="4540091"/>
            <a:ext cx="3731062" cy="694134"/>
          </a:xfrm>
          <a:prstGeom prst="rect">
            <a:avLst/>
          </a:prstGeom>
          <a:noFill/>
          <a:ln/>
        </p:spPr>
        <p:txBody>
          <a:bodyPr wrap="square" lIns="0" tIns="0" rIns="0" bIns="0" rtlCol="0" anchor="t"/>
          <a:lstStyle/>
          <a:p>
            <a:pPr marL="0" indent="0" algn="l">
              <a:lnSpc>
                <a:spcPts val="2700"/>
              </a:lnSpc>
              <a:buNone/>
            </a:pPr>
            <a:r>
              <a:rPr lang="en-US" sz="1700" dirty="0">
                <a:solidFill>
                  <a:srgbClr val="454240"/>
                </a:solidFill>
                <a:latin typeface="DM Sans" pitchFamily="34" charset="0"/>
                <a:ea typeface="DM Sans" pitchFamily="34" charset="-122"/>
                <a:cs typeface="DM Sans" pitchFamily="34" charset="-120"/>
              </a:rPr>
              <a:t>Better reporting and analytics for decision-making.</a:t>
            </a:r>
            <a:endParaRPr lang="en-US" sz="1700" dirty="0"/>
          </a:p>
        </p:txBody>
      </p:sp>
      <p:sp>
        <p:nvSpPr>
          <p:cNvPr id="23" name="Shape 21"/>
          <p:cNvSpPr/>
          <p:nvPr/>
        </p:nvSpPr>
        <p:spPr>
          <a:xfrm>
            <a:off x="759381" y="6023967"/>
            <a:ext cx="6447234" cy="1606034"/>
          </a:xfrm>
          <a:prstGeom prst="roundRect">
            <a:avLst>
              <a:gd name="adj" fmla="val 9110"/>
            </a:avLst>
          </a:prstGeom>
          <a:solidFill>
            <a:srgbClr val="FFFDFA"/>
          </a:solidFill>
          <a:ln/>
        </p:spPr>
      </p:sp>
      <p:sp>
        <p:nvSpPr>
          <p:cNvPr id="24" name="Shape 22"/>
          <p:cNvSpPr/>
          <p:nvPr/>
        </p:nvSpPr>
        <p:spPr>
          <a:xfrm>
            <a:off x="759381" y="5993487"/>
            <a:ext cx="6447234" cy="121920"/>
          </a:xfrm>
          <a:prstGeom prst="roundRect">
            <a:avLst>
              <a:gd name="adj" fmla="val 74748"/>
            </a:avLst>
          </a:prstGeom>
          <a:solidFill>
            <a:srgbClr val="B88E23"/>
          </a:solidFill>
          <a:ln/>
        </p:spPr>
      </p:sp>
      <p:sp>
        <p:nvSpPr>
          <p:cNvPr id="25" name="Shape 23"/>
          <p:cNvSpPr/>
          <p:nvPr/>
        </p:nvSpPr>
        <p:spPr>
          <a:xfrm>
            <a:off x="3657540" y="5698569"/>
            <a:ext cx="650915" cy="650915"/>
          </a:xfrm>
          <a:prstGeom prst="roundRect">
            <a:avLst>
              <a:gd name="adj" fmla="val 140479"/>
            </a:avLst>
          </a:prstGeom>
          <a:solidFill>
            <a:srgbClr val="B88E23"/>
          </a:solidFill>
          <a:ln/>
        </p:spPr>
      </p:sp>
      <p:sp>
        <p:nvSpPr>
          <p:cNvPr id="26" name="Text 24"/>
          <p:cNvSpPr/>
          <p:nvPr/>
        </p:nvSpPr>
        <p:spPr>
          <a:xfrm>
            <a:off x="3852803" y="5861328"/>
            <a:ext cx="260271" cy="325398"/>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Libre Baskerville" pitchFamily="34" charset="0"/>
                <a:ea typeface="Libre Baskerville" pitchFamily="34" charset="-122"/>
                <a:cs typeface="Libre Baskerville" pitchFamily="34" charset="-120"/>
              </a:rPr>
              <a:t>4</a:t>
            </a:r>
            <a:endParaRPr lang="en-US" sz="2050" dirty="0"/>
          </a:p>
        </p:txBody>
      </p:sp>
      <p:sp>
        <p:nvSpPr>
          <p:cNvPr id="27" name="Text 25"/>
          <p:cNvSpPr/>
          <p:nvPr/>
        </p:nvSpPr>
        <p:spPr>
          <a:xfrm>
            <a:off x="1006793" y="6566416"/>
            <a:ext cx="3230523" cy="338971"/>
          </a:xfrm>
          <a:prstGeom prst="rect">
            <a:avLst/>
          </a:prstGeom>
          <a:noFill/>
          <a:ln/>
        </p:spPr>
        <p:txBody>
          <a:bodyPr wrap="non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Standardized Processes</a:t>
            </a:r>
            <a:endParaRPr lang="en-US" sz="2100" dirty="0"/>
          </a:p>
        </p:txBody>
      </p:sp>
      <p:sp>
        <p:nvSpPr>
          <p:cNvPr id="28" name="Text 26"/>
          <p:cNvSpPr/>
          <p:nvPr/>
        </p:nvSpPr>
        <p:spPr>
          <a:xfrm>
            <a:off x="1006793" y="7035522"/>
            <a:ext cx="5952411" cy="347067"/>
          </a:xfrm>
          <a:prstGeom prst="rect">
            <a:avLst/>
          </a:prstGeom>
          <a:noFill/>
          <a:ln/>
        </p:spPr>
        <p:txBody>
          <a:bodyPr wrap="none" lIns="0" tIns="0" rIns="0" bIns="0" rtlCol="0" anchor="t"/>
          <a:lstStyle/>
          <a:p>
            <a:pPr marL="0" indent="0" algn="l">
              <a:lnSpc>
                <a:spcPts val="2700"/>
              </a:lnSpc>
              <a:buNone/>
            </a:pPr>
            <a:r>
              <a:rPr lang="en-US" sz="1700" dirty="0">
                <a:solidFill>
                  <a:srgbClr val="454240"/>
                </a:solidFill>
                <a:latin typeface="DM Sans" pitchFamily="34" charset="0"/>
                <a:ea typeface="DM Sans" pitchFamily="34" charset="-122"/>
                <a:cs typeface="DM Sans" pitchFamily="34" charset="-120"/>
              </a:rPr>
              <a:t>Consistent application and review procedures.</a:t>
            </a:r>
            <a:endParaRPr lang="en-US" sz="1700" dirty="0"/>
          </a:p>
        </p:txBody>
      </p:sp>
      <p:sp>
        <p:nvSpPr>
          <p:cNvPr id="29" name="Shape 27"/>
          <p:cNvSpPr/>
          <p:nvPr/>
        </p:nvSpPr>
        <p:spPr>
          <a:xfrm>
            <a:off x="7423547" y="6023967"/>
            <a:ext cx="6447353" cy="1606034"/>
          </a:xfrm>
          <a:prstGeom prst="roundRect">
            <a:avLst>
              <a:gd name="adj" fmla="val 9110"/>
            </a:avLst>
          </a:prstGeom>
          <a:solidFill>
            <a:srgbClr val="FFFDFA"/>
          </a:solidFill>
          <a:ln/>
        </p:spPr>
      </p:sp>
      <p:sp>
        <p:nvSpPr>
          <p:cNvPr id="30" name="Shape 28"/>
          <p:cNvSpPr/>
          <p:nvPr/>
        </p:nvSpPr>
        <p:spPr>
          <a:xfrm>
            <a:off x="7423547" y="5993487"/>
            <a:ext cx="6447353" cy="121920"/>
          </a:xfrm>
          <a:prstGeom prst="roundRect">
            <a:avLst>
              <a:gd name="adj" fmla="val 74748"/>
            </a:avLst>
          </a:prstGeom>
          <a:solidFill>
            <a:srgbClr val="B88E23"/>
          </a:solidFill>
          <a:ln/>
        </p:spPr>
      </p:sp>
      <p:sp>
        <p:nvSpPr>
          <p:cNvPr id="31" name="Shape 29"/>
          <p:cNvSpPr/>
          <p:nvPr/>
        </p:nvSpPr>
        <p:spPr>
          <a:xfrm>
            <a:off x="10321707" y="5698569"/>
            <a:ext cx="650915" cy="650915"/>
          </a:xfrm>
          <a:prstGeom prst="roundRect">
            <a:avLst>
              <a:gd name="adj" fmla="val 140479"/>
            </a:avLst>
          </a:prstGeom>
          <a:solidFill>
            <a:srgbClr val="B88E23"/>
          </a:solidFill>
          <a:ln/>
        </p:spPr>
      </p:sp>
      <p:sp>
        <p:nvSpPr>
          <p:cNvPr id="32" name="Text 30"/>
          <p:cNvSpPr/>
          <p:nvPr/>
        </p:nvSpPr>
        <p:spPr>
          <a:xfrm>
            <a:off x="10516969" y="5861328"/>
            <a:ext cx="260271" cy="325398"/>
          </a:xfrm>
          <a:prstGeom prst="rect">
            <a:avLst/>
          </a:prstGeom>
          <a:noFill/>
          <a:ln/>
        </p:spPr>
        <p:txBody>
          <a:bodyPr wrap="none" lIns="0" tIns="0" rIns="0" bIns="0" rtlCol="0" anchor="t"/>
          <a:lstStyle/>
          <a:p>
            <a:pPr marL="0" indent="0" algn="l">
              <a:lnSpc>
                <a:spcPts val="3250"/>
              </a:lnSpc>
              <a:buNone/>
            </a:pPr>
            <a:r>
              <a:rPr lang="en-US" sz="2050" dirty="0">
                <a:solidFill>
                  <a:srgbClr val="000000"/>
                </a:solidFill>
                <a:latin typeface="Libre Baskerville" pitchFamily="34" charset="0"/>
                <a:ea typeface="Libre Baskerville" pitchFamily="34" charset="-122"/>
                <a:cs typeface="Libre Baskerville" pitchFamily="34" charset="-120"/>
              </a:rPr>
              <a:t>5</a:t>
            </a:r>
            <a:endParaRPr lang="en-US" sz="2050" dirty="0"/>
          </a:p>
        </p:txBody>
      </p:sp>
      <p:sp>
        <p:nvSpPr>
          <p:cNvPr id="33" name="Text 31"/>
          <p:cNvSpPr/>
          <p:nvPr/>
        </p:nvSpPr>
        <p:spPr>
          <a:xfrm>
            <a:off x="7670959" y="6566416"/>
            <a:ext cx="3931087" cy="338971"/>
          </a:xfrm>
          <a:prstGeom prst="rect">
            <a:avLst/>
          </a:prstGeom>
          <a:noFill/>
          <a:ln/>
        </p:spPr>
        <p:txBody>
          <a:bodyPr wrap="none" lIns="0" tIns="0" rIns="0" bIns="0" rtlCol="0" anchor="t"/>
          <a:lstStyle/>
          <a:p>
            <a:pPr marL="0" indent="0" algn="l">
              <a:lnSpc>
                <a:spcPts val="2650"/>
              </a:lnSpc>
              <a:buNone/>
            </a:pPr>
            <a:r>
              <a:rPr lang="en-US" sz="2100" dirty="0">
                <a:solidFill>
                  <a:srgbClr val="454240"/>
                </a:solidFill>
                <a:latin typeface="Libre Baskerville" pitchFamily="34" charset="0"/>
                <a:ea typeface="Libre Baskerville" pitchFamily="34" charset="-122"/>
                <a:cs typeface="Libre Baskerville" pitchFamily="34" charset="-120"/>
              </a:rPr>
              <a:t>Future-Ready Infrastructure</a:t>
            </a:r>
            <a:endParaRPr lang="en-US" sz="2100" dirty="0"/>
          </a:p>
        </p:txBody>
      </p:sp>
      <p:sp>
        <p:nvSpPr>
          <p:cNvPr id="34" name="Text 32"/>
          <p:cNvSpPr/>
          <p:nvPr/>
        </p:nvSpPr>
        <p:spPr>
          <a:xfrm>
            <a:off x="7670959" y="7035522"/>
            <a:ext cx="5952530" cy="347067"/>
          </a:xfrm>
          <a:prstGeom prst="rect">
            <a:avLst/>
          </a:prstGeom>
          <a:noFill/>
          <a:ln/>
        </p:spPr>
        <p:txBody>
          <a:bodyPr wrap="none" lIns="0" tIns="0" rIns="0" bIns="0" rtlCol="0" anchor="t"/>
          <a:lstStyle/>
          <a:p>
            <a:pPr marL="0" indent="0" algn="l">
              <a:lnSpc>
                <a:spcPts val="2700"/>
              </a:lnSpc>
              <a:buNone/>
            </a:pPr>
            <a:r>
              <a:rPr lang="en-US" sz="1700" dirty="0">
                <a:solidFill>
                  <a:srgbClr val="454240"/>
                </a:solidFill>
                <a:latin typeface="DM Sans" pitchFamily="34" charset="0"/>
                <a:ea typeface="DM Sans" pitchFamily="34" charset="-122"/>
                <a:cs typeface="DM Sans" pitchFamily="34" charset="-120"/>
              </a:rPr>
              <a:t>Foundation for additional digital initiatives.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76363"/>
            <a:ext cx="3969425" cy="496133"/>
          </a:xfrm>
          <a:prstGeom prst="rect">
            <a:avLst/>
          </a:prstGeom>
          <a:noFill/>
          <a:ln/>
        </p:spPr>
        <p:txBody>
          <a:bodyPr wrap="none" lIns="0" tIns="0" rIns="0" bIns="0" rtlCol="0" anchor="t"/>
          <a:lstStyle/>
          <a:p>
            <a:pPr marL="0" indent="0" algn="l">
              <a:lnSpc>
                <a:spcPts val="3900"/>
              </a:lnSpc>
              <a:buNone/>
            </a:pPr>
            <a:r>
              <a:rPr lang="en-US" sz="2200" dirty="0">
                <a:solidFill>
                  <a:srgbClr val="5C4E3D"/>
                </a:solidFill>
                <a:latin typeface="Libre Baskerville" pitchFamily="34" charset="0"/>
                <a:ea typeface="Libre Baskerville" pitchFamily="34" charset="-122"/>
                <a:cs typeface="Libre Baskerville" pitchFamily="34" charset="-120"/>
              </a:rPr>
              <a:t>8. Success Stories</a:t>
            </a:r>
            <a:endParaRPr lang="en-US" sz="2200" dirty="0"/>
          </a:p>
        </p:txBody>
      </p:sp>
      <p:sp>
        <p:nvSpPr>
          <p:cNvPr id="3" name="Text 1"/>
          <p:cNvSpPr/>
          <p:nvPr/>
        </p:nvSpPr>
        <p:spPr>
          <a:xfrm>
            <a:off x="793790" y="1872496"/>
            <a:ext cx="5444133" cy="396835"/>
          </a:xfrm>
          <a:prstGeom prst="rect">
            <a:avLst/>
          </a:prstGeom>
          <a:noFill/>
          <a:ln/>
        </p:spPr>
        <p:txBody>
          <a:bodyPr wrap="none" lIns="0" tIns="0" rIns="0" bIns="0" rtlCol="0" anchor="t"/>
          <a:lstStyle/>
          <a:p>
            <a:pPr>
              <a:lnSpc>
                <a:spcPts val="6500"/>
              </a:lnSpc>
            </a:pPr>
            <a:r>
              <a:rPr lang="en-US" sz="3600" dirty="0">
                <a:solidFill>
                  <a:srgbClr val="B88E23"/>
                </a:solidFill>
                <a:latin typeface="Libre Baskerville" pitchFamily="34" charset="0"/>
              </a:rPr>
              <a:t>Dramatic Efficiency Revolution</a:t>
            </a:r>
          </a:p>
        </p:txBody>
      </p:sp>
      <p:sp>
        <p:nvSpPr>
          <p:cNvPr id="4" name="Text 2"/>
          <p:cNvSpPr/>
          <p:nvPr/>
        </p:nvSpPr>
        <p:spPr>
          <a:xfrm>
            <a:off x="793790" y="3003471"/>
            <a:ext cx="3064669" cy="523875"/>
          </a:xfrm>
          <a:prstGeom prst="rect">
            <a:avLst/>
          </a:prstGeom>
          <a:noFill/>
          <a:ln/>
        </p:spPr>
        <p:txBody>
          <a:bodyPr wrap="none" lIns="0" tIns="0" rIns="0" bIns="0" rtlCol="0" anchor="t"/>
          <a:lstStyle/>
          <a:p>
            <a:pPr marL="0" indent="0" algn="ctr">
              <a:lnSpc>
                <a:spcPts val="4100"/>
              </a:lnSpc>
              <a:buNone/>
            </a:pPr>
            <a:r>
              <a:rPr lang="en-US" sz="4100" dirty="0">
                <a:solidFill>
                  <a:srgbClr val="454240"/>
                </a:solidFill>
                <a:latin typeface="Libre Baskerville" pitchFamily="34" charset="0"/>
                <a:ea typeface="Libre Baskerville" pitchFamily="34" charset="-122"/>
                <a:cs typeface="Libre Baskerville" pitchFamily="34" charset="-120"/>
              </a:rPr>
              <a:t>95%</a:t>
            </a:r>
            <a:endParaRPr lang="en-US" sz="4100" dirty="0"/>
          </a:p>
        </p:txBody>
      </p:sp>
      <p:sp>
        <p:nvSpPr>
          <p:cNvPr id="5" name="Text 3"/>
          <p:cNvSpPr/>
          <p:nvPr/>
        </p:nvSpPr>
        <p:spPr>
          <a:xfrm>
            <a:off x="1333738" y="3725704"/>
            <a:ext cx="1984653" cy="248007"/>
          </a:xfrm>
          <a:prstGeom prst="rect">
            <a:avLst/>
          </a:prstGeom>
          <a:noFill/>
          <a:ln/>
        </p:spPr>
        <p:txBody>
          <a:bodyPr wrap="none" lIns="0" tIns="0" rIns="0" bIns="0" rtlCol="0" anchor="t"/>
          <a:lstStyle/>
          <a:p>
            <a:pPr marL="0" indent="0" algn="ctr">
              <a:lnSpc>
                <a:spcPts val="1950"/>
              </a:lnSpc>
              <a:buNone/>
            </a:pPr>
            <a:r>
              <a:rPr lang="en-US" sz="1550" dirty="0">
                <a:solidFill>
                  <a:srgbClr val="454240"/>
                </a:solidFill>
                <a:latin typeface="Libre Baskerville" pitchFamily="34" charset="0"/>
                <a:ea typeface="Libre Baskerville" pitchFamily="34" charset="-122"/>
                <a:cs typeface="Libre Baskerville" pitchFamily="34" charset="-120"/>
              </a:rPr>
              <a:t>Error Reduction</a:t>
            </a:r>
            <a:endParaRPr lang="en-US" sz="1550" dirty="0"/>
          </a:p>
        </p:txBody>
      </p:sp>
      <p:sp>
        <p:nvSpPr>
          <p:cNvPr id="6" name="Text 4"/>
          <p:cNvSpPr/>
          <p:nvPr/>
        </p:nvSpPr>
        <p:spPr>
          <a:xfrm>
            <a:off x="793790" y="4132421"/>
            <a:ext cx="3064669" cy="508159"/>
          </a:xfrm>
          <a:prstGeom prst="rect">
            <a:avLst/>
          </a:prstGeom>
          <a:noFill/>
          <a:ln/>
        </p:spPr>
        <p:txBody>
          <a:bodyPr wrap="square" lIns="0" tIns="0" rIns="0" bIns="0" rtlCol="0" anchor="t"/>
          <a:lstStyle/>
          <a:p>
            <a:pPr marL="0" indent="0" algn="ctr">
              <a:lnSpc>
                <a:spcPts val="2000"/>
              </a:lnSpc>
              <a:buNone/>
            </a:pPr>
            <a:r>
              <a:rPr lang="en-US" sz="1250" dirty="0">
                <a:solidFill>
                  <a:srgbClr val="454240"/>
                </a:solidFill>
                <a:latin typeface="DM Sans" pitchFamily="34" charset="0"/>
                <a:ea typeface="DM Sans" pitchFamily="34" charset="-122"/>
                <a:cs typeface="DM Sans" pitchFamily="34" charset="-120"/>
              </a:rPr>
              <a:t>Near-perfect accuracy with automated validation.</a:t>
            </a:r>
            <a:endParaRPr lang="en-US" sz="1250" dirty="0"/>
          </a:p>
        </p:txBody>
      </p:sp>
      <p:sp>
        <p:nvSpPr>
          <p:cNvPr id="7" name="Text 5"/>
          <p:cNvSpPr/>
          <p:nvPr/>
        </p:nvSpPr>
        <p:spPr>
          <a:xfrm>
            <a:off x="4056817" y="3003471"/>
            <a:ext cx="3064788" cy="523875"/>
          </a:xfrm>
          <a:prstGeom prst="rect">
            <a:avLst/>
          </a:prstGeom>
          <a:noFill/>
          <a:ln/>
        </p:spPr>
        <p:txBody>
          <a:bodyPr wrap="none" lIns="0" tIns="0" rIns="0" bIns="0" rtlCol="0" anchor="t"/>
          <a:lstStyle/>
          <a:p>
            <a:pPr marL="0" indent="0" algn="ctr">
              <a:lnSpc>
                <a:spcPts val="4100"/>
              </a:lnSpc>
              <a:buNone/>
            </a:pPr>
            <a:r>
              <a:rPr lang="en-US" sz="4100" dirty="0">
                <a:solidFill>
                  <a:srgbClr val="454240"/>
                </a:solidFill>
                <a:latin typeface="Libre Baskerville" pitchFamily="34" charset="0"/>
                <a:ea typeface="Libre Baskerville" pitchFamily="34" charset="-122"/>
                <a:cs typeface="Libre Baskerville" pitchFamily="34" charset="-120"/>
              </a:rPr>
              <a:t>80%</a:t>
            </a:r>
            <a:endParaRPr lang="en-US" sz="4100" dirty="0"/>
          </a:p>
        </p:txBody>
      </p:sp>
      <p:sp>
        <p:nvSpPr>
          <p:cNvPr id="8" name="Text 6"/>
          <p:cNvSpPr/>
          <p:nvPr/>
        </p:nvSpPr>
        <p:spPr>
          <a:xfrm>
            <a:off x="4406503" y="3725704"/>
            <a:ext cx="2365296" cy="248007"/>
          </a:xfrm>
          <a:prstGeom prst="rect">
            <a:avLst/>
          </a:prstGeom>
          <a:noFill/>
          <a:ln/>
        </p:spPr>
        <p:txBody>
          <a:bodyPr wrap="none" lIns="0" tIns="0" rIns="0" bIns="0" rtlCol="0" anchor="t"/>
          <a:lstStyle/>
          <a:p>
            <a:pPr marL="0" indent="0" algn="ctr">
              <a:lnSpc>
                <a:spcPts val="1950"/>
              </a:lnSpc>
              <a:buNone/>
            </a:pPr>
            <a:r>
              <a:rPr lang="en-US" sz="1550" dirty="0">
                <a:solidFill>
                  <a:srgbClr val="454240"/>
                </a:solidFill>
                <a:latin typeface="Libre Baskerville" pitchFamily="34" charset="0"/>
                <a:ea typeface="Libre Baskerville" pitchFamily="34" charset="-122"/>
                <a:cs typeface="Libre Baskerville" pitchFamily="34" charset="-120"/>
              </a:rPr>
              <a:t>Paperwork Elimination</a:t>
            </a:r>
            <a:endParaRPr lang="en-US" sz="1550" dirty="0"/>
          </a:p>
        </p:txBody>
      </p:sp>
      <p:sp>
        <p:nvSpPr>
          <p:cNvPr id="9" name="Text 7"/>
          <p:cNvSpPr/>
          <p:nvPr/>
        </p:nvSpPr>
        <p:spPr>
          <a:xfrm>
            <a:off x="4056817" y="4132421"/>
            <a:ext cx="3064788" cy="508159"/>
          </a:xfrm>
          <a:prstGeom prst="rect">
            <a:avLst/>
          </a:prstGeom>
          <a:noFill/>
          <a:ln/>
        </p:spPr>
        <p:txBody>
          <a:bodyPr wrap="square" lIns="0" tIns="0" rIns="0" bIns="0" rtlCol="0" anchor="t"/>
          <a:lstStyle/>
          <a:p>
            <a:pPr marL="0" indent="0" algn="ctr">
              <a:lnSpc>
                <a:spcPts val="2000"/>
              </a:lnSpc>
              <a:buNone/>
            </a:pPr>
            <a:r>
              <a:rPr lang="en-US" sz="1250" dirty="0">
                <a:solidFill>
                  <a:srgbClr val="454240"/>
                </a:solidFill>
                <a:latin typeface="DM Sans" pitchFamily="34" charset="0"/>
                <a:ea typeface="DM Sans" pitchFamily="34" charset="-122"/>
                <a:cs typeface="DM Sans" pitchFamily="34" charset="-120"/>
              </a:rPr>
              <a:t>Complete digital transformation saving trees and time.</a:t>
            </a:r>
            <a:endParaRPr lang="en-US" sz="1250" dirty="0"/>
          </a:p>
        </p:txBody>
      </p:sp>
      <p:sp>
        <p:nvSpPr>
          <p:cNvPr id="10" name="Text 8"/>
          <p:cNvSpPr/>
          <p:nvPr/>
        </p:nvSpPr>
        <p:spPr>
          <a:xfrm>
            <a:off x="2425303" y="5037415"/>
            <a:ext cx="3064669" cy="523875"/>
          </a:xfrm>
          <a:prstGeom prst="rect">
            <a:avLst/>
          </a:prstGeom>
          <a:noFill/>
          <a:ln/>
        </p:spPr>
        <p:txBody>
          <a:bodyPr wrap="none" lIns="0" tIns="0" rIns="0" bIns="0" rtlCol="0" anchor="t"/>
          <a:lstStyle/>
          <a:p>
            <a:pPr marL="0" indent="0" algn="ctr">
              <a:lnSpc>
                <a:spcPts val="4100"/>
              </a:lnSpc>
              <a:buNone/>
            </a:pPr>
            <a:r>
              <a:rPr lang="en-US" sz="4100" dirty="0">
                <a:solidFill>
                  <a:srgbClr val="454240"/>
                </a:solidFill>
                <a:latin typeface="Libre Baskerville" pitchFamily="34" charset="0"/>
                <a:ea typeface="Libre Baskerville" pitchFamily="34" charset="-122"/>
                <a:cs typeface="Libre Baskerville" pitchFamily="34" charset="-120"/>
              </a:rPr>
              <a:t>60%</a:t>
            </a:r>
            <a:endParaRPr lang="en-US" sz="4100" dirty="0"/>
          </a:p>
        </p:txBody>
      </p:sp>
      <p:sp>
        <p:nvSpPr>
          <p:cNvPr id="11" name="Text 9"/>
          <p:cNvSpPr/>
          <p:nvPr/>
        </p:nvSpPr>
        <p:spPr>
          <a:xfrm>
            <a:off x="2965252" y="5759648"/>
            <a:ext cx="1984653" cy="248007"/>
          </a:xfrm>
          <a:prstGeom prst="rect">
            <a:avLst/>
          </a:prstGeom>
          <a:noFill/>
          <a:ln/>
        </p:spPr>
        <p:txBody>
          <a:bodyPr wrap="none" lIns="0" tIns="0" rIns="0" bIns="0" rtlCol="0" anchor="t"/>
          <a:lstStyle/>
          <a:p>
            <a:pPr marL="0" indent="0" algn="ctr">
              <a:lnSpc>
                <a:spcPts val="1950"/>
              </a:lnSpc>
              <a:buNone/>
            </a:pPr>
            <a:r>
              <a:rPr lang="en-US" sz="1550" dirty="0">
                <a:solidFill>
                  <a:srgbClr val="454240"/>
                </a:solidFill>
                <a:latin typeface="Libre Baskerville" pitchFamily="34" charset="0"/>
                <a:ea typeface="Libre Baskerville" pitchFamily="34" charset="-122"/>
                <a:cs typeface="Libre Baskerville" pitchFamily="34" charset="-120"/>
              </a:rPr>
              <a:t>Cost Reduction</a:t>
            </a:r>
            <a:endParaRPr lang="en-US" sz="1550" dirty="0"/>
          </a:p>
        </p:txBody>
      </p:sp>
      <p:sp>
        <p:nvSpPr>
          <p:cNvPr id="12" name="Text 10"/>
          <p:cNvSpPr/>
          <p:nvPr/>
        </p:nvSpPr>
        <p:spPr>
          <a:xfrm>
            <a:off x="2425303" y="6166366"/>
            <a:ext cx="3064669" cy="508159"/>
          </a:xfrm>
          <a:prstGeom prst="rect">
            <a:avLst/>
          </a:prstGeom>
          <a:noFill/>
          <a:ln/>
        </p:spPr>
        <p:txBody>
          <a:bodyPr wrap="square" lIns="0" tIns="0" rIns="0" bIns="0" rtlCol="0" anchor="t"/>
          <a:lstStyle/>
          <a:p>
            <a:pPr marL="0" indent="0" algn="ctr">
              <a:lnSpc>
                <a:spcPts val="2000"/>
              </a:lnSpc>
              <a:buNone/>
            </a:pPr>
            <a:r>
              <a:rPr lang="en-US" sz="1250" dirty="0">
                <a:solidFill>
                  <a:srgbClr val="454240"/>
                </a:solidFill>
                <a:latin typeface="DM Sans" pitchFamily="34" charset="0"/>
                <a:ea typeface="DM Sans" pitchFamily="34" charset="-122"/>
                <a:cs typeface="DM Sans" pitchFamily="34" charset="-120"/>
              </a:rPr>
              <a:t>Massive operational savings redirected to student support.</a:t>
            </a:r>
            <a:endParaRPr lang="en-US" sz="1250" dirty="0"/>
          </a:p>
        </p:txBody>
      </p:sp>
      <p:pic>
        <p:nvPicPr>
          <p:cNvPr id="13" name="Image 0" descr="preencoded.png"/>
          <p:cNvPicPr>
            <a:picLocks noChangeAspect="1"/>
          </p:cNvPicPr>
          <p:nvPr/>
        </p:nvPicPr>
        <p:blipFill>
          <a:blip r:embed="rId3"/>
          <a:stretch>
            <a:fillRect/>
          </a:stretch>
        </p:blipFill>
        <p:spPr>
          <a:xfrm>
            <a:off x="7516416" y="2924175"/>
            <a:ext cx="2286000" cy="2286000"/>
          </a:xfrm>
          <a:prstGeom prst="rect">
            <a:avLst/>
          </a:prstGeom>
        </p:spPr>
      </p:pic>
      <p:sp>
        <p:nvSpPr>
          <p:cNvPr id="14" name="Text 11"/>
          <p:cNvSpPr/>
          <p:nvPr/>
        </p:nvSpPr>
        <p:spPr>
          <a:xfrm>
            <a:off x="7516416" y="5388769"/>
            <a:ext cx="6327815" cy="254079"/>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Much Faster Decisions</a:t>
            </a:r>
            <a:r>
              <a:rPr lang="en-US" sz="1250" dirty="0">
                <a:solidFill>
                  <a:srgbClr val="454240"/>
                </a:solidFill>
                <a:latin typeface="DM Sans" pitchFamily="34" charset="0"/>
                <a:ea typeface="DM Sans" pitchFamily="34" charset="-122"/>
                <a:cs typeface="DM Sans" pitchFamily="34" charset="-120"/>
              </a:rPr>
              <a:t>: Significantly reduced processing time from months to weeks.</a:t>
            </a:r>
            <a:endParaRPr lang="en-US" sz="1250" dirty="0"/>
          </a:p>
        </p:txBody>
      </p:sp>
      <p:sp>
        <p:nvSpPr>
          <p:cNvPr id="15" name="Text 12"/>
          <p:cNvSpPr/>
          <p:nvPr/>
        </p:nvSpPr>
        <p:spPr>
          <a:xfrm>
            <a:off x="7516416" y="5785723"/>
            <a:ext cx="6327815" cy="254079"/>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24/7 Availability</a:t>
            </a:r>
            <a:r>
              <a:rPr lang="en-US" sz="1250" dirty="0">
                <a:solidFill>
                  <a:srgbClr val="454240"/>
                </a:solidFill>
                <a:latin typeface="DM Sans" pitchFamily="34" charset="0"/>
                <a:ea typeface="DM Sans" pitchFamily="34" charset="-122"/>
                <a:cs typeface="DM Sans" pitchFamily="34" charset="-120"/>
              </a:rPr>
              <a:t>: Students apply anytime from anywhere with any device.</a:t>
            </a:r>
            <a:endParaRPr lang="en-US" sz="1250" dirty="0"/>
          </a:p>
        </p:txBody>
      </p:sp>
      <p:sp>
        <p:nvSpPr>
          <p:cNvPr id="16" name="Text 13"/>
          <p:cNvSpPr/>
          <p:nvPr/>
        </p:nvSpPr>
        <p:spPr>
          <a:xfrm>
            <a:off x="7516416" y="6182677"/>
            <a:ext cx="6327815" cy="254079"/>
          </a:xfrm>
          <a:prstGeom prst="rect">
            <a:avLst/>
          </a:prstGeom>
          <a:noFill/>
          <a:ln/>
        </p:spPr>
        <p:txBody>
          <a:bodyPr wrap="none" lIns="0" tIns="0" rIns="0" bIns="0" rtlCol="0" anchor="t"/>
          <a:lstStyle/>
          <a:p>
            <a:pPr marL="0" indent="0" algn="l">
              <a:lnSpc>
                <a:spcPts val="2000"/>
              </a:lnSpc>
              <a:buNone/>
            </a:pPr>
            <a:r>
              <a:rPr lang="en-US" sz="1250" b="1" dirty="0">
                <a:solidFill>
                  <a:srgbClr val="454240"/>
                </a:solidFill>
                <a:latin typeface="DM Sans" pitchFamily="34" charset="0"/>
                <a:ea typeface="DM Sans" pitchFamily="34" charset="-122"/>
                <a:cs typeface="DM Sans" pitchFamily="34" charset="-120"/>
              </a:rPr>
              <a:t>100% Scholarship Utilization</a:t>
            </a:r>
            <a:r>
              <a:rPr lang="en-US" sz="1250" dirty="0">
                <a:solidFill>
                  <a:srgbClr val="454240"/>
                </a:solidFill>
                <a:latin typeface="DM Sans" pitchFamily="34" charset="0"/>
                <a:ea typeface="DM Sans" pitchFamily="34" charset="-122"/>
                <a:cs typeface="DM Sans" pitchFamily="34" charset="-120"/>
              </a:rPr>
              <a:t>: Smart reserve pools eliminate wasted opportunities.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43414"/>
            <a:ext cx="4820007" cy="602456"/>
          </a:xfrm>
          <a:prstGeom prst="rect">
            <a:avLst/>
          </a:prstGeom>
          <a:noFill/>
          <a:ln/>
        </p:spPr>
        <p:txBody>
          <a:bodyPr wrap="none" lIns="0" tIns="0" rIns="0" bIns="0" rtlCol="0" anchor="t"/>
          <a:lstStyle/>
          <a:p>
            <a:pPr marL="0" indent="0" algn="l">
              <a:lnSpc>
                <a:spcPts val="4700"/>
              </a:lnSpc>
              <a:buNone/>
            </a:pPr>
            <a:r>
              <a:rPr lang="en-US" sz="2200" dirty="0">
                <a:solidFill>
                  <a:srgbClr val="5C4E3D"/>
                </a:solidFill>
                <a:latin typeface="Libre Baskerville" pitchFamily="34" charset="0"/>
                <a:ea typeface="Libre Baskerville" pitchFamily="34" charset="-122"/>
                <a:cs typeface="Libre Baskerville" pitchFamily="34" charset="-120"/>
              </a:rPr>
              <a:t>8. Success Stories</a:t>
            </a:r>
            <a:endParaRPr lang="en-US" sz="2200" dirty="0"/>
          </a:p>
        </p:txBody>
      </p:sp>
      <p:sp>
        <p:nvSpPr>
          <p:cNvPr id="3" name="Text 1"/>
          <p:cNvSpPr/>
          <p:nvPr/>
        </p:nvSpPr>
        <p:spPr>
          <a:xfrm>
            <a:off x="793790" y="1535073"/>
            <a:ext cx="11257955" cy="831413"/>
          </a:xfrm>
          <a:prstGeom prst="rect">
            <a:avLst/>
          </a:prstGeom>
          <a:noFill/>
          <a:ln/>
        </p:spPr>
        <p:txBody>
          <a:bodyPr wrap="none" lIns="0" tIns="0" rIns="0" bIns="0" rtlCol="0" anchor="t"/>
          <a:lstStyle/>
          <a:p>
            <a:pPr marL="0" indent="0" algn="l">
              <a:lnSpc>
                <a:spcPts val="6500"/>
              </a:lnSpc>
              <a:buNone/>
            </a:pPr>
            <a:r>
              <a:rPr lang="en-US" sz="4000" dirty="0">
                <a:solidFill>
                  <a:srgbClr val="B88E23"/>
                </a:solidFill>
                <a:latin typeface="Libre Baskerville" pitchFamily="34" charset="0"/>
                <a:ea typeface="Libre Baskerville" pitchFamily="34" charset="-122"/>
                <a:cs typeface="Libre Baskerville" pitchFamily="34" charset="-120"/>
              </a:rPr>
              <a:t>Unprecedented National Reach</a:t>
            </a:r>
            <a:endParaRPr lang="en-US" sz="4000" dirty="0"/>
          </a:p>
        </p:txBody>
      </p:sp>
      <p:sp>
        <p:nvSpPr>
          <p:cNvPr id="4" name="Text 2"/>
          <p:cNvSpPr/>
          <p:nvPr/>
        </p:nvSpPr>
        <p:spPr>
          <a:xfrm>
            <a:off x="1707475" y="3036570"/>
            <a:ext cx="3378398" cy="301228"/>
          </a:xfrm>
          <a:prstGeom prst="rect">
            <a:avLst/>
          </a:prstGeom>
          <a:noFill/>
          <a:ln/>
        </p:spPr>
        <p:txBody>
          <a:bodyPr wrap="none" lIns="0" tIns="0" rIns="0" bIns="0" rtlCol="0" anchor="t"/>
          <a:lstStyle/>
          <a:p>
            <a:pPr marL="0" indent="0" algn="r">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All 25 Provinces Connected</a:t>
            </a:r>
            <a:endParaRPr lang="en-US" sz="1850" dirty="0"/>
          </a:p>
        </p:txBody>
      </p:sp>
      <p:sp>
        <p:nvSpPr>
          <p:cNvPr id="5" name="Text 3"/>
          <p:cNvSpPr/>
          <p:nvPr/>
        </p:nvSpPr>
        <p:spPr>
          <a:xfrm>
            <a:off x="793790" y="3453408"/>
            <a:ext cx="4292084" cy="616744"/>
          </a:xfrm>
          <a:prstGeom prst="rect">
            <a:avLst/>
          </a:prstGeom>
          <a:noFill/>
          <a:ln/>
        </p:spPr>
        <p:txBody>
          <a:bodyPr wrap="square" lIns="0" tIns="0" rIns="0" bIns="0" rtlCol="0" anchor="t"/>
          <a:lstStyle/>
          <a:p>
            <a:pPr marL="0" indent="0" algn="r">
              <a:lnSpc>
                <a:spcPts val="2400"/>
              </a:lnSpc>
              <a:buNone/>
            </a:pPr>
            <a:r>
              <a:rPr lang="en-US" sz="1500" dirty="0">
                <a:solidFill>
                  <a:srgbClr val="454240"/>
                </a:solidFill>
                <a:latin typeface="DM Sans" pitchFamily="34" charset="0"/>
                <a:ea typeface="DM Sans" pitchFamily="34" charset="-122"/>
                <a:cs typeface="DM Sans" pitchFamily="34" charset="-120"/>
              </a:rPr>
              <a:t>Every corner of the nation included and engaged.</a:t>
            </a:r>
            <a:endParaRPr lang="en-US" sz="1500" dirty="0"/>
          </a:p>
        </p:txBody>
      </p:sp>
      <p:pic>
        <p:nvPicPr>
          <p:cNvPr id="6" name="Image 0" descr="preencoded.png"/>
          <p:cNvPicPr>
            <a:picLocks noChangeAspect="1"/>
          </p:cNvPicPr>
          <p:nvPr/>
        </p:nvPicPr>
        <p:blipFill>
          <a:blip r:embed="rId3"/>
          <a:stretch>
            <a:fillRect/>
          </a:stretch>
        </p:blipFill>
        <p:spPr>
          <a:xfrm>
            <a:off x="5375077" y="2655689"/>
            <a:ext cx="3880128" cy="3880128"/>
          </a:xfrm>
          <a:prstGeom prst="rect">
            <a:avLst/>
          </a:prstGeom>
        </p:spPr>
      </p:pic>
      <p:pic>
        <p:nvPicPr>
          <p:cNvPr id="7" name="Image 1" descr="preencoded.png"/>
          <p:cNvPicPr>
            <a:picLocks noChangeAspect="1"/>
          </p:cNvPicPr>
          <p:nvPr/>
        </p:nvPicPr>
        <p:blipFill>
          <a:blip r:embed="rId4"/>
          <a:stretch>
            <a:fillRect/>
          </a:stretch>
        </p:blipFill>
        <p:spPr>
          <a:xfrm>
            <a:off x="6210657" y="3455194"/>
            <a:ext cx="288369" cy="360521"/>
          </a:xfrm>
          <a:prstGeom prst="rect">
            <a:avLst/>
          </a:prstGeom>
        </p:spPr>
      </p:pic>
      <p:sp>
        <p:nvSpPr>
          <p:cNvPr id="8" name="Text 4"/>
          <p:cNvSpPr/>
          <p:nvPr/>
        </p:nvSpPr>
        <p:spPr>
          <a:xfrm>
            <a:off x="9544407" y="3036570"/>
            <a:ext cx="3001685"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900+ Schools Integrated</a:t>
            </a:r>
            <a:endParaRPr lang="en-US" sz="1850" dirty="0"/>
          </a:p>
        </p:txBody>
      </p:sp>
      <p:sp>
        <p:nvSpPr>
          <p:cNvPr id="9" name="Text 5"/>
          <p:cNvSpPr/>
          <p:nvPr/>
        </p:nvSpPr>
        <p:spPr>
          <a:xfrm>
            <a:off x="9544407" y="3453408"/>
            <a:ext cx="4292203" cy="616744"/>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Complete network from urban centers to remote villages.</a:t>
            </a:r>
            <a:endParaRPr lang="en-US" sz="1500" dirty="0"/>
          </a:p>
        </p:txBody>
      </p:sp>
      <p:pic>
        <p:nvPicPr>
          <p:cNvPr id="10" name="Image 2" descr="preencoded.png"/>
          <p:cNvPicPr>
            <a:picLocks noChangeAspect="1"/>
          </p:cNvPicPr>
          <p:nvPr/>
        </p:nvPicPr>
        <p:blipFill>
          <a:blip r:embed="rId5"/>
          <a:stretch>
            <a:fillRect/>
          </a:stretch>
        </p:blipFill>
        <p:spPr>
          <a:xfrm>
            <a:off x="5375077" y="2655689"/>
            <a:ext cx="3880128" cy="3880128"/>
          </a:xfrm>
          <a:prstGeom prst="rect">
            <a:avLst/>
          </a:prstGeom>
        </p:spPr>
      </p:pic>
      <p:pic>
        <p:nvPicPr>
          <p:cNvPr id="11" name="Image 3" descr="preencoded.png"/>
          <p:cNvPicPr>
            <a:picLocks noChangeAspect="1"/>
          </p:cNvPicPr>
          <p:nvPr/>
        </p:nvPicPr>
        <p:blipFill>
          <a:blip r:embed="rId6"/>
          <a:stretch>
            <a:fillRect/>
          </a:stretch>
        </p:blipFill>
        <p:spPr>
          <a:xfrm>
            <a:off x="8131135" y="3455194"/>
            <a:ext cx="288369" cy="360521"/>
          </a:xfrm>
          <a:prstGeom prst="rect">
            <a:avLst/>
          </a:prstGeom>
        </p:spPr>
      </p:pic>
      <p:sp>
        <p:nvSpPr>
          <p:cNvPr id="12" name="Text 6"/>
          <p:cNvSpPr/>
          <p:nvPr/>
        </p:nvSpPr>
        <p:spPr>
          <a:xfrm>
            <a:off x="9544407" y="5275421"/>
            <a:ext cx="3217783" cy="301228"/>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100,000+ Students Served</a:t>
            </a:r>
            <a:endParaRPr lang="en-US" sz="1850" dirty="0"/>
          </a:p>
        </p:txBody>
      </p:sp>
      <p:sp>
        <p:nvSpPr>
          <p:cNvPr id="13" name="Text 7"/>
          <p:cNvSpPr/>
          <p:nvPr/>
        </p:nvSpPr>
        <p:spPr>
          <a:xfrm>
            <a:off x="9544407" y="5692259"/>
            <a:ext cx="4292203" cy="308372"/>
          </a:xfrm>
          <a:prstGeom prst="rect">
            <a:avLst/>
          </a:prstGeom>
          <a:noFill/>
          <a:ln/>
        </p:spPr>
        <p:txBody>
          <a:bodyPr wrap="non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Scalable platform ready for educational growth.</a:t>
            </a:r>
            <a:endParaRPr lang="en-US" sz="1500" dirty="0"/>
          </a:p>
        </p:txBody>
      </p:sp>
      <p:pic>
        <p:nvPicPr>
          <p:cNvPr id="14" name="Image 4" descr="preencoded.png"/>
          <p:cNvPicPr>
            <a:picLocks noChangeAspect="1"/>
          </p:cNvPicPr>
          <p:nvPr/>
        </p:nvPicPr>
        <p:blipFill>
          <a:blip r:embed="rId7"/>
          <a:stretch>
            <a:fillRect/>
          </a:stretch>
        </p:blipFill>
        <p:spPr>
          <a:xfrm>
            <a:off x="5375077" y="2655689"/>
            <a:ext cx="3880128" cy="3880128"/>
          </a:xfrm>
          <a:prstGeom prst="rect">
            <a:avLst/>
          </a:prstGeom>
        </p:spPr>
      </p:pic>
      <p:pic>
        <p:nvPicPr>
          <p:cNvPr id="15" name="Image 5" descr="preencoded.png"/>
          <p:cNvPicPr>
            <a:picLocks noChangeAspect="1"/>
          </p:cNvPicPr>
          <p:nvPr/>
        </p:nvPicPr>
        <p:blipFill>
          <a:blip r:embed="rId8"/>
          <a:stretch>
            <a:fillRect/>
          </a:stretch>
        </p:blipFill>
        <p:spPr>
          <a:xfrm>
            <a:off x="8131135" y="5375672"/>
            <a:ext cx="288369" cy="360521"/>
          </a:xfrm>
          <a:prstGeom prst="rect">
            <a:avLst/>
          </a:prstGeom>
        </p:spPr>
      </p:pic>
      <p:sp>
        <p:nvSpPr>
          <p:cNvPr id="16" name="Text 8"/>
          <p:cNvSpPr/>
          <p:nvPr/>
        </p:nvSpPr>
        <p:spPr>
          <a:xfrm>
            <a:off x="1477447" y="5121235"/>
            <a:ext cx="3608427" cy="301228"/>
          </a:xfrm>
          <a:prstGeom prst="rect">
            <a:avLst/>
          </a:prstGeom>
          <a:noFill/>
          <a:ln/>
        </p:spPr>
        <p:txBody>
          <a:bodyPr wrap="none" lIns="0" tIns="0" rIns="0" bIns="0" rtlCol="0" anchor="t"/>
          <a:lstStyle/>
          <a:p>
            <a:pPr marL="0" indent="0" algn="r">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50+ Universities Participating</a:t>
            </a:r>
            <a:endParaRPr lang="en-US" sz="1850" dirty="0"/>
          </a:p>
        </p:txBody>
      </p:sp>
      <p:sp>
        <p:nvSpPr>
          <p:cNvPr id="17" name="Text 9"/>
          <p:cNvSpPr/>
          <p:nvPr/>
        </p:nvSpPr>
        <p:spPr>
          <a:xfrm>
            <a:off x="793790" y="5538073"/>
            <a:ext cx="4292084" cy="616744"/>
          </a:xfrm>
          <a:prstGeom prst="rect">
            <a:avLst/>
          </a:prstGeom>
          <a:noFill/>
          <a:ln/>
        </p:spPr>
        <p:txBody>
          <a:bodyPr wrap="square" lIns="0" tIns="0" rIns="0" bIns="0" rtlCol="0" anchor="t"/>
          <a:lstStyle/>
          <a:p>
            <a:pPr marL="0" indent="0" algn="r">
              <a:lnSpc>
                <a:spcPts val="2400"/>
              </a:lnSpc>
              <a:buNone/>
            </a:pPr>
            <a:r>
              <a:rPr lang="en-US" sz="1500" dirty="0">
                <a:solidFill>
                  <a:srgbClr val="454240"/>
                </a:solidFill>
                <a:latin typeface="DM Sans" pitchFamily="34" charset="0"/>
                <a:ea typeface="DM Sans" pitchFamily="34" charset="-122"/>
                <a:cs typeface="DM Sans" pitchFamily="34" charset="-120"/>
              </a:rPr>
              <a:t>Comprehensive coverage of all higher education options.</a:t>
            </a:r>
            <a:endParaRPr lang="en-US" sz="1500" dirty="0"/>
          </a:p>
        </p:txBody>
      </p:sp>
      <p:pic>
        <p:nvPicPr>
          <p:cNvPr id="18" name="Image 6" descr="preencoded.png"/>
          <p:cNvPicPr>
            <a:picLocks noChangeAspect="1"/>
          </p:cNvPicPr>
          <p:nvPr/>
        </p:nvPicPr>
        <p:blipFill>
          <a:blip r:embed="rId9"/>
          <a:stretch>
            <a:fillRect/>
          </a:stretch>
        </p:blipFill>
        <p:spPr>
          <a:xfrm>
            <a:off x="5375077" y="2655689"/>
            <a:ext cx="3880128" cy="3880128"/>
          </a:xfrm>
          <a:prstGeom prst="rect">
            <a:avLst/>
          </a:prstGeom>
        </p:spPr>
      </p:pic>
      <p:pic>
        <p:nvPicPr>
          <p:cNvPr id="19" name="Image 7" descr="preencoded.png"/>
          <p:cNvPicPr>
            <a:picLocks noChangeAspect="1"/>
          </p:cNvPicPr>
          <p:nvPr/>
        </p:nvPicPr>
        <p:blipFill>
          <a:blip r:embed="rId10"/>
          <a:stretch>
            <a:fillRect/>
          </a:stretch>
        </p:blipFill>
        <p:spPr>
          <a:xfrm>
            <a:off x="6210657" y="5375672"/>
            <a:ext cx="288369" cy="360521"/>
          </a:xfrm>
          <a:prstGeom prst="rect">
            <a:avLst/>
          </a:prstGeom>
        </p:spPr>
      </p:pic>
      <p:sp>
        <p:nvSpPr>
          <p:cNvPr id="20" name="Text 10"/>
          <p:cNvSpPr/>
          <p:nvPr/>
        </p:nvSpPr>
        <p:spPr>
          <a:xfrm>
            <a:off x="793790" y="6752630"/>
            <a:ext cx="13042821" cy="308372"/>
          </a:xfrm>
          <a:prstGeom prst="rect">
            <a:avLst/>
          </a:prstGeom>
          <a:noFill/>
          <a:ln/>
        </p:spPr>
        <p:txBody>
          <a:bodyPr wrap="non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Efficient National Communication</a:t>
            </a:r>
            <a:r>
              <a:rPr lang="en-US" sz="1500" dirty="0">
                <a:solidFill>
                  <a:srgbClr val="454240"/>
                </a:solidFill>
                <a:latin typeface="DM Sans" pitchFamily="34" charset="0"/>
                <a:ea typeface="DM Sans" pitchFamily="34" charset="-122"/>
                <a:cs typeface="DM Sans" pitchFamily="34" charset="-120"/>
              </a:rPr>
              <a:t>: Fast updates and coordination across the country.</a:t>
            </a:r>
            <a:endParaRPr lang="en-US" sz="1500" dirty="0"/>
          </a:p>
        </p:txBody>
      </p:sp>
      <p:sp>
        <p:nvSpPr>
          <p:cNvPr id="21" name="Text 11"/>
          <p:cNvSpPr/>
          <p:nvPr/>
        </p:nvSpPr>
        <p:spPr>
          <a:xfrm>
            <a:off x="793790" y="7277814"/>
            <a:ext cx="13042821" cy="308372"/>
          </a:xfrm>
          <a:prstGeom prst="rect">
            <a:avLst/>
          </a:prstGeom>
          <a:noFill/>
          <a:ln/>
        </p:spPr>
        <p:txBody>
          <a:bodyPr wrap="none" lIns="0" tIns="0" rIns="0" bIns="0" rtlCol="0" anchor="t"/>
          <a:lstStyle/>
          <a:p>
            <a:pPr marL="0" indent="0" algn="l">
              <a:lnSpc>
                <a:spcPts val="2400"/>
              </a:lnSpc>
              <a:buNone/>
            </a:pPr>
            <a:r>
              <a:rPr lang="en-US" sz="1500" b="1" dirty="0">
                <a:solidFill>
                  <a:srgbClr val="454240"/>
                </a:solidFill>
                <a:latin typeface="DM Sans" pitchFamily="34" charset="0"/>
                <a:ea typeface="DM Sans" pitchFamily="34" charset="-122"/>
                <a:cs typeface="DM Sans" pitchFamily="34" charset="-120"/>
              </a:rPr>
              <a:t>Comprehensive Coverage</a:t>
            </a:r>
            <a:r>
              <a:rPr lang="en-US" sz="1500" dirty="0">
                <a:solidFill>
                  <a:srgbClr val="454240"/>
                </a:solidFill>
                <a:latin typeface="DM Sans" pitchFamily="34" charset="0"/>
                <a:ea typeface="DM Sans" pitchFamily="34" charset="-122"/>
                <a:cs typeface="DM Sans" pitchFamily="34" charset="-120"/>
              </a:rPr>
              <a:t>: Full accessibility across all regions and educational institutions.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10872"/>
          </a:xfrm>
          <a:prstGeom prst="rect">
            <a:avLst/>
          </a:prstGeom>
        </p:spPr>
      </p:pic>
      <p:sp>
        <p:nvSpPr>
          <p:cNvPr id="3" name="Text 0"/>
          <p:cNvSpPr/>
          <p:nvPr/>
        </p:nvSpPr>
        <p:spPr>
          <a:xfrm>
            <a:off x="773787" y="2818805"/>
            <a:ext cx="4421862" cy="552688"/>
          </a:xfrm>
          <a:prstGeom prst="rect">
            <a:avLst/>
          </a:prstGeom>
          <a:noFill/>
          <a:ln/>
        </p:spPr>
        <p:txBody>
          <a:bodyPr wrap="none" lIns="0" tIns="0" rIns="0" bIns="0" rtlCol="0" anchor="t"/>
          <a:lstStyle/>
          <a:p>
            <a:pPr marL="0" indent="0" algn="l">
              <a:lnSpc>
                <a:spcPts val="4350"/>
              </a:lnSpc>
              <a:buNone/>
            </a:pPr>
            <a:r>
              <a:rPr lang="en-US" sz="2200" dirty="0">
                <a:solidFill>
                  <a:srgbClr val="5C4E3D"/>
                </a:solidFill>
                <a:latin typeface="Libre Baskerville" pitchFamily="34" charset="0"/>
                <a:ea typeface="Libre Baskerville" pitchFamily="34" charset="-122"/>
                <a:cs typeface="Libre Baskerville" pitchFamily="34" charset="-120"/>
              </a:rPr>
              <a:t>8. Success Stories</a:t>
            </a:r>
            <a:endParaRPr lang="en-US" sz="2200" dirty="0"/>
          </a:p>
        </p:txBody>
      </p:sp>
      <p:sp>
        <p:nvSpPr>
          <p:cNvPr id="4" name="Text 1"/>
          <p:cNvSpPr/>
          <p:nvPr/>
        </p:nvSpPr>
        <p:spPr>
          <a:xfrm>
            <a:off x="773787" y="3636764"/>
            <a:ext cx="4991695" cy="442079"/>
          </a:xfrm>
          <a:prstGeom prst="rect">
            <a:avLst/>
          </a:prstGeom>
          <a:noFill/>
          <a:ln/>
        </p:spPr>
        <p:txBody>
          <a:bodyPr wrap="none" lIns="0" tIns="0" rIns="0" bIns="0" rtlCol="0" anchor="t"/>
          <a:lstStyle/>
          <a:p>
            <a:pPr marL="0" indent="0" algn="l">
              <a:lnSpc>
                <a:spcPts val="3450"/>
              </a:lnSpc>
              <a:buNone/>
            </a:pPr>
            <a:r>
              <a:rPr lang="en-US" sz="3200" dirty="0">
                <a:solidFill>
                  <a:srgbClr val="B88E23"/>
                </a:solidFill>
                <a:latin typeface="Libre Baskerville" pitchFamily="34" charset="0"/>
              </a:rPr>
              <a:t>Measurable Social Impact</a:t>
            </a:r>
          </a:p>
        </p:txBody>
      </p:sp>
      <p:pic>
        <p:nvPicPr>
          <p:cNvPr id="5" name="Image 1" descr="preencoded.png"/>
          <p:cNvPicPr>
            <a:picLocks noChangeAspect="1"/>
          </p:cNvPicPr>
          <p:nvPr/>
        </p:nvPicPr>
        <p:blipFill>
          <a:blip r:embed="rId4"/>
          <a:stretch>
            <a:fillRect/>
          </a:stretch>
        </p:blipFill>
        <p:spPr>
          <a:xfrm>
            <a:off x="773787" y="4344114"/>
            <a:ext cx="4360902" cy="707469"/>
          </a:xfrm>
          <a:prstGeom prst="rect">
            <a:avLst/>
          </a:prstGeom>
        </p:spPr>
      </p:pic>
      <p:sp>
        <p:nvSpPr>
          <p:cNvPr id="6" name="Text 2"/>
          <p:cNvSpPr/>
          <p:nvPr/>
        </p:nvSpPr>
        <p:spPr>
          <a:xfrm>
            <a:off x="950595" y="5228392"/>
            <a:ext cx="2742605" cy="276344"/>
          </a:xfrm>
          <a:prstGeom prst="rect">
            <a:avLst/>
          </a:prstGeom>
          <a:noFill/>
          <a:ln/>
        </p:spPr>
        <p:txBody>
          <a:bodyPr wrap="none" lIns="0" tIns="0" rIns="0" bIns="0" rtlCol="0" anchor="t"/>
          <a:lstStyle/>
          <a:p>
            <a:pPr marL="0" indent="0" algn="l">
              <a:lnSpc>
                <a:spcPts val="2150"/>
              </a:lnSpc>
              <a:buNone/>
            </a:pPr>
            <a:r>
              <a:rPr lang="en-US" sz="1700" dirty="0">
                <a:solidFill>
                  <a:srgbClr val="454240"/>
                </a:solidFill>
                <a:latin typeface="Libre Baskerville" pitchFamily="34" charset="0"/>
                <a:ea typeface="Libre Baskerville" pitchFamily="34" charset="-122"/>
                <a:cs typeface="Libre Baskerville" pitchFamily="34" charset="-120"/>
              </a:rPr>
              <a:t>Female Participation Up</a:t>
            </a:r>
            <a:endParaRPr lang="en-US" sz="1700" dirty="0"/>
          </a:p>
        </p:txBody>
      </p:sp>
      <p:sp>
        <p:nvSpPr>
          <p:cNvPr id="7" name="Text 3"/>
          <p:cNvSpPr/>
          <p:nvPr/>
        </p:nvSpPr>
        <p:spPr>
          <a:xfrm>
            <a:off x="950595" y="5610820"/>
            <a:ext cx="4007287" cy="283012"/>
          </a:xfrm>
          <a:prstGeom prst="rect">
            <a:avLst/>
          </a:prstGeom>
          <a:noFill/>
          <a:ln/>
        </p:spPr>
        <p:txBody>
          <a:bodyPr wrap="none" lIns="0" tIns="0" rIns="0" bIns="0" rtlCol="0" anchor="t"/>
          <a:lstStyle/>
          <a:p>
            <a:pPr marL="0" indent="0" algn="l">
              <a:lnSpc>
                <a:spcPts val="2200"/>
              </a:lnSpc>
              <a:buNone/>
            </a:pPr>
            <a:r>
              <a:rPr lang="en-US" sz="1350" dirty="0">
                <a:solidFill>
                  <a:srgbClr val="454240"/>
                </a:solidFill>
                <a:latin typeface="DM Sans" pitchFamily="34" charset="0"/>
                <a:ea typeface="DM Sans" pitchFamily="34" charset="-122"/>
                <a:cs typeface="DM Sans" pitchFamily="34" charset="-120"/>
              </a:rPr>
              <a:t>Breaking barriers for women in higher education.</a:t>
            </a:r>
            <a:endParaRPr lang="en-US" sz="1350" dirty="0"/>
          </a:p>
        </p:txBody>
      </p:sp>
      <p:pic>
        <p:nvPicPr>
          <p:cNvPr id="8" name="Image 2" descr="preencoded.png"/>
          <p:cNvPicPr>
            <a:picLocks noChangeAspect="1"/>
          </p:cNvPicPr>
          <p:nvPr/>
        </p:nvPicPr>
        <p:blipFill>
          <a:blip r:embed="rId5"/>
          <a:stretch>
            <a:fillRect/>
          </a:stretch>
        </p:blipFill>
        <p:spPr>
          <a:xfrm>
            <a:off x="5134689" y="4344114"/>
            <a:ext cx="4360902" cy="707469"/>
          </a:xfrm>
          <a:prstGeom prst="rect">
            <a:avLst/>
          </a:prstGeom>
        </p:spPr>
      </p:pic>
      <p:sp>
        <p:nvSpPr>
          <p:cNvPr id="9" name="Text 4"/>
          <p:cNvSpPr/>
          <p:nvPr/>
        </p:nvSpPr>
        <p:spPr>
          <a:xfrm>
            <a:off x="5311497" y="5228392"/>
            <a:ext cx="2561630" cy="276344"/>
          </a:xfrm>
          <a:prstGeom prst="rect">
            <a:avLst/>
          </a:prstGeom>
          <a:noFill/>
          <a:ln/>
        </p:spPr>
        <p:txBody>
          <a:bodyPr wrap="none" lIns="0" tIns="0" rIns="0" bIns="0" rtlCol="0" anchor="t"/>
          <a:lstStyle/>
          <a:p>
            <a:pPr marL="0" indent="0" algn="l">
              <a:lnSpc>
                <a:spcPts val="2150"/>
              </a:lnSpc>
              <a:buNone/>
            </a:pPr>
            <a:r>
              <a:rPr lang="en-US" sz="1700" dirty="0">
                <a:solidFill>
                  <a:srgbClr val="454240"/>
                </a:solidFill>
                <a:latin typeface="Libre Baskerville" pitchFamily="34" charset="0"/>
                <a:ea typeface="Libre Baskerville" pitchFamily="34" charset="-122"/>
                <a:cs typeface="Libre Baskerville" pitchFamily="34" charset="-120"/>
              </a:rPr>
              <a:t>Rural Access Increased</a:t>
            </a:r>
            <a:endParaRPr lang="en-US" sz="1700" dirty="0"/>
          </a:p>
        </p:txBody>
      </p:sp>
      <p:sp>
        <p:nvSpPr>
          <p:cNvPr id="10" name="Text 5"/>
          <p:cNvSpPr/>
          <p:nvPr/>
        </p:nvSpPr>
        <p:spPr>
          <a:xfrm>
            <a:off x="5311497" y="5610820"/>
            <a:ext cx="4007287" cy="566023"/>
          </a:xfrm>
          <a:prstGeom prst="rect">
            <a:avLst/>
          </a:prstGeom>
          <a:noFill/>
          <a:ln/>
        </p:spPr>
        <p:txBody>
          <a:bodyPr wrap="square" lIns="0" tIns="0" rIns="0" bIns="0" rtlCol="0" anchor="t"/>
          <a:lstStyle/>
          <a:p>
            <a:pPr marL="0" indent="0" algn="l">
              <a:lnSpc>
                <a:spcPts val="2200"/>
              </a:lnSpc>
              <a:buNone/>
            </a:pPr>
            <a:r>
              <a:rPr lang="en-US" sz="1350" dirty="0">
                <a:solidFill>
                  <a:srgbClr val="454240"/>
                </a:solidFill>
                <a:latin typeface="DM Sans" pitchFamily="34" charset="0"/>
                <a:ea typeface="DM Sans" pitchFamily="34" charset="-122"/>
                <a:cs typeface="DM Sans" pitchFamily="34" charset="-120"/>
              </a:rPr>
              <a:t>Remote area students now have equal opportunities.</a:t>
            </a:r>
            <a:endParaRPr lang="en-US" sz="1350" dirty="0"/>
          </a:p>
        </p:txBody>
      </p:sp>
      <p:pic>
        <p:nvPicPr>
          <p:cNvPr id="11" name="Image 3" descr="preencoded.png"/>
          <p:cNvPicPr>
            <a:picLocks noChangeAspect="1"/>
          </p:cNvPicPr>
          <p:nvPr/>
        </p:nvPicPr>
        <p:blipFill>
          <a:blip r:embed="rId6"/>
          <a:stretch>
            <a:fillRect/>
          </a:stretch>
        </p:blipFill>
        <p:spPr>
          <a:xfrm>
            <a:off x="9495592" y="4344114"/>
            <a:ext cx="4361021" cy="707469"/>
          </a:xfrm>
          <a:prstGeom prst="rect">
            <a:avLst/>
          </a:prstGeom>
        </p:spPr>
      </p:pic>
      <p:sp>
        <p:nvSpPr>
          <p:cNvPr id="12" name="Text 6"/>
          <p:cNvSpPr/>
          <p:nvPr/>
        </p:nvSpPr>
        <p:spPr>
          <a:xfrm>
            <a:off x="9672399" y="5228392"/>
            <a:ext cx="2722126" cy="276344"/>
          </a:xfrm>
          <a:prstGeom prst="rect">
            <a:avLst/>
          </a:prstGeom>
          <a:noFill/>
          <a:ln/>
        </p:spPr>
        <p:txBody>
          <a:bodyPr wrap="none" lIns="0" tIns="0" rIns="0" bIns="0" rtlCol="0" anchor="t"/>
          <a:lstStyle/>
          <a:p>
            <a:pPr marL="0" indent="0" algn="l">
              <a:lnSpc>
                <a:spcPts val="2150"/>
              </a:lnSpc>
              <a:buNone/>
            </a:pPr>
            <a:r>
              <a:rPr lang="en-US" sz="1700" dirty="0">
                <a:solidFill>
                  <a:srgbClr val="454240"/>
                </a:solidFill>
                <a:latin typeface="Libre Baskerville" pitchFamily="34" charset="0"/>
                <a:ea typeface="Libre Baskerville" pitchFamily="34" charset="-122"/>
                <a:cs typeface="Libre Baskerville" pitchFamily="34" charset="-120"/>
              </a:rPr>
              <a:t>Family Economic Relief</a:t>
            </a:r>
            <a:endParaRPr lang="en-US" sz="1700" dirty="0"/>
          </a:p>
        </p:txBody>
      </p:sp>
      <p:sp>
        <p:nvSpPr>
          <p:cNvPr id="13" name="Text 7"/>
          <p:cNvSpPr/>
          <p:nvPr/>
        </p:nvSpPr>
        <p:spPr>
          <a:xfrm>
            <a:off x="9672399" y="5610820"/>
            <a:ext cx="4007406" cy="566023"/>
          </a:xfrm>
          <a:prstGeom prst="rect">
            <a:avLst/>
          </a:prstGeom>
          <a:noFill/>
          <a:ln/>
        </p:spPr>
        <p:txBody>
          <a:bodyPr wrap="square" lIns="0" tIns="0" rIns="0" bIns="0" rtlCol="0" anchor="t"/>
          <a:lstStyle/>
          <a:p>
            <a:pPr marL="0" indent="0" algn="l">
              <a:lnSpc>
                <a:spcPts val="2200"/>
              </a:lnSpc>
              <a:buNone/>
            </a:pPr>
            <a:r>
              <a:rPr lang="en-US" sz="1350" dirty="0">
                <a:solidFill>
                  <a:srgbClr val="454240"/>
                </a:solidFill>
                <a:latin typeface="DM Sans" pitchFamily="34" charset="0"/>
                <a:ea typeface="DM Sans" pitchFamily="34" charset="-122"/>
                <a:cs typeface="DM Sans" pitchFamily="34" charset="-120"/>
              </a:rPr>
              <a:t>Average scholarship value: $2,000-5,000 per student annually.</a:t>
            </a:r>
            <a:endParaRPr lang="en-US" sz="1350" dirty="0"/>
          </a:p>
        </p:txBody>
      </p:sp>
      <p:sp>
        <p:nvSpPr>
          <p:cNvPr id="14" name="Text 8"/>
          <p:cNvSpPr/>
          <p:nvPr/>
        </p:nvSpPr>
        <p:spPr>
          <a:xfrm>
            <a:off x="773787" y="6729412"/>
            <a:ext cx="2962989" cy="276344"/>
          </a:xfrm>
          <a:prstGeom prst="rect">
            <a:avLst/>
          </a:prstGeom>
          <a:noFill/>
          <a:ln/>
        </p:spPr>
        <p:txBody>
          <a:bodyPr wrap="none" lIns="0" tIns="0" rIns="0" bIns="0" rtlCol="0" anchor="t"/>
          <a:lstStyle/>
          <a:p>
            <a:pPr marL="0" indent="0" algn="l">
              <a:lnSpc>
                <a:spcPts val="2150"/>
              </a:lnSpc>
              <a:buNone/>
            </a:pPr>
            <a:r>
              <a:rPr lang="en-US" sz="1700" dirty="0">
                <a:solidFill>
                  <a:srgbClr val="5C4E3D"/>
                </a:solidFill>
                <a:latin typeface="Libre Baskerville" pitchFamily="34" charset="0"/>
                <a:ea typeface="Libre Baskerville" pitchFamily="34" charset="-122"/>
                <a:cs typeface="Libre Baskerville" pitchFamily="34" charset="-120"/>
              </a:rPr>
              <a:t>Educational Quality Boost</a:t>
            </a:r>
            <a:endParaRPr lang="en-US" sz="1700" dirty="0"/>
          </a:p>
        </p:txBody>
      </p:sp>
      <p:sp>
        <p:nvSpPr>
          <p:cNvPr id="15" name="Text 9"/>
          <p:cNvSpPr/>
          <p:nvPr/>
        </p:nvSpPr>
        <p:spPr>
          <a:xfrm>
            <a:off x="773787" y="7182564"/>
            <a:ext cx="6325672" cy="283012"/>
          </a:xfrm>
          <a:prstGeom prst="rect">
            <a:avLst/>
          </a:prstGeom>
          <a:noFill/>
          <a:ln/>
        </p:spPr>
        <p:txBody>
          <a:bodyPr wrap="none" lIns="0" tIns="0" rIns="0" bIns="0" rtlCol="0" anchor="t"/>
          <a:lstStyle/>
          <a:p>
            <a:pPr marL="0" indent="0" algn="l">
              <a:lnSpc>
                <a:spcPts val="2200"/>
              </a:lnSpc>
              <a:buNone/>
            </a:pPr>
            <a:r>
              <a:rPr lang="en-US" sz="1350" dirty="0">
                <a:solidFill>
                  <a:srgbClr val="454240"/>
                </a:solidFill>
                <a:latin typeface="DM Sans" pitchFamily="34" charset="0"/>
                <a:ea typeface="DM Sans" pitchFamily="34" charset="-122"/>
                <a:cs typeface="DM Sans" pitchFamily="34" charset="-120"/>
              </a:rPr>
              <a:t>Better student-program matching improves graduation rates.</a:t>
            </a:r>
            <a:endParaRPr lang="en-US" sz="1350" dirty="0"/>
          </a:p>
        </p:txBody>
      </p:sp>
      <p:sp>
        <p:nvSpPr>
          <p:cNvPr id="16" name="Text 10"/>
          <p:cNvSpPr/>
          <p:nvPr/>
        </p:nvSpPr>
        <p:spPr>
          <a:xfrm>
            <a:off x="7538561" y="6729412"/>
            <a:ext cx="2814638" cy="276344"/>
          </a:xfrm>
          <a:prstGeom prst="rect">
            <a:avLst/>
          </a:prstGeom>
          <a:noFill/>
          <a:ln/>
        </p:spPr>
        <p:txBody>
          <a:bodyPr wrap="none" lIns="0" tIns="0" rIns="0" bIns="0" rtlCol="0" anchor="t"/>
          <a:lstStyle/>
          <a:p>
            <a:pPr marL="0" indent="0" algn="l">
              <a:lnSpc>
                <a:spcPts val="2150"/>
              </a:lnSpc>
              <a:buNone/>
            </a:pPr>
            <a:r>
              <a:rPr lang="en-US" sz="1700" dirty="0">
                <a:solidFill>
                  <a:srgbClr val="5C4E3D"/>
                </a:solidFill>
                <a:latin typeface="Libre Baskerville" pitchFamily="34" charset="0"/>
                <a:ea typeface="Libre Baskerville" pitchFamily="34" charset="-122"/>
                <a:cs typeface="Libre Baskerville" pitchFamily="34" charset="-120"/>
              </a:rPr>
              <a:t>Teacher Satisfaction Rise</a:t>
            </a:r>
            <a:endParaRPr lang="en-US" sz="1700" dirty="0"/>
          </a:p>
        </p:txBody>
      </p:sp>
      <p:sp>
        <p:nvSpPr>
          <p:cNvPr id="17" name="Text 11"/>
          <p:cNvSpPr/>
          <p:nvPr/>
        </p:nvSpPr>
        <p:spPr>
          <a:xfrm>
            <a:off x="7538561" y="7182564"/>
            <a:ext cx="6325672" cy="283012"/>
          </a:xfrm>
          <a:prstGeom prst="rect">
            <a:avLst/>
          </a:prstGeom>
          <a:noFill/>
          <a:ln/>
        </p:spPr>
        <p:txBody>
          <a:bodyPr wrap="none" lIns="0" tIns="0" rIns="0" bIns="0" rtlCol="0" anchor="t"/>
          <a:lstStyle/>
          <a:p>
            <a:pPr marL="0" indent="0" algn="l">
              <a:lnSpc>
                <a:spcPts val="2200"/>
              </a:lnSpc>
              <a:buNone/>
            </a:pPr>
            <a:r>
              <a:rPr lang="en-US" sz="1350" dirty="0">
                <a:solidFill>
                  <a:srgbClr val="454240"/>
                </a:solidFill>
                <a:latin typeface="DM Sans" pitchFamily="34" charset="0"/>
                <a:ea typeface="DM Sans" pitchFamily="34" charset="-122"/>
                <a:cs typeface="DM Sans" pitchFamily="34" charset="-120"/>
              </a:rPr>
              <a:t>Reduction in administrative burden means more teaching time.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697123"/>
            <a:ext cx="7556421" cy="2835354"/>
          </a:xfrm>
          <a:prstGeom prst="rect">
            <a:avLst/>
          </a:prstGeom>
          <a:noFill/>
          <a:ln/>
        </p:spPr>
        <p:txBody>
          <a:bodyPr wrap="square" lIns="0" tIns="0" rIns="0" bIns="0" rtlCol="0" anchor="t"/>
          <a:lstStyle/>
          <a:p>
            <a:pPr marL="0" indent="0" algn="ctr">
              <a:lnSpc>
                <a:spcPts val="11150"/>
              </a:lnSpc>
              <a:buNone/>
            </a:pPr>
            <a:r>
              <a:rPr lang="en-US" sz="6600" dirty="0">
                <a:solidFill>
                  <a:srgbClr val="B88E23"/>
                </a:solidFill>
                <a:latin typeface="Libre Baskerville" pitchFamily="34" charset="0"/>
              </a:rPr>
              <a: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1610</Words>
  <Application>Microsoft Office PowerPoint</Application>
  <PresentationFormat>Custom</PresentationFormat>
  <Paragraphs>361</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Libre Baskerville</vt:lpstr>
      <vt:lpstr>DM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Heang Virith</dc:creator>
  <cp:lastModifiedBy>Heang Virith</cp:lastModifiedBy>
  <cp:revision>53</cp:revision>
  <dcterms:created xsi:type="dcterms:W3CDTF">2025-08-28T02:38:24Z</dcterms:created>
  <dcterms:modified xsi:type="dcterms:W3CDTF">2025-09-06T08:04:29Z</dcterms:modified>
</cp:coreProperties>
</file>